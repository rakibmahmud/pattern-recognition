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93" d="100"/>
          <a:sy n="93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9DE7-597B-A754-EF42-C9E9C0047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25742-30B5-E560-A346-42DE1F81D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5D19-989A-2250-AB77-3DD0FA84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D7D5B-9872-3758-33B5-EAFEF21C9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529E-3E7B-78C7-B437-7E6A699A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616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96B-4EBF-8BDC-295E-24FD0299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255E5-4543-248F-C22C-454013C5E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EF79-510D-D3FB-0BC2-1B641E80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F914-4F8D-4E0F-4307-823A9811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2528-0DAC-F008-5B27-2EA8957C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2967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1E86-249D-0611-83C7-6885369B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39FD-8307-F1C1-D476-8260C0917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3E50A-89BB-E254-F53E-43BCD0B2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84ADC-AA5A-2A83-92A7-3220EBAA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E10C6-E035-63D6-0CB9-1AEB702A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9825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E871-7E6F-52D5-A17E-8F0C9ECA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D4FD-4472-72EC-77BB-0B611A4C6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513D1-18F9-E7E0-50A3-70B0B8AD7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AA2E3-EF11-C3D9-22DA-BCA90F68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CD21A-8B65-5397-AE84-3CFCDB53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3E637-F985-3734-D5E3-B129B1BA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8346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5436-4506-1ADB-5715-754A8A9F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52163-6CC7-DA8F-C648-C6B7AF5C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0A8C4-F271-CF25-2C01-6C37442BD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62FAA-1770-F6AA-BB40-35157C216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19E31-8B51-FBDB-BBFE-5B49CC73B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DBFCC3-3536-7DBF-3DD0-141F333C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DC459-A9C9-7A55-62A0-9DD90F72B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32F1C-641F-FF1D-3014-DB63F7D9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2577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F75F-5C9F-1128-3AAD-81CE8732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884A7-8A52-1778-EC82-D7B20F18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ED4A6-F87E-991C-4B3A-FB847A41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ED07C-04A9-7795-56D5-DC10EE75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2059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E45D3-F664-E59D-2744-36944EBF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65BFF-A0D4-019D-E2EB-15184D60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23C51-57D7-C284-52CC-3B667272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0814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E21E-06A2-AF19-7E61-171B324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910F-18C9-6BA0-6FAA-EADF8FFD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B850E-ABCA-C39A-2924-00A3B2A2C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2ED62-59E2-15EA-C018-14807EF2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D9195-32AE-4845-66FE-D288BCB2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47044-AFDE-FE86-099D-72EAD3C9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236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F137-98EA-BB17-6340-E5E2A471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04EDC-DE14-9492-0EA5-979E706FD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4EE6E-82F0-1756-498D-896FE46F8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5DA0D-F5AF-CFB8-1C56-A1A6BD54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CC109-7EB8-975F-F064-51107272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54977-1628-655A-BF73-E609124E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8899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7CF4-E3D5-5A0D-D160-2FC6903C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46718-6DBA-8A74-692A-AAA7F8DFC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9B5CE-104D-FFFF-CD4D-BAE659FA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A2E5A-7891-CFE6-9D6E-2976EE98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59018-BDA4-BF44-DE11-FB089993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3158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23925-4551-A25D-A896-2C4FAE23A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F01F6-EE27-18F6-6216-C381DFF6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51DEB-B5C4-23E0-0ECA-5547FEBA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815A9-EBDD-8E1E-17CB-64316E6C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E00E7-2A30-B668-91AE-6CBF4243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1024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222E4-B738-A0EE-5EFA-B309F309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02EC5-C84F-286A-EFFB-5BEBDB397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4FD53-D258-33AC-74A4-036107923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972A7-6DB9-5A45-B620-ABAE137DEDA0}" type="datetimeFigureOut">
              <a:rPr lang="en-BD" smtClean="0"/>
              <a:t>7/9/25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DF275-0EE9-90E5-B456-612A75D7F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9F815-77F8-0398-42DA-9C2BF0FAD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61949-66F6-184E-96BE-359BEFB92DE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1026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EDEF-AB3A-7253-8615-03ACC0E55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SVM –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2F5EB-678A-3B41-B89F-2C87AD1EC9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</p:spTree>
    <p:extLst>
      <p:ext uri="{BB962C8B-B14F-4D97-AF65-F5344CB8AC3E}">
        <p14:creationId xmlns:p14="http://schemas.microsoft.com/office/powerpoint/2010/main" val="37924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237F-CF07-5042-98EE-EE0F5826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5BD84-3D22-5C5F-3BF5-4A8E7C9F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BD" dirty="0"/>
              <a:t>It is fall under supervised learning and use for classification and regression analysis.</a:t>
            </a:r>
          </a:p>
          <a:p>
            <a:endParaRPr lang="en-B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C52B37-A940-3DA6-0F21-3B290F827D19}"/>
              </a:ext>
            </a:extLst>
          </p:cNvPr>
          <p:cNvSpPr/>
          <p:nvPr/>
        </p:nvSpPr>
        <p:spPr>
          <a:xfrm>
            <a:off x="2659117" y="3541035"/>
            <a:ext cx="651641" cy="65164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ABC4769-0F76-0B58-D96E-7C3AEE634FD6}"/>
              </a:ext>
            </a:extLst>
          </p:cNvPr>
          <p:cNvSpPr/>
          <p:nvPr/>
        </p:nvSpPr>
        <p:spPr>
          <a:xfrm>
            <a:off x="3678620" y="3083353"/>
            <a:ext cx="1040525" cy="78350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0C93A2-9E96-A187-2A32-0D21025FE78A}"/>
              </a:ext>
            </a:extLst>
          </p:cNvPr>
          <p:cNvSpPr/>
          <p:nvPr/>
        </p:nvSpPr>
        <p:spPr>
          <a:xfrm>
            <a:off x="5276193" y="2855475"/>
            <a:ext cx="1566041" cy="10113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Model Training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6582B4-D56A-F5B9-7F0D-FB65D730959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59213" y="3866855"/>
            <a:ext cx="1" cy="38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BE50CA9-979B-525F-104C-F28582669E0A}"/>
              </a:ext>
            </a:extLst>
          </p:cNvPr>
          <p:cNvSpPr/>
          <p:nvPr/>
        </p:nvSpPr>
        <p:spPr>
          <a:xfrm>
            <a:off x="5276193" y="4250958"/>
            <a:ext cx="1566041" cy="10113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Model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A2594C-4130-F043-C7FF-F8CF755B3715}"/>
              </a:ext>
            </a:extLst>
          </p:cNvPr>
          <p:cNvSpPr/>
          <p:nvPr/>
        </p:nvSpPr>
        <p:spPr>
          <a:xfrm>
            <a:off x="7625254" y="4235909"/>
            <a:ext cx="1566041" cy="10113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New Data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1C05A8-A294-BB67-0B3F-AD1E1C7355BA}"/>
              </a:ext>
            </a:extLst>
          </p:cNvPr>
          <p:cNvCxnSpPr>
            <a:stCxn id="11" idx="2"/>
            <a:endCxn id="10" idx="6"/>
          </p:cNvCxnSpPr>
          <p:nvPr/>
        </p:nvCxnSpPr>
        <p:spPr>
          <a:xfrm flipH="1">
            <a:off x="6842234" y="4741599"/>
            <a:ext cx="783020" cy="15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BE8111-7731-6E5A-1377-A2069D91B160}"/>
              </a:ext>
            </a:extLst>
          </p:cNvPr>
          <p:cNvCxnSpPr>
            <a:stCxn id="10" idx="4"/>
          </p:cNvCxnSpPr>
          <p:nvPr/>
        </p:nvCxnSpPr>
        <p:spPr>
          <a:xfrm flipH="1">
            <a:off x="6059213" y="5262338"/>
            <a:ext cx="1" cy="360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F42BB15-91FB-1E25-FABB-57BE19734480}"/>
              </a:ext>
            </a:extLst>
          </p:cNvPr>
          <p:cNvSpPr/>
          <p:nvPr/>
        </p:nvSpPr>
        <p:spPr>
          <a:xfrm>
            <a:off x="5276193" y="5663404"/>
            <a:ext cx="1566041" cy="10113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Output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9C2806-915C-6A4B-3396-E6910925063D}"/>
              </a:ext>
            </a:extLst>
          </p:cNvPr>
          <p:cNvSpPr/>
          <p:nvPr/>
        </p:nvSpPr>
        <p:spPr>
          <a:xfrm>
            <a:off x="2659116" y="2716087"/>
            <a:ext cx="651641" cy="65164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5422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9B89-1E79-B486-6D1D-36BAEF87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diagram of a variety of points&#10;&#10;AI-generated content may be incorrect.">
            <a:extLst>
              <a:ext uri="{FF2B5EF4-FFF2-40B4-BE49-F238E27FC236}">
                <a16:creationId xmlns:a16="http://schemas.microsoft.com/office/drawing/2014/main" id="{E2BCAD19-3CBD-A74E-B2BF-E0B0C1C46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968" y="1690688"/>
            <a:ext cx="6388100" cy="4152900"/>
          </a:xfrm>
        </p:spPr>
      </p:pic>
    </p:spTree>
    <p:extLst>
      <p:ext uri="{BB962C8B-B14F-4D97-AF65-F5344CB8AC3E}">
        <p14:creationId xmlns:p14="http://schemas.microsoft.com/office/powerpoint/2010/main" val="343688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9E10-3F46-6F73-38E6-CAE0EEB9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3258-2021-039B-1EC3-0D1DEB08B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Hyperplane: A decision boundary separating different classes in feature space.</a:t>
            </a:r>
          </a:p>
          <a:p>
            <a:r>
              <a:rPr lang="en-GB" dirty="0"/>
              <a:t>Support Vectors: The closest data points to the hyperplane, crucial for determining the hyperplane and margin in SVM.</a:t>
            </a:r>
          </a:p>
          <a:p>
            <a:r>
              <a:rPr lang="en-GB" dirty="0"/>
              <a:t>Margin: The distance between the hyperplane and the support vectors. SVM aims to maximize this margin for better classification performance.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15463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704D8A-96EA-813A-B593-267204F52246}"/>
              </a:ext>
            </a:extLst>
          </p:cNvPr>
          <p:cNvCxnSpPr/>
          <p:nvPr/>
        </p:nvCxnSpPr>
        <p:spPr>
          <a:xfrm>
            <a:off x="7121236" y="2355273"/>
            <a:ext cx="0" cy="3297382"/>
          </a:xfrm>
          <a:prstGeom prst="line">
            <a:avLst/>
          </a:prstGeom>
          <a:ln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DF8E0-C1DD-68AA-E89F-FE0D5184542D}"/>
              </a:ext>
            </a:extLst>
          </p:cNvPr>
          <p:cNvCxnSpPr/>
          <p:nvPr/>
        </p:nvCxnSpPr>
        <p:spPr>
          <a:xfrm>
            <a:off x="7121236" y="5624946"/>
            <a:ext cx="4073236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8C2FC35-7733-6B18-6BA1-08317BD3ECFE}"/>
              </a:ext>
            </a:extLst>
          </p:cNvPr>
          <p:cNvSpPr/>
          <p:nvPr/>
        </p:nvSpPr>
        <p:spPr>
          <a:xfrm>
            <a:off x="9601206" y="3267082"/>
            <a:ext cx="483465" cy="4648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F0C430-7EA0-1902-DD45-CDEE4F394BB7}"/>
              </a:ext>
            </a:extLst>
          </p:cNvPr>
          <p:cNvSpPr/>
          <p:nvPr/>
        </p:nvSpPr>
        <p:spPr>
          <a:xfrm>
            <a:off x="10194546" y="2887524"/>
            <a:ext cx="483465" cy="46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504A00-0FBE-0F04-54A6-3292F6BBBE18}"/>
              </a:ext>
            </a:extLst>
          </p:cNvPr>
          <p:cNvSpPr/>
          <p:nvPr/>
        </p:nvSpPr>
        <p:spPr>
          <a:xfrm>
            <a:off x="10530896" y="3352324"/>
            <a:ext cx="483465" cy="4648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0CE32F-9DB7-206C-C5FD-A769943DAEB4}"/>
              </a:ext>
            </a:extLst>
          </p:cNvPr>
          <p:cNvSpPr/>
          <p:nvPr/>
        </p:nvSpPr>
        <p:spPr>
          <a:xfrm>
            <a:off x="9711080" y="2474468"/>
            <a:ext cx="483466" cy="54128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AA9AA0-0633-71C2-F58E-97EF7935B1E8}"/>
              </a:ext>
            </a:extLst>
          </p:cNvPr>
          <p:cNvCxnSpPr/>
          <p:nvPr/>
        </p:nvCxnSpPr>
        <p:spPr>
          <a:xfrm>
            <a:off x="7792461" y="2674584"/>
            <a:ext cx="2758496" cy="2782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6AE1611-0294-4378-BE49-C142CF5C8E9D}"/>
              </a:ext>
            </a:extLst>
          </p:cNvPr>
          <p:cNvSpPr/>
          <p:nvPr/>
        </p:nvSpPr>
        <p:spPr>
          <a:xfrm rot="6129350">
            <a:off x="7353011" y="4877153"/>
            <a:ext cx="483465" cy="4648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B4F4B9-76F1-FE7D-3047-2C829DBA5233}"/>
              </a:ext>
            </a:extLst>
          </p:cNvPr>
          <p:cNvSpPr/>
          <p:nvPr/>
        </p:nvSpPr>
        <p:spPr>
          <a:xfrm rot="6129350">
            <a:off x="8241019" y="4257308"/>
            <a:ext cx="483465" cy="4648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64F936-3BD3-4D89-4958-0F8F8066E749}"/>
              </a:ext>
            </a:extLst>
          </p:cNvPr>
          <p:cNvSpPr/>
          <p:nvPr/>
        </p:nvSpPr>
        <p:spPr>
          <a:xfrm rot="6129350">
            <a:off x="8072387" y="4985193"/>
            <a:ext cx="483465" cy="4648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22C32A-3577-F5FD-1FB7-E3A68AD57F9F}"/>
              </a:ext>
            </a:extLst>
          </p:cNvPr>
          <p:cNvSpPr/>
          <p:nvPr/>
        </p:nvSpPr>
        <p:spPr>
          <a:xfrm rot="6129350">
            <a:off x="7550953" y="3963293"/>
            <a:ext cx="483466" cy="5412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063AE9-70D4-667D-EA29-85A5C0E627BA}"/>
              </a:ext>
            </a:extLst>
          </p:cNvPr>
          <p:cNvCxnSpPr/>
          <p:nvPr/>
        </p:nvCxnSpPr>
        <p:spPr>
          <a:xfrm>
            <a:off x="8331832" y="2355273"/>
            <a:ext cx="2758496" cy="2782855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5A4923-0415-A9AB-C5DE-3D25B3AA2005}"/>
              </a:ext>
            </a:extLst>
          </p:cNvPr>
          <p:cNvCxnSpPr/>
          <p:nvPr/>
        </p:nvCxnSpPr>
        <p:spPr>
          <a:xfrm>
            <a:off x="7212968" y="2887524"/>
            <a:ext cx="2758496" cy="2782855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808D74-AE1C-6FC6-38AB-09A0C67A320C}"/>
              </a:ext>
            </a:extLst>
          </p:cNvPr>
          <p:cNvCxnSpPr/>
          <p:nvPr/>
        </p:nvCxnSpPr>
        <p:spPr>
          <a:xfrm>
            <a:off x="1384892" y="2389236"/>
            <a:ext cx="0" cy="3297382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8BDF6F-AB30-9E4E-0E75-A80152CD617C}"/>
              </a:ext>
            </a:extLst>
          </p:cNvPr>
          <p:cNvCxnSpPr/>
          <p:nvPr/>
        </p:nvCxnSpPr>
        <p:spPr>
          <a:xfrm>
            <a:off x="1398747" y="5686618"/>
            <a:ext cx="4073236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7B37D5E-4E49-3D6A-3BE8-1F3CBA2D2974}"/>
              </a:ext>
            </a:extLst>
          </p:cNvPr>
          <p:cNvSpPr/>
          <p:nvPr/>
        </p:nvSpPr>
        <p:spPr>
          <a:xfrm>
            <a:off x="3864862" y="3301045"/>
            <a:ext cx="483465" cy="4648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19AD1E-4D7A-D3E1-0829-5BB7E00DD83C}"/>
              </a:ext>
            </a:extLst>
          </p:cNvPr>
          <p:cNvSpPr/>
          <p:nvPr/>
        </p:nvSpPr>
        <p:spPr>
          <a:xfrm>
            <a:off x="4458202" y="2921487"/>
            <a:ext cx="483465" cy="46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302EDE-D0C1-B2BA-F09A-BDA2413D3163}"/>
              </a:ext>
            </a:extLst>
          </p:cNvPr>
          <p:cNvSpPr/>
          <p:nvPr/>
        </p:nvSpPr>
        <p:spPr>
          <a:xfrm>
            <a:off x="4794552" y="3386287"/>
            <a:ext cx="483465" cy="4648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147343-1A31-6318-F278-577BA214417C}"/>
              </a:ext>
            </a:extLst>
          </p:cNvPr>
          <p:cNvSpPr/>
          <p:nvPr/>
        </p:nvSpPr>
        <p:spPr>
          <a:xfrm>
            <a:off x="3974736" y="2508431"/>
            <a:ext cx="483466" cy="54128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3CF1F1-5B0D-AE4E-0CA8-F0AE53A95F71}"/>
              </a:ext>
            </a:extLst>
          </p:cNvPr>
          <p:cNvSpPr/>
          <p:nvPr/>
        </p:nvSpPr>
        <p:spPr>
          <a:xfrm rot="6129350">
            <a:off x="1616667" y="4911116"/>
            <a:ext cx="483465" cy="4648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14272C-8827-02CC-1ADA-262BCC6D5FD7}"/>
              </a:ext>
            </a:extLst>
          </p:cNvPr>
          <p:cNvSpPr/>
          <p:nvPr/>
        </p:nvSpPr>
        <p:spPr>
          <a:xfrm rot="6129350">
            <a:off x="2504675" y="4291271"/>
            <a:ext cx="483465" cy="4648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50EA22-6457-E407-69E6-D2944765A2AC}"/>
              </a:ext>
            </a:extLst>
          </p:cNvPr>
          <p:cNvSpPr/>
          <p:nvPr/>
        </p:nvSpPr>
        <p:spPr>
          <a:xfrm rot="6129350">
            <a:off x="2371478" y="4970578"/>
            <a:ext cx="483465" cy="4648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4D152F3-CB8F-2AE7-A86C-ADD484E92C54}"/>
              </a:ext>
            </a:extLst>
          </p:cNvPr>
          <p:cNvSpPr/>
          <p:nvPr/>
        </p:nvSpPr>
        <p:spPr>
          <a:xfrm rot="6129350">
            <a:off x="1814609" y="3997256"/>
            <a:ext cx="483466" cy="5412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5C09371-701F-ABFA-F521-A3CC2331FE14}"/>
              </a:ext>
            </a:extLst>
          </p:cNvPr>
          <p:cNvCxnSpPr/>
          <p:nvPr/>
        </p:nvCxnSpPr>
        <p:spPr>
          <a:xfrm>
            <a:off x="3435365" y="2216727"/>
            <a:ext cx="0" cy="3453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A6BA62-C153-06A2-C985-C4097E3A26B5}"/>
              </a:ext>
            </a:extLst>
          </p:cNvPr>
          <p:cNvCxnSpPr/>
          <p:nvPr/>
        </p:nvCxnSpPr>
        <p:spPr>
          <a:xfrm>
            <a:off x="3024499" y="2124273"/>
            <a:ext cx="0" cy="3453652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9EB10F2-E1D2-0A1C-3D0B-57A636D2834E}"/>
              </a:ext>
            </a:extLst>
          </p:cNvPr>
          <p:cNvCxnSpPr/>
          <p:nvPr/>
        </p:nvCxnSpPr>
        <p:spPr>
          <a:xfrm>
            <a:off x="3808888" y="2199003"/>
            <a:ext cx="0" cy="3453652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5F079B22-A463-40C3-A6D2-1674B61C5920}"/>
              </a:ext>
            </a:extLst>
          </p:cNvPr>
          <p:cNvSpPr/>
          <p:nvPr/>
        </p:nvSpPr>
        <p:spPr>
          <a:xfrm rot="14066227">
            <a:off x="6938051" y="1565439"/>
            <a:ext cx="1007474" cy="12318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EB6B15-7E4D-82E5-08BC-C5B44DEE48B4}"/>
              </a:ext>
            </a:extLst>
          </p:cNvPr>
          <p:cNvSpPr txBox="1"/>
          <p:nvPr/>
        </p:nvSpPr>
        <p:spPr>
          <a:xfrm>
            <a:off x="7370343" y="156374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m2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C29F14B4-25FC-F375-6CBC-6758A89B2B94}"/>
              </a:ext>
            </a:extLst>
          </p:cNvPr>
          <p:cNvSpPr/>
          <p:nvPr/>
        </p:nvSpPr>
        <p:spPr>
          <a:xfrm rot="16200000">
            <a:off x="3112772" y="1341726"/>
            <a:ext cx="619246" cy="7957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3A2CBD-475C-9C65-589A-78C5F1072B3B}"/>
              </a:ext>
            </a:extLst>
          </p:cNvPr>
          <p:cNvSpPr txBox="1"/>
          <p:nvPr/>
        </p:nvSpPr>
        <p:spPr>
          <a:xfrm>
            <a:off x="3352800" y="99752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m1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3B35A4-E151-271F-A669-302C7DC86CFA}"/>
              </a:ext>
            </a:extLst>
          </p:cNvPr>
          <p:cNvSpPr txBox="1"/>
          <p:nvPr/>
        </p:nvSpPr>
        <p:spPr>
          <a:xfrm>
            <a:off x="9028291" y="5872459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Select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9C9694-8F89-10D3-310D-78D62DD43C51}"/>
              </a:ext>
            </a:extLst>
          </p:cNvPr>
          <p:cNvSpPr txBox="1"/>
          <p:nvPr/>
        </p:nvSpPr>
        <p:spPr>
          <a:xfrm>
            <a:off x="2537590" y="599660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Reject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9E3963-AEDE-2F11-C9DD-68F773E7F601}"/>
              </a:ext>
            </a:extLst>
          </p:cNvPr>
          <p:cNvSpPr txBox="1"/>
          <p:nvPr/>
        </p:nvSpPr>
        <p:spPr>
          <a:xfrm>
            <a:off x="8989757" y="832815"/>
            <a:ext cx="61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dirty="0"/>
              <a:t>Fig1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D2E4-812E-8B3A-0FC6-8B2F853F2408}"/>
              </a:ext>
            </a:extLst>
          </p:cNvPr>
          <p:cNvSpPr txBox="1"/>
          <p:nvPr/>
        </p:nvSpPr>
        <p:spPr>
          <a:xfrm>
            <a:off x="2854036" y="692727"/>
            <a:ext cx="61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dirty="0"/>
              <a:t>Fig2</a:t>
            </a:r>
          </a:p>
        </p:txBody>
      </p:sp>
    </p:spTree>
    <p:extLst>
      <p:ext uri="{BB962C8B-B14F-4D97-AF65-F5344CB8AC3E}">
        <p14:creationId xmlns:p14="http://schemas.microsoft.com/office/powerpoint/2010/main" val="366054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2DD8-60D4-C646-8D70-A487FB79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is maximizing it important for classification?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CE15-3708-EC7F-72DA-0EE0CEAB1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bigger margin is better because it creates more space between the classes, making predictions more reliable.</a:t>
            </a:r>
          </a:p>
          <a:p>
            <a:r>
              <a:rPr lang="en-GB" dirty="0"/>
              <a:t>A larger margin ensures that the model doesn't just memorize the details of the training data, like noise and outliers but instead focuses on the overall separation between the classes.</a:t>
            </a:r>
          </a:p>
          <a:p>
            <a:br>
              <a:rPr lang="en-GB" dirty="0"/>
            </a:b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80404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08FEEC-2CD6-510F-D542-9C8810337FBC}"/>
              </a:ext>
            </a:extLst>
          </p:cNvPr>
          <p:cNvSpPr txBox="1"/>
          <p:nvPr/>
        </p:nvSpPr>
        <p:spPr>
          <a:xfrm>
            <a:off x="3435927" y="2881745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20205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153</Words>
  <Application>Microsoft Macintosh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SVM – Part 1</vt:lpstr>
      <vt:lpstr>Introduction</vt:lpstr>
      <vt:lpstr>PowerPoint Presentation</vt:lpstr>
      <vt:lpstr>Key Concepts</vt:lpstr>
      <vt:lpstr>PowerPoint Presentation</vt:lpstr>
      <vt:lpstr>Why is maximizing it important for classification?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2</cp:revision>
  <dcterms:created xsi:type="dcterms:W3CDTF">2025-09-07T17:57:26Z</dcterms:created>
  <dcterms:modified xsi:type="dcterms:W3CDTF">2025-09-08T18:00:52Z</dcterms:modified>
</cp:coreProperties>
</file>