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0"/>
  </p:normalViewPr>
  <p:slideViewPr>
    <p:cSldViewPr>
      <p:cViewPr varScale="1">
        <p:scale>
          <a:sx n="146" d="100"/>
          <a:sy n="146" d="100"/>
        </p:scale>
        <p:origin x="96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0980" y="884046"/>
            <a:ext cx="529844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0980" y="884046"/>
            <a:ext cx="64706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980" y="1745360"/>
            <a:ext cx="5168265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1498" y="1816735"/>
            <a:ext cx="6430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Introduction</a:t>
            </a:r>
            <a:r>
              <a:rPr sz="2800" spc="-100" dirty="0"/>
              <a:t> </a:t>
            </a:r>
            <a:r>
              <a:rPr sz="2800" dirty="0"/>
              <a:t>to</a:t>
            </a:r>
            <a:r>
              <a:rPr sz="2800" spc="-95" dirty="0"/>
              <a:t> </a:t>
            </a:r>
            <a:r>
              <a:rPr sz="2800" dirty="0"/>
              <a:t>Pattern</a:t>
            </a:r>
            <a:r>
              <a:rPr sz="2800" spc="-90" dirty="0"/>
              <a:t> </a:t>
            </a:r>
            <a:r>
              <a:rPr sz="2800" spc="-10" dirty="0"/>
              <a:t>Recognition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26358" y="3050540"/>
            <a:ext cx="48393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Chapter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20" dirty="0">
                <a:latin typeface="Tahoma"/>
                <a:cs typeface="Tahoma"/>
              </a:rPr>
              <a:t>Ref.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Book: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Pattern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Classification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-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R.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Duda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et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al.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43519" y="4684521"/>
            <a:ext cx="2367281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9725">
              <a:lnSpc>
                <a:spcPct val="100000"/>
              </a:lnSpc>
              <a:spcBef>
                <a:spcPts val="100"/>
              </a:spcBef>
            </a:pPr>
            <a:r>
              <a:rPr lang="en-US" sz="1800" spc="-25" dirty="0">
                <a:latin typeface="Tahoma"/>
                <a:cs typeface="Tahoma"/>
              </a:rPr>
              <a:t>Rakib Mahmud</a:t>
            </a:r>
          </a:p>
          <a:p>
            <a:pPr marL="12700" marR="5080" indent="339725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latin typeface="Tahoma"/>
                <a:cs typeface="Tahoma"/>
              </a:rPr>
              <a:t>   </a:t>
            </a:r>
            <a:r>
              <a:rPr sz="1800" spc="-25" dirty="0">
                <a:latin typeface="Tahoma"/>
                <a:cs typeface="Tahoma"/>
              </a:rPr>
              <a:t>Lecturer,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BUBT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-80" dirty="0"/>
              <a:t> </a:t>
            </a:r>
            <a:r>
              <a:rPr spc="-10" dirty="0"/>
              <a:t>Recognition/Classification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4862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Assign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object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event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pattern</a:t>
            </a:r>
            <a:r>
              <a:rPr sz="1800" dirty="0">
                <a:latin typeface="Tahoma"/>
                <a:cs typeface="Tahoma"/>
              </a:rPr>
              <a:t>)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several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known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categories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(or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classes</a:t>
            </a:r>
            <a:r>
              <a:rPr sz="1800" spc="-10" dirty="0">
                <a:latin typeface="Tahoma"/>
                <a:cs typeface="Tahoma"/>
              </a:rPr>
              <a:t>).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9957" y="2981855"/>
            <a:ext cx="4843024" cy="29954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10" dirty="0"/>
              <a:t> 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52070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instances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share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some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regularities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similarities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is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repeatable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is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observable,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sometimes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partially,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using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sensors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may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noise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distortion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Pattern</a:t>
            </a:r>
            <a:r>
              <a:rPr spc="-5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52070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instances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share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some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regularities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similarities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is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repeatable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is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observable,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sometimes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partially,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using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sensors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may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have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noise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distortion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9104" y="1752600"/>
            <a:ext cx="3467100" cy="19491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09104" y="3849623"/>
            <a:ext cx="3467100" cy="23119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8188" y="3849623"/>
            <a:ext cx="4136136" cy="2327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Pattern</a:t>
            </a:r>
            <a:r>
              <a:rPr spc="-5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5718175" cy="1738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An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object</a:t>
            </a:r>
            <a:r>
              <a:rPr sz="18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event.</a:t>
            </a:r>
            <a:endParaRPr sz="1800">
              <a:latin typeface="Tahoma"/>
              <a:cs typeface="Tahom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Represented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by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vector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corresponding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 </a:t>
            </a:r>
            <a:r>
              <a:rPr sz="1800" dirty="0">
                <a:latin typeface="Tahoma"/>
                <a:cs typeface="Tahoma"/>
              </a:rPr>
              <a:t>various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features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800">
              <a:latin typeface="Tahoma"/>
              <a:cs typeface="Tahoma"/>
            </a:endParaRPr>
          </a:p>
          <a:p>
            <a:pPr marL="3190875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Some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Biometric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patterns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4902" y="1223910"/>
            <a:ext cx="1083126" cy="24091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9439" y="3613403"/>
            <a:ext cx="4809744" cy="26491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10" dirty="0"/>
              <a:t> 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0789"/>
            <a:ext cx="314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collection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“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similar</a:t>
            </a:r>
            <a:r>
              <a:rPr sz="1800" dirty="0">
                <a:latin typeface="Tahoma"/>
                <a:cs typeface="Tahoma"/>
              </a:rPr>
              <a:t>”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objects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9652" y="2663951"/>
            <a:ext cx="3742944" cy="21046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3288" y="2663951"/>
            <a:ext cx="3742944" cy="21061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86532" y="5177408"/>
            <a:ext cx="158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Class: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Mangoes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22895" y="5177408"/>
            <a:ext cx="154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Class: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Bananas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40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4810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Separate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belonging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different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Assign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correct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39209" y="2772371"/>
            <a:ext cx="4932680" cy="2946400"/>
            <a:chOff x="3839209" y="2772371"/>
            <a:chExt cx="4932680" cy="2946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5927" y="2938271"/>
              <a:ext cx="4029455" cy="2685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39209" y="2772371"/>
              <a:ext cx="4932680" cy="2946400"/>
            </a:xfrm>
            <a:custGeom>
              <a:avLst/>
              <a:gdLst/>
              <a:ahLst/>
              <a:cxnLst/>
              <a:rect l="l" t="t" r="r" b="b"/>
              <a:pathLst>
                <a:path w="4932680" h="2946400">
                  <a:moveTo>
                    <a:pt x="3628643" y="2654299"/>
                  </a:moveTo>
                  <a:lnTo>
                    <a:pt x="3556762" y="2654299"/>
                  </a:lnTo>
                  <a:lnTo>
                    <a:pt x="3568318" y="2666999"/>
                  </a:lnTo>
                  <a:lnTo>
                    <a:pt x="3597783" y="2666999"/>
                  </a:lnTo>
                  <a:lnTo>
                    <a:pt x="3621532" y="2679699"/>
                  </a:lnTo>
                  <a:lnTo>
                    <a:pt x="3819906" y="2743199"/>
                  </a:lnTo>
                  <a:lnTo>
                    <a:pt x="3821048" y="2743199"/>
                  </a:lnTo>
                  <a:lnTo>
                    <a:pt x="4023360" y="2781299"/>
                  </a:lnTo>
                  <a:lnTo>
                    <a:pt x="4103056" y="2793811"/>
                  </a:lnTo>
                  <a:lnTo>
                    <a:pt x="4104450" y="2794048"/>
                  </a:lnTo>
                  <a:lnTo>
                    <a:pt x="4878832" y="2946399"/>
                  </a:lnTo>
                  <a:lnTo>
                    <a:pt x="4932425" y="2946399"/>
                  </a:lnTo>
                  <a:lnTo>
                    <a:pt x="4929632" y="2933699"/>
                  </a:lnTo>
                  <a:lnTo>
                    <a:pt x="4907280" y="2933699"/>
                  </a:lnTo>
                  <a:lnTo>
                    <a:pt x="4883276" y="2920999"/>
                  </a:lnTo>
                  <a:lnTo>
                    <a:pt x="4883404" y="2920999"/>
                  </a:lnTo>
                  <a:lnTo>
                    <a:pt x="4108831" y="2768599"/>
                  </a:lnTo>
                  <a:lnTo>
                    <a:pt x="4028186" y="2755899"/>
                  </a:lnTo>
                  <a:lnTo>
                    <a:pt x="3826001" y="2717799"/>
                  </a:lnTo>
                  <a:lnTo>
                    <a:pt x="3827017" y="2717799"/>
                  </a:lnTo>
                  <a:lnTo>
                    <a:pt x="3628643" y="2654299"/>
                  </a:lnTo>
                  <a:close/>
                </a:path>
                <a:path w="4932680" h="2946400">
                  <a:moveTo>
                    <a:pt x="4103056" y="2793811"/>
                  </a:moveTo>
                  <a:lnTo>
                    <a:pt x="4104249" y="2794048"/>
                  </a:lnTo>
                  <a:lnTo>
                    <a:pt x="4104502" y="2794048"/>
                  </a:lnTo>
                  <a:lnTo>
                    <a:pt x="4103056" y="2793811"/>
                  </a:lnTo>
                  <a:close/>
                </a:path>
                <a:path w="4932680" h="2946400">
                  <a:moveTo>
                    <a:pt x="3566667" y="2628899"/>
                  </a:moveTo>
                  <a:lnTo>
                    <a:pt x="3520059" y="2628899"/>
                  </a:lnTo>
                  <a:lnTo>
                    <a:pt x="3544189" y="2654299"/>
                  </a:lnTo>
                  <a:lnTo>
                    <a:pt x="3605657" y="2654299"/>
                  </a:lnTo>
                  <a:lnTo>
                    <a:pt x="3577336" y="2641599"/>
                  </a:lnTo>
                  <a:lnTo>
                    <a:pt x="3578224" y="2641599"/>
                  </a:lnTo>
                  <a:lnTo>
                    <a:pt x="3566667" y="2628899"/>
                  </a:lnTo>
                  <a:close/>
                </a:path>
                <a:path w="4932680" h="2946400">
                  <a:moveTo>
                    <a:pt x="3533647" y="2616199"/>
                  </a:moveTo>
                  <a:lnTo>
                    <a:pt x="3503294" y="2616199"/>
                  </a:lnTo>
                  <a:lnTo>
                    <a:pt x="3511422" y="2628899"/>
                  </a:lnTo>
                  <a:lnTo>
                    <a:pt x="3557778" y="2628899"/>
                  </a:lnTo>
                  <a:lnTo>
                    <a:pt x="3533647" y="2616199"/>
                  </a:lnTo>
                  <a:close/>
                </a:path>
                <a:path w="4932680" h="2946400">
                  <a:moveTo>
                    <a:pt x="3442842" y="2527299"/>
                  </a:moveTo>
                  <a:lnTo>
                    <a:pt x="3412109" y="2527299"/>
                  </a:lnTo>
                  <a:lnTo>
                    <a:pt x="3425063" y="2552699"/>
                  </a:lnTo>
                  <a:lnTo>
                    <a:pt x="3425824" y="2552699"/>
                  </a:lnTo>
                  <a:lnTo>
                    <a:pt x="3461766" y="2578099"/>
                  </a:lnTo>
                  <a:lnTo>
                    <a:pt x="3496817" y="2616199"/>
                  </a:lnTo>
                  <a:lnTo>
                    <a:pt x="3534664" y="2616199"/>
                  </a:lnTo>
                  <a:lnTo>
                    <a:pt x="3527043" y="2603499"/>
                  </a:lnTo>
                  <a:lnTo>
                    <a:pt x="3520820" y="2603499"/>
                  </a:lnTo>
                  <a:lnTo>
                    <a:pt x="3513709" y="2590799"/>
                  </a:lnTo>
                  <a:lnTo>
                    <a:pt x="3478784" y="2565399"/>
                  </a:lnTo>
                  <a:lnTo>
                    <a:pt x="3442842" y="2527299"/>
                  </a:lnTo>
                  <a:close/>
                </a:path>
                <a:path w="4932680" h="2946400">
                  <a:moveTo>
                    <a:pt x="3430523" y="2514599"/>
                  </a:moveTo>
                  <a:lnTo>
                    <a:pt x="3399536" y="2514599"/>
                  </a:lnTo>
                  <a:lnTo>
                    <a:pt x="3411855" y="2527299"/>
                  </a:lnTo>
                  <a:lnTo>
                    <a:pt x="3443478" y="2527299"/>
                  </a:lnTo>
                  <a:lnTo>
                    <a:pt x="3430523" y="2514599"/>
                  </a:lnTo>
                  <a:close/>
                </a:path>
                <a:path w="4932680" h="2946400">
                  <a:moveTo>
                    <a:pt x="3418586" y="2501899"/>
                  </a:moveTo>
                  <a:lnTo>
                    <a:pt x="3387343" y="2501899"/>
                  </a:lnTo>
                  <a:lnTo>
                    <a:pt x="3399282" y="2514599"/>
                  </a:lnTo>
                  <a:lnTo>
                    <a:pt x="3430905" y="2514599"/>
                  </a:lnTo>
                  <a:lnTo>
                    <a:pt x="3418586" y="2501899"/>
                  </a:lnTo>
                  <a:close/>
                </a:path>
                <a:path w="4932680" h="2946400">
                  <a:moveTo>
                    <a:pt x="3330956" y="2362199"/>
                  </a:moveTo>
                  <a:lnTo>
                    <a:pt x="3308731" y="2362199"/>
                  </a:lnTo>
                  <a:lnTo>
                    <a:pt x="3309492" y="2374899"/>
                  </a:lnTo>
                  <a:lnTo>
                    <a:pt x="3316605" y="2387599"/>
                  </a:lnTo>
                  <a:lnTo>
                    <a:pt x="3355213" y="2451099"/>
                  </a:lnTo>
                  <a:lnTo>
                    <a:pt x="3386455" y="2501899"/>
                  </a:lnTo>
                  <a:lnTo>
                    <a:pt x="3418966" y="2501899"/>
                  </a:lnTo>
                  <a:lnTo>
                    <a:pt x="3407029" y="2489199"/>
                  </a:lnTo>
                  <a:lnTo>
                    <a:pt x="3407917" y="2489199"/>
                  </a:lnTo>
                  <a:lnTo>
                    <a:pt x="3376548" y="2438399"/>
                  </a:lnTo>
                  <a:lnTo>
                    <a:pt x="3338067" y="2374899"/>
                  </a:lnTo>
                  <a:lnTo>
                    <a:pt x="3330956" y="2362199"/>
                  </a:lnTo>
                  <a:close/>
                </a:path>
                <a:path w="4932680" h="2946400">
                  <a:moveTo>
                    <a:pt x="3140201" y="2031999"/>
                  </a:moveTo>
                  <a:lnTo>
                    <a:pt x="3106419" y="2031999"/>
                  </a:lnTo>
                  <a:lnTo>
                    <a:pt x="3113023" y="2044699"/>
                  </a:lnTo>
                  <a:lnTo>
                    <a:pt x="3119373" y="2044699"/>
                  </a:lnTo>
                  <a:lnTo>
                    <a:pt x="3135757" y="2070099"/>
                  </a:lnTo>
                  <a:lnTo>
                    <a:pt x="3196970" y="2171699"/>
                  </a:lnTo>
                  <a:lnTo>
                    <a:pt x="3249421" y="2260599"/>
                  </a:lnTo>
                  <a:lnTo>
                    <a:pt x="3296285" y="2336799"/>
                  </a:lnTo>
                  <a:lnTo>
                    <a:pt x="3295522" y="2336799"/>
                  </a:lnTo>
                  <a:lnTo>
                    <a:pt x="3303269" y="2349499"/>
                  </a:lnTo>
                  <a:lnTo>
                    <a:pt x="3305174" y="2362199"/>
                  </a:lnTo>
                  <a:lnTo>
                    <a:pt x="3331591" y="2362199"/>
                  </a:lnTo>
                  <a:lnTo>
                    <a:pt x="3328162" y="2349499"/>
                  </a:lnTo>
                  <a:lnTo>
                    <a:pt x="3326130" y="2349499"/>
                  </a:lnTo>
                  <a:lnTo>
                    <a:pt x="3318256" y="2324099"/>
                  </a:lnTo>
                  <a:lnTo>
                    <a:pt x="3317366" y="2324099"/>
                  </a:lnTo>
                  <a:lnTo>
                    <a:pt x="3270758" y="2247899"/>
                  </a:lnTo>
                  <a:lnTo>
                    <a:pt x="3218053" y="2158999"/>
                  </a:lnTo>
                  <a:lnTo>
                    <a:pt x="3156712" y="2057399"/>
                  </a:lnTo>
                  <a:lnTo>
                    <a:pt x="3140201" y="2031999"/>
                  </a:lnTo>
                  <a:close/>
                </a:path>
                <a:path w="4932680" h="2946400">
                  <a:moveTo>
                    <a:pt x="3132582" y="2019299"/>
                  </a:moveTo>
                  <a:lnTo>
                    <a:pt x="3099308" y="2019299"/>
                  </a:lnTo>
                  <a:lnTo>
                    <a:pt x="3106928" y="2031999"/>
                  </a:lnTo>
                  <a:lnTo>
                    <a:pt x="3139566" y="2031999"/>
                  </a:lnTo>
                  <a:lnTo>
                    <a:pt x="3132582" y="2019299"/>
                  </a:lnTo>
                  <a:close/>
                </a:path>
                <a:path w="4932680" h="2946400">
                  <a:moveTo>
                    <a:pt x="3039830" y="1967213"/>
                  </a:moveTo>
                  <a:lnTo>
                    <a:pt x="3067049" y="1993899"/>
                  </a:lnTo>
                  <a:lnTo>
                    <a:pt x="3076574" y="2006599"/>
                  </a:lnTo>
                  <a:lnTo>
                    <a:pt x="3083687" y="2006599"/>
                  </a:lnTo>
                  <a:lnTo>
                    <a:pt x="3092068" y="2019299"/>
                  </a:lnTo>
                  <a:lnTo>
                    <a:pt x="3125216" y="2019299"/>
                  </a:lnTo>
                  <a:lnTo>
                    <a:pt x="3117595" y="2006599"/>
                  </a:lnTo>
                  <a:lnTo>
                    <a:pt x="3109341" y="1993899"/>
                  </a:lnTo>
                  <a:lnTo>
                    <a:pt x="3100450" y="1993899"/>
                  </a:lnTo>
                  <a:lnTo>
                    <a:pt x="3092195" y="1981199"/>
                  </a:lnTo>
                  <a:lnTo>
                    <a:pt x="3083051" y="1981199"/>
                  </a:lnTo>
                  <a:lnTo>
                    <a:pt x="3070227" y="1968626"/>
                  </a:lnTo>
                  <a:lnTo>
                    <a:pt x="3041550" y="1968626"/>
                  </a:lnTo>
                  <a:lnTo>
                    <a:pt x="3039830" y="1967213"/>
                  </a:lnTo>
                  <a:close/>
                </a:path>
                <a:path w="4932680" h="2946400">
                  <a:moveTo>
                    <a:pt x="3082634" y="1968626"/>
                  </a:moveTo>
                  <a:lnTo>
                    <a:pt x="3083051" y="1981199"/>
                  </a:lnTo>
                  <a:lnTo>
                    <a:pt x="3091561" y="1981199"/>
                  </a:lnTo>
                  <a:lnTo>
                    <a:pt x="3082634" y="1968626"/>
                  </a:lnTo>
                  <a:close/>
                </a:path>
                <a:path w="4932680" h="2946400">
                  <a:moveTo>
                    <a:pt x="2942336" y="1866899"/>
                  </a:moveTo>
                  <a:lnTo>
                    <a:pt x="2876422" y="1866899"/>
                  </a:lnTo>
                  <a:lnTo>
                    <a:pt x="2903473" y="1879599"/>
                  </a:lnTo>
                  <a:lnTo>
                    <a:pt x="2903092" y="1879599"/>
                  </a:lnTo>
                  <a:lnTo>
                    <a:pt x="2929763" y="1892299"/>
                  </a:lnTo>
                  <a:lnTo>
                    <a:pt x="2929000" y="1892299"/>
                  </a:lnTo>
                  <a:lnTo>
                    <a:pt x="2980436" y="1917699"/>
                  </a:lnTo>
                  <a:lnTo>
                    <a:pt x="2979546" y="1917699"/>
                  </a:lnTo>
                  <a:lnTo>
                    <a:pt x="3041550" y="1968626"/>
                  </a:lnTo>
                  <a:lnTo>
                    <a:pt x="3070227" y="1968626"/>
                  </a:lnTo>
                  <a:lnTo>
                    <a:pt x="3057143" y="1955799"/>
                  </a:lnTo>
                  <a:lnTo>
                    <a:pt x="3056763" y="1955799"/>
                  </a:lnTo>
                  <a:lnTo>
                    <a:pt x="2994914" y="1904999"/>
                  </a:lnTo>
                  <a:lnTo>
                    <a:pt x="2993897" y="1904999"/>
                  </a:lnTo>
                  <a:lnTo>
                    <a:pt x="2942336" y="1866899"/>
                  </a:lnTo>
                  <a:close/>
                </a:path>
                <a:path w="4932680" h="2946400">
                  <a:moveTo>
                    <a:pt x="2915031" y="1854199"/>
                  </a:moveTo>
                  <a:lnTo>
                    <a:pt x="2836798" y="1854199"/>
                  </a:lnTo>
                  <a:lnTo>
                    <a:pt x="2877819" y="1866899"/>
                  </a:lnTo>
                  <a:lnTo>
                    <a:pt x="2941700" y="1866899"/>
                  </a:lnTo>
                  <a:lnTo>
                    <a:pt x="2915031" y="1854199"/>
                  </a:lnTo>
                  <a:close/>
                </a:path>
                <a:path w="4932680" h="2946400">
                  <a:moveTo>
                    <a:pt x="2639314" y="1739899"/>
                  </a:moveTo>
                  <a:lnTo>
                    <a:pt x="2576956" y="1739899"/>
                  </a:lnTo>
                  <a:lnTo>
                    <a:pt x="2580923" y="1752695"/>
                  </a:lnTo>
                  <a:lnTo>
                    <a:pt x="2615424" y="1752695"/>
                  </a:lnTo>
                  <a:lnTo>
                    <a:pt x="2630424" y="1765299"/>
                  </a:lnTo>
                  <a:lnTo>
                    <a:pt x="2629407" y="1765299"/>
                  </a:lnTo>
                  <a:lnTo>
                    <a:pt x="2666872" y="1777999"/>
                  </a:lnTo>
                  <a:lnTo>
                    <a:pt x="2667126" y="1777999"/>
                  </a:lnTo>
                  <a:lnTo>
                    <a:pt x="2723264" y="1803502"/>
                  </a:lnTo>
                  <a:lnTo>
                    <a:pt x="2786686" y="1828871"/>
                  </a:lnTo>
                  <a:lnTo>
                    <a:pt x="2787028" y="1828871"/>
                  </a:lnTo>
                  <a:lnTo>
                    <a:pt x="2836544" y="1854199"/>
                  </a:lnTo>
                  <a:lnTo>
                    <a:pt x="2914649" y="1854199"/>
                  </a:lnTo>
                  <a:lnTo>
                    <a:pt x="2887598" y="1841499"/>
                  </a:lnTo>
                  <a:lnTo>
                    <a:pt x="2886329" y="1841499"/>
                  </a:lnTo>
                  <a:lnTo>
                    <a:pt x="2845539" y="1828871"/>
                  </a:lnTo>
                  <a:lnTo>
                    <a:pt x="2795019" y="1802947"/>
                  </a:lnTo>
                  <a:lnTo>
                    <a:pt x="2732405" y="1777999"/>
                  </a:lnTo>
                  <a:lnTo>
                    <a:pt x="2675779" y="1752261"/>
                  </a:lnTo>
                  <a:lnTo>
                    <a:pt x="2639314" y="1739899"/>
                  </a:lnTo>
                  <a:close/>
                </a:path>
                <a:path w="4932680" h="2946400">
                  <a:moveTo>
                    <a:pt x="2795023" y="1802947"/>
                  </a:moveTo>
                  <a:lnTo>
                    <a:pt x="2796105" y="1803502"/>
                  </a:lnTo>
                  <a:lnTo>
                    <a:pt x="2796417" y="1803502"/>
                  </a:lnTo>
                  <a:lnTo>
                    <a:pt x="2795023" y="1802947"/>
                  </a:lnTo>
                  <a:close/>
                </a:path>
                <a:path w="4932680" h="2946400">
                  <a:moveTo>
                    <a:pt x="2675779" y="1752261"/>
                  </a:moveTo>
                  <a:lnTo>
                    <a:pt x="2676735" y="1752695"/>
                  </a:lnTo>
                  <a:lnTo>
                    <a:pt x="2677061" y="1752695"/>
                  </a:lnTo>
                  <a:lnTo>
                    <a:pt x="2675779" y="1752261"/>
                  </a:lnTo>
                  <a:close/>
                </a:path>
                <a:path w="4932680" h="2946400">
                  <a:moveTo>
                    <a:pt x="2362200" y="1625599"/>
                  </a:moveTo>
                  <a:lnTo>
                    <a:pt x="2269998" y="1625599"/>
                  </a:lnTo>
                  <a:lnTo>
                    <a:pt x="2298065" y="1638299"/>
                  </a:lnTo>
                  <a:lnTo>
                    <a:pt x="2314575" y="1638299"/>
                  </a:lnTo>
                  <a:lnTo>
                    <a:pt x="2353055" y="1650999"/>
                  </a:lnTo>
                  <a:lnTo>
                    <a:pt x="2387091" y="1663699"/>
                  </a:lnTo>
                  <a:lnTo>
                    <a:pt x="2478278" y="1701799"/>
                  </a:lnTo>
                  <a:lnTo>
                    <a:pt x="2556637" y="1739899"/>
                  </a:lnTo>
                  <a:lnTo>
                    <a:pt x="2622677" y="1739899"/>
                  </a:lnTo>
                  <a:lnTo>
                    <a:pt x="2607564" y="1727199"/>
                  </a:lnTo>
                  <a:lnTo>
                    <a:pt x="2588387" y="1727199"/>
                  </a:lnTo>
                  <a:lnTo>
                    <a:pt x="2583941" y="1714499"/>
                  </a:lnTo>
                  <a:lnTo>
                    <a:pt x="2565907" y="1714499"/>
                  </a:lnTo>
                  <a:lnTo>
                    <a:pt x="2487422" y="1676399"/>
                  </a:lnTo>
                  <a:lnTo>
                    <a:pt x="2396363" y="1638299"/>
                  </a:lnTo>
                  <a:lnTo>
                    <a:pt x="2362200" y="1625599"/>
                  </a:lnTo>
                  <a:close/>
                </a:path>
                <a:path w="4932680" h="2946400">
                  <a:moveTo>
                    <a:pt x="2323465" y="1612899"/>
                  </a:moveTo>
                  <a:lnTo>
                    <a:pt x="2258187" y="1612899"/>
                  </a:lnTo>
                  <a:lnTo>
                    <a:pt x="2269109" y="1625599"/>
                  </a:lnTo>
                  <a:lnTo>
                    <a:pt x="2361945" y="1625599"/>
                  </a:lnTo>
                  <a:lnTo>
                    <a:pt x="2323465" y="1612899"/>
                  </a:lnTo>
                  <a:close/>
                </a:path>
                <a:path w="4932680" h="2946400">
                  <a:moveTo>
                    <a:pt x="2278126" y="1600199"/>
                  </a:moveTo>
                  <a:lnTo>
                    <a:pt x="2225293" y="1600199"/>
                  </a:lnTo>
                  <a:lnTo>
                    <a:pt x="2249042" y="1612899"/>
                  </a:lnTo>
                  <a:lnTo>
                    <a:pt x="2306192" y="1612899"/>
                  </a:lnTo>
                  <a:lnTo>
                    <a:pt x="2278126" y="1600199"/>
                  </a:lnTo>
                  <a:close/>
                </a:path>
                <a:path w="4932680" h="2946400">
                  <a:moveTo>
                    <a:pt x="2259965" y="1587499"/>
                  </a:moveTo>
                  <a:lnTo>
                    <a:pt x="2177288" y="1587499"/>
                  </a:lnTo>
                  <a:lnTo>
                    <a:pt x="2205354" y="1600199"/>
                  </a:lnTo>
                  <a:lnTo>
                    <a:pt x="2269616" y="1600199"/>
                  </a:lnTo>
                  <a:lnTo>
                    <a:pt x="2259965" y="1587499"/>
                  </a:lnTo>
                  <a:close/>
                </a:path>
                <a:path w="4932680" h="2946400">
                  <a:moveTo>
                    <a:pt x="2235580" y="1574799"/>
                  </a:moveTo>
                  <a:lnTo>
                    <a:pt x="2167128" y="1574799"/>
                  </a:lnTo>
                  <a:lnTo>
                    <a:pt x="2177923" y="1587499"/>
                  </a:lnTo>
                  <a:lnTo>
                    <a:pt x="2259329" y="1587499"/>
                  </a:lnTo>
                  <a:lnTo>
                    <a:pt x="2235580" y="1574799"/>
                  </a:lnTo>
                  <a:close/>
                </a:path>
                <a:path w="4932680" h="2946400">
                  <a:moveTo>
                    <a:pt x="2187193" y="1562099"/>
                  </a:moveTo>
                  <a:lnTo>
                    <a:pt x="2110613" y="1562099"/>
                  </a:lnTo>
                  <a:lnTo>
                    <a:pt x="2135504" y="1574799"/>
                  </a:lnTo>
                  <a:lnTo>
                    <a:pt x="2215134" y="1574799"/>
                  </a:lnTo>
                  <a:lnTo>
                    <a:pt x="2187193" y="1562099"/>
                  </a:lnTo>
                  <a:close/>
                </a:path>
                <a:path w="4932680" h="2946400">
                  <a:moveTo>
                    <a:pt x="2175637" y="1549399"/>
                  </a:moveTo>
                  <a:lnTo>
                    <a:pt x="2060702" y="1549399"/>
                  </a:lnTo>
                  <a:lnTo>
                    <a:pt x="2090165" y="1562099"/>
                  </a:lnTo>
                  <a:lnTo>
                    <a:pt x="2186431" y="1562099"/>
                  </a:lnTo>
                  <a:lnTo>
                    <a:pt x="2175637" y="1549399"/>
                  </a:lnTo>
                  <a:close/>
                </a:path>
                <a:path w="4932680" h="2946400">
                  <a:moveTo>
                    <a:pt x="2115566" y="1536699"/>
                  </a:moveTo>
                  <a:lnTo>
                    <a:pt x="2020442" y="1536699"/>
                  </a:lnTo>
                  <a:lnTo>
                    <a:pt x="2060448" y="1549399"/>
                  </a:lnTo>
                  <a:lnTo>
                    <a:pt x="2140330" y="1549399"/>
                  </a:lnTo>
                  <a:lnTo>
                    <a:pt x="2115566" y="1536699"/>
                  </a:lnTo>
                  <a:close/>
                </a:path>
                <a:path w="4932680" h="2946400">
                  <a:moveTo>
                    <a:pt x="2027936" y="1511299"/>
                  </a:moveTo>
                  <a:lnTo>
                    <a:pt x="1959102" y="1511299"/>
                  </a:lnTo>
                  <a:lnTo>
                    <a:pt x="1977138" y="1524092"/>
                  </a:lnTo>
                  <a:lnTo>
                    <a:pt x="1992600" y="1524092"/>
                  </a:lnTo>
                  <a:lnTo>
                    <a:pt x="2005964" y="1536699"/>
                  </a:lnTo>
                  <a:lnTo>
                    <a:pt x="2097151" y="1536699"/>
                  </a:lnTo>
                  <a:lnTo>
                    <a:pt x="2066829" y="1523686"/>
                  </a:lnTo>
                  <a:lnTo>
                    <a:pt x="2027936" y="1511299"/>
                  </a:lnTo>
                  <a:close/>
                </a:path>
                <a:path w="4932680" h="2946400">
                  <a:moveTo>
                    <a:pt x="2066829" y="1523686"/>
                  </a:moveTo>
                  <a:lnTo>
                    <a:pt x="2067774" y="1524092"/>
                  </a:lnTo>
                  <a:lnTo>
                    <a:pt x="2068103" y="1524092"/>
                  </a:lnTo>
                  <a:lnTo>
                    <a:pt x="2066829" y="1523686"/>
                  </a:lnTo>
                  <a:close/>
                </a:path>
                <a:path w="4932680" h="2946400">
                  <a:moveTo>
                    <a:pt x="2002663" y="1498599"/>
                  </a:moveTo>
                  <a:lnTo>
                    <a:pt x="1872868" y="1498599"/>
                  </a:lnTo>
                  <a:lnTo>
                    <a:pt x="1878584" y="1511299"/>
                  </a:lnTo>
                  <a:lnTo>
                    <a:pt x="2015998" y="1511299"/>
                  </a:lnTo>
                  <a:lnTo>
                    <a:pt x="2002663" y="1498599"/>
                  </a:lnTo>
                  <a:close/>
                </a:path>
                <a:path w="4932680" h="2946400">
                  <a:moveTo>
                    <a:pt x="1965325" y="1485899"/>
                  </a:moveTo>
                  <a:lnTo>
                    <a:pt x="1835150" y="1485899"/>
                  </a:lnTo>
                  <a:lnTo>
                    <a:pt x="1840102" y="1498599"/>
                  </a:lnTo>
                  <a:lnTo>
                    <a:pt x="1984120" y="1498599"/>
                  </a:lnTo>
                  <a:lnTo>
                    <a:pt x="1965325" y="1485899"/>
                  </a:lnTo>
                  <a:close/>
                </a:path>
                <a:path w="4932680" h="2946400">
                  <a:moveTo>
                    <a:pt x="1874392" y="1473199"/>
                  </a:moveTo>
                  <a:lnTo>
                    <a:pt x="1755139" y="1473199"/>
                  </a:lnTo>
                  <a:lnTo>
                    <a:pt x="1770634" y="1485899"/>
                  </a:lnTo>
                  <a:lnTo>
                    <a:pt x="1880235" y="1485899"/>
                  </a:lnTo>
                  <a:lnTo>
                    <a:pt x="1874392" y="1473199"/>
                  </a:lnTo>
                  <a:close/>
                </a:path>
                <a:path w="4932680" h="2946400">
                  <a:moveTo>
                    <a:pt x="1834895" y="1460499"/>
                  </a:moveTo>
                  <a:lnTo>
                    <a:pt x="1725802" y="1460499"/>
                  </a:lnTo>
                  <a:lnTo>
                    <a:pt x="1740280" y="1473199"/>
                  </a:lnTo>
                  <a:lnTo>
                    <a:pt x="1840356" y="1473199"/>
                  </a:lnTo>
                  <a:lnTo>
                    <a:pt x="1834895" y="1460499"/>
                  </a:lnTo>
                  <a:close/>
                </a:path>
                <a:path w="4932680" h="2946400">
                  <a:moveTo>
                    <a:pt x="1618211" y="1422082"/>
                  </a:moveTo>
                  <a:lnTo>
                    <a:pt x="1639951" y="1435099"/>
                  </a:lnTo>
                  <a:lnTo>
                    <a:pt x="1654302" y="1435099"/>
                  </a:lnTo>
                  <a:lnTo>
                    <a:pt x="1671574" y="1447799"/>
                  </a:lnTo>
                  <a:lnTo>
                    <a:pt x="1726184" y="1460499"/>
                  </a:lnTo>
                  <a:lnTo>
                    <a:pt x="1777745" y="1460499"/>
                  </a:lnTo>
                  <a:lnTo>
                    <a:pt x="1763267" y="1447799"/>
                  </a:lnTo>
                  <a:lnTo>
                    <a:pt x="1749425" y="1447799"/>
                  </a:lnTo>
                  <a:lnTo>
                    <a:pt x="1735074" y="1435099"/>
                  </a:lnTo>
                  <a:lnTo>
                    <a:pt x="1679955" y="1422399"/>
                  </a:lnTo>
                  <a:lnTo>
                    <a:pt x="1619123" y="1422399"/>
                  </a:lnTo>
                  <a:lnTo>
                    <a:pt x="1618211" y="1422082"/>
                  </a:lnTo>
                  <a:close/>
                </a:path>
                <a:path w="4932680" h="2946400">
                  <a:moveTo>
                    <a:pt x="1399666" y="1308099"/>
                  </a:moveTo>
                  <a:lnTo>
                    <a:pt x="1344929" y="1308099"/>
                  </a:lnTo>
                  <a:lnTo>
                    <a:pt x="1359027" y="1320799"/>
                  </a:lnTo>
                  <a:lnTo>
                    <a:pt x="1359789" y="1320799"/>
                  </a:lnTo>
                  <a:lnTo>
                    <a:pt x="1391547" y="1333657"/>
                  </a:lnTo>
                  <a:lnTo>
                    <a:pt x="1442719" y="1346199"/>
                  </a:lnTo>
                  <a:lnTo>
                    <a:pt x="1484249" y="1371599"/>
                  </a:lnTo>
                  <a:lnTo>
                    <a:pt x="1546225" y="1396999"/>
                  </a:lnTo>
                  <a:lnTo>
                    <a:pt x="1619123" y="1422399"/>
                  </a:lnTo>
                  <a:lnTo>
                    <a:pt x="1679955" y="1422399"/>
                  </a:lnTo>
                  <a:lnTo>
                    <a:pt x="1662556" y="1409699"/>
                  </a:lnTo>
                  <a:lnTo>
                    <a:pt x="1650238" y="1409699"/>
                  </a:lnTo>
                  <a:lnTo>
                    <a:pt x="1629028" y="1396999"/>
                  </a:lnTo>
                  <a:lnTo>
                    <a:pt x="1628520" y="1396999"/>
                  </a:lnTo>
                  <a:lnTo>
                    <a:pt x="1555368" y="1371599"/>
                  </a:lnTo>
                  <a:lnTo>
                    <a:pt x="1452039" y="1333657"/>
                  </a:lnTo>
                  <a:lnTo>
                    <a:pt x="1451804" y="1333657"/>
                  </a:lnTo>
                  <a:lnTo>
                    <a:pt x="1399666" y="1308099"/>
                  </a:lnTo>
                  <a:close/>
                </a:path>
                <a:path w="4932680" h="2946400">
                  <a:moveTo>
                    <a:pt x="1368043" y="1295399"/>
                  </a:moveTo>
                  <a:lnTo>
                    <a:pt x="1317370" y="1295399"/>
                  </a:lnTo>
                  <a:lnTo>
                    <a:pt x="1330705" y="1308099"/>
                  </a:lnTo>
                  <a:lnTo>
                    <a:pt x="1399413" y="1308099"/>
                  </a:lnTo>
                  <a:lnTo>
                    <a:pt x="1368043" y="1295399"/>
                  </a:lnTo>
                  <a:close/>
                </a:path>
                <a:path w="4932680" h="2946400">
                  <a:moveTo>
                    <a:pt x="1090802" y="1104899"/>
                  </a:moveTo>
                  <a:lnTo>
                    <a:pt x="1059434" y="1104899"/>
                  </a:lnTo>
                  <a:lnTo>
                    <a:pt x="1073785" y="1117599"/>
                  </a:lnTo>
                  <a:lnTo>
                    <a:pt x="1074801" y="1130299"/>
                  </a:lnTo>
                  <a:lnTo>
                    <a:pt x="1098423" y="1142999"/>
                  </a:lnTo>
                  <a:lnTo>
                    <a:pt x="1166293" y="1193914"/>
                  </a:lnTo>
                  <a:lnTo>
                    <a:pt x="1167481" y="1194826"/>
                  </a:lnTo>
                  <a:lnTo>
                    <a:pt x="1244849" y="1243793"/>
                  </a:lnTo>
                  <a:lnTo>
                    <a:pt x="1246242" y="1244723"/>
                  </a:lnTo>
                  <a:lnTo>
                    <a:pt x="1278001" y="1269999"/>
                  </a:lnTo>
                  <a:lnTo>
                    <a:pt x="1290574" y="1282699"/>
                  </a:lnTo>
                  <a:lnTo>
                    <a:pt x="1303274" y="1295399"/>
                  </a:lnTo>
                  <a:lnTo>
                    <a:pt x="1355343" y="1295399"/>
                  </a:lnTo>
                  <a:lnTo>
                    <a:pt x="1342009" y="1282699"/>
                  </a:lnTo>
                  <a:lnTo>
                    <a:pt x="1329436" y="1282699"/>
                  </a:lnTo>
                  <a:lnTo>
                    <a:pt x="1316481" y="1269999"/>
                  </a:lnTo>
                  <a:lnTo>
                    <a:pt x="1317243" y="1269999"/>
                  </a:lnTo>
                  <a:lnTo>
                    <a:pt x="1304670" y="1257299"/>
                  </a:lnTo>
                  <a:lnTo>
                    <a:pt x="1292987" y="1257299"/>
                  </a:lnTo>
                  <a:lnTo>
                    <a:pt x="1260982" y="1231899"/>
                  </a:lnTo>
                  <a:lnTo>
                    <a:pt x="1260602" y="1231899"/>
                  </a:lnTo>
                  <a:lnTo>
                    <a:pt x="1180338" y="1168399"/>
                  </a:lnTo>
                  <a:lnTo>
                    <a:pt x="1129474" y="1130299"/>
                  </a:lnTo>
                  <a:lnTo>
                    <a:pt x="1113409" y="1130299"/>
                  </a:lnTo>
                  <a:lnTo>
                    <a:pt x="1090802" y="1104899"/>
                  </a:lnTo>
                  <a:close/>
                </a:path>
                <a:path w="4932680" h="2946400">
                  <a:moveTo>
                    <a:pt x="1166266" y="1193914"/>
                  </a:moveTo>
                  <a:lnTo>
                    <a:pt x="1166041" y="1193914"/>
                  </a:lnTo>
                  <a:lnTo>
                    <a:pt x="1167481" y="1194826"/>
                  </a:lnTo>
                  <a:lnTo>
                    <a:pt x="1166266" y="1193914"/>
                  </a:lnTo>
                  <a:close/>
                </a:path>
                <a:path w="4932680" h="2946400">
                  <a:moveTo>
                    <a:pt x="1112519" y="1117599"/>
                  </a:moveTo>
                  <a:lnTo>
                    <a:pt x="1113409" y="1130299"/>
                  </a:lnTo>
                  <a:lnTo>
                    <a:pt x="1129474" y="1130299"/>
                  </a:lnTo>
                  <a:lnTo>
                    <a:pt x="1112519" y="1117599"/>
                  </a:lnTo>
                  <a:close/>
                </a:path>
                <a:path w="4932680" h="2946400">
                  <a:moveTo>
                    <a:pt x="1071244" y="1079499"/>
                  </a:moveTo>
                  <a:lnTo>
                    <a:pt x="1039876" y="1079499"/>
                  </a:lnTo>
                  <a:lnTo>
                    <a:pt x="1045590" y="1092199"/>
                  </a:lnTo>
                  <a:lnTo>
                    <a:pt x="1052449" y="1104899"/>
                  </a:lnTo>
                  <a:lnTo>
                    <a:pt x="1091691" y="1104899"/>
                  </a:lnTo>
                  <a:lnTo>
                    <a:pt x="1077340" y="1092199"/>
                  </a:lnTo>
                  <a:lnTo>
                    <a:pt x="1077722" y="1092199"/>
                  </a:lnTo>
                  <a:lnTo>
                    <a:pt x="1071244" y="1079499"/>
                  </a:lnTo>
                  <a:close/>
                </a:path>
                <a:path w="4932680" h="2946400">
                  <a:moveTo>
                    <a:pt x="970026" y="927099"/>
                  </a:moveTo>
                  <a:lnTo>
                    <a:pt x="947801" y="927099"/>
                  </a:lnTo>
                  <a:lnTo>
                    <a:pt x="955039" y="952499"/>
                  </a:lnTo>
                  <a:lnTo>
                    <a:pt x="955420" y="952499"/>
                  </a:lnTo>
                  <a:lnTo>
                    <a:pt x="973709" y="977899"/>
                  </a:lnTo>
                  <a:lnTo>
                    <a:pt x="973963" y="977899"/>
                  </a:lnTo>
                  <a:lnTo>
                    <a:pt x="993013" y="1015999"/>
                  </a:lnTo>
                  <a:lnTo>
                    <a:pt x="993266" y="1015999"/>
                  </a:lnTo>
                  <a:lnTo>
                    <a:pt x="1018920" y="1054099"/>
                  </a:lnTo>
                  <a:lnTo>
                    <a:pt x="1034795" y="1079499"/>
                  </a:lnTo>
                  <a:lnTo>
                    <a:pt x="1065911" y="1079499"/>
                  </a:lnTo>
                  <a:lnTo>
                    <a:pt x="1060195" y="1066799"/>
                  </a:lnTo>
                  <a:lnTo>
                    <a:pt x="1055624" y="1066799"/>
                  </a:lnTo>
                  <a:lnTo>
                    <a:pt x="1039494" y="1041399"/>
                  </a:lnTo>
                  <a:lnTo>
                    <a:pt x="1014094" y="1003299"/>
                  </a:lnTo>
                  <a:lnTo>
                    <a:pt x="995044" y="965199"/>
                  </a:lnTo>
                  <a:lnTo>
                    <a:pt x="995299" y="965199"/>
                  </a:lnTo>
                  <a:lnTo>
                    <a:pt x="976884" y="939799"/>
                  </a:lnTo>
                  <a:lnTo>
                    <a:pt x="977264" y="939799"/>
                  </a:lnTo>
                  <a:lnTo>
                    <a:pt x="970026" y="927099"/>
                  </a:lnTo>
                  <a:close/>
                </a:path>
                <a:path w="4932680" h="2946400">
                  <a:moveTo>
                    <a:pt x="765048" y="558800"/>
                  </a:moveTo>
                  <a:lnTo>
                    <a:pt x="731774" y="558800"/>
                  </a:lnTo>
                  <a:lnTo>
                    <a:pt x="743712" y="571500"/>
                  </a:lnTo>
                  <a:lnTo>
                    <a:pt x="743203" y="571500"/>
                  </a:lnTo>
                  <a:lnTo>
                    <a:pt x="769208" y="619880"/>
                  </a:lnTo>
                  <a:lnTo>
                    <a:pt x="782701" y="647700"/>
                  </a:lnTo>
                  <a:lnTo>
                    <a:pt x="811529" y="698500"/>
                  </a:lnTo>
                  <a:lnTo>
                    <a:pt x="840104" y="736600"/>
                  </a:lnTo>
                  <a:lnTo>
                    <a:pt x="874267" y="800100"/>
                  </a:lnTo>
                  <a:lnTo>
                    <a:pt x="890015" y="825500"/>
                  </a:lnTo>
                  <a:lnTo>
                    <a:pt x="889507" y="825500"/>
                  </a:lnTo>
                  <a:lnTo>
                    <a:pt x="919099" y="876299"/>
                  </a:lnTo>
                  <a:lnTo>
                    <a:pt x="921512" y="876299"/>
                  </a:lnTo>
                  <a:lnTo>
                    <a:pt x="941324" y="914399"/>
                  </a:lnTo>
                  <a:lnTo>
                    <a:pt x="941069" y="914399"/>
                  </a:lnTo>
                  <a:lnTo>
                    <a:pt x="947547" y="927099"/>
                  </a:lnTo>
                  <a:lnTo>
                    <a:pt x="970279" y="927099"/>
                  </a:lnTo>
                  <a:lnTo>
                    <a:pt x="963676" y="901699"/>
                  </a:lnTo>
                  <a:lnTo>
                    <a:pt x="943610" y="863599"/>
                  </a:lnTo>
                  <a:lnTo>
                    <a:pt x="940562" y="863599"/>
                  </a:lnTo>
                  <a:lnTo>
                    <a:pt x="910970" y="812800"/>
                  </a:lnTo>
                  <a:lnTo>
                    <a:pt x="910589" y="800100"/>
                  </a:lnTo>
                  <a:lnTo>
                    <a:pt x="895323" y="787586"/>
                  </a:lnTo>
                  <a:lnTo>
                    <a:pt x="861060" y="723900"/>
                  </a:lnTo>
                  <a:lnTo>
                    <a:pt x="832738" y="685800"/>
                  </a:lnTo>
                  <a:lnTo>
                    <a:pt x="804417" y="635000"/>
                  </a:lnTo>
                  <a:lnTo>
                    <a:pt x="804799" y="635000"/>
                  </a:lnTo>
                  <a:lnTo>
                    <a:pt x="792479" y="609600"/>
                  </a:lnTo>
                  <a:lnTo>
                    <a:pt x="765048" y="558800"/>
                  </a:lnTo>
                  <a:close/>
                </a:path>
                <a:path w="4932680" h="2946400">
                  <a:moveTo>
                    <a:pt x="645922" y="406400"/>
                  </a:moveTo>
                  <a:lnTo>
                    <a:pt x="612648" y="406400"/>
                  </a:lnTo>
                  <a:lnTo>
                    <a:pt x="628903" y="419100"/>
                  </a:lnTo>
                  <a:lnTo>
                    <a:pt x="628268" y="419100"/>
                  </a:lnTo>
                  <a:lnTo>
                    <a:pt x="661035" y="457200"/>
                  </a:lnTo>
                  <a:lnTo>
                    <a:pt x="669036" y="457200"/>
                  </a:lnTo>
                  <a:lnTo>
                    <a:pt x="693419" y="495300"/>
                  </a:lnTo>
                  <a:lnTo>
                    <a:pt x="719201" y="533400"/>
                  </a:lnTo>
                  <a:lnTo>
                    <a:pt x="732154" y="558800"/>
                  </a:lnTo>
                  <a:lnTo>
                    <a:pt x="764539" y="558800"/>
                  </a:lnTo>
                  <a:lnTo>
                    <a:pt x="752728" y="546100"/>
                  </a:lnTo>
                  <a:lnTo>
                    <a:pt x="752220" y="533400"/>
                  </a:lnTo>
                  <a:lnTo>
                    <a:pt x="739396" y="520826"/>
                  </a:lnTo>
                  <a:lnTo>
                    <a:pt x="739606" y="520826"/>
                  </a:lnTo>
                  <a:lnTo>
                    <a:pt x="713993" y="482600"/>
                  </a:lnTo>
                  <a:lnTo>
                    <a:pt x="689482" y="444500"/>
                  </a:lnTo>
                  <a:lnTo>
                    <a:pt x="688848" y="444500"/>
                  </a:lnTo>
                  <a:lnTo>
                    <a:pt x="679450" y="431800"/>
                  </a:lnTo>
                  <a:lnTo>
                    <a:pt x="678688" y="431800"/>
                  </a:lnTo>
                  <a:lnTo>
                    <a:pt x="645922" y="406400"/>
                  </a:lnTo>
                  <a:close/>
                </a:path>
                <a:path w="4932680" h="2946400">
                  <a:moveTo>
                    <a:pt x="739606" y="520826"/>
                  </a:moveTo>
                  <a:lnTo>
                    <a:pt x="739396" y="520826"/>
                  </a:lnTo>
                  <a:lnTo>
                    <a:pt x="740007" y="521425"/>
                  </a:lnTo>
                  <a:lnTo>
                    <a:pt x="739606" y="520826"/>
                  </a:lnTo>
                  <a:close/>
                </a:path>
                <a:path w="4932680" h="2946400">
                  <a:moveTo>
                    <a:pt x="103886" y="25400"/>
                  </a:moveTo>
                  <a:lnTo>
                    <a:pt x="40639" y="25400"/>
                  </a:lnTo>
                  <a:lnTo>
                    <a:pt x="52450" y="38100"/>
                  </a:lnTo>
                  <a:lnTo>
                    <a:pt x="51180" y="38100"/>
                  </a:lnTo>
                  <a:lnTo>
                    <a:pt x="92837" y="50800"/>
                  </a:lnTo>
                  <a:lnTo>
                    <a:pt x="92556" y="50800"/>
                  </a:lnTo>
                  <a:lnTo>
                    <a:pt x="100711" y="63500"/>
                  </a:lnTo>
                  <a:lnTo>
                    <a:pt x="100329" y="63500"/>
                  </a:lnTo>
                  <a:lnTo>
                    <a:pt x="334010" y="190500"/>
                  </a:lnTo>
                  <a:lnTo>
                    <a:pt x="333248" y="190500"/>
                  </a:lnTo>
                  <a:lnTo>
                    <a:pt x="378967" y="215900"/>
                  </a:lnTo>
                  <a:lnTo>
                    <a:pt x="378205" y="215900"/>
                  </a:lnTo>
                  <a:lnTo>
                    <a:pt x="474725" y="292100"/>
                  </a:lnTo>
                  <a:lnTo>
                    <a:pt x="579627" y="381000"/>
                  </a:lnTo>
                  <a:lnTo>
                    <a:pt x="596900" y="393700"/>
                  </a:lnTo>
                  <a:lnTo>
                    <a:pt x="596518" y="393700"/>
                  </a:lnTo>
                  <a:lnTo>
                    <a:pt x="613028" y="406400"/>
                  </a:lnTo>
                  <a:lnTo>
                    <a:pt x="645287" y="406400"/>
                  </a:lnTo>
                  <a:lnTo>
                    <a:pt x="629157" y="381000"/>
                  </a:lnTo>
                  <a:lnTo>
                    <a:pt x="628776" y="381000"/>
                  </a:lnTo>
                  <a:lnTo>
                    <a:pt x="612266" y="368300"/>
                  </a:lnTo>
                  <a:lnTo>
                    <a:pt x="594487" y="355600"/>
                  </a:lnTo>
                  <a:lnTo>
                    <a:pt x="489965" y="279400"/>
                  </a:lnTo>
                  <a:lnTo>
                    <a:pt x="393445" y="203200"/>
                  </a:lnTo>
                  <a:lnTo>
                    <a:pt x="346201" y="165100"/>
                  </a:lnTo>
                  <a:lnTo>
                    <a:pt x="112649" y="38100"/>
                  </a:lnTo>
                  <a:lnTo>
                    <a:pt x="103886" y="25400"/>
                  </a:lnTo>
                  <a:close/>
                </a:path>
                <a:path w="4932680" h="2946400">
                  <a:moveTo>
                    <a:pt x="42925" y="0"/>
                  </a:moveTo>
                  <a:lnTo>
                    <a:pt x="1015" y="0"/>
                  </a:lnTo>
                  <a:lnTo>
                    <a:pt x="0" y="25400"/>
                  </a:lnTo>
                  <a:lnTo>
                    <a:pt x="103504" y="25400"/>
                  </a:lnTo>
                  <a:lnTo>
                    <a:pt x="61722" y="12700"/>
                  </a:lnTo>
                  <a:lnTo>
                    <a:pt x="47878" y="12700"/>
                  </a:lnTo>
                  <a:lnTo>
                    <a:pt x="42925" y="0"/>
                  </a:lnTo>
                  <a:close/>
                </a:path>
              </a:pathLst>
            </a:custGeom>
            <a:solidFill>
              <a:srgbClr val="E712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Pattern</a:t>
            </a:r>
            <a:r>
              <a:rPr spc="-55" dirty="0"/>
              <a:t> </a:t>
            </a:r>
            <a:r>
              <a:rPr spc="-10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949579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4640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Tahoma"/>
                <a:cs typeface="Tahoma"/>
              </a:rPr>
              <a:t>Pattern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recognition(PR)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scientific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discipline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concerns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description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classification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(recognition)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patterns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(objects)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  <a:tab pos="1388110" algn="l"/>
                <a:tab pos="7818120" algn="l"/>
              </a:tabLst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task:</a:t>
            </a:r>
            <a:r>
              <a:rPr sz="1800" dirty="0">
                <a:latin typeface="Tahoma"/>
                <a:cs typeface="Tahoma"/>
              </a:rPr>
              <a:t>	Assign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unknown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objects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–&gt;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patterns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–&gt;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correct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class.</a:t>
            </a:r>
            <a:r>
              <a:rPr sz="1800" dirty="0">
                <a:latin typeface="Tahoma"/>
                <a:cs typeface="Tahoma"/>
              </a:rPr>
              <a:t>	This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known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as</a:t>
            </a:r>
            <a:endParaRPr sz="1800" dirty="0">
              <a:latin typeface="Tahoma"/>
              <a:cs typeface="Tahoma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classification</a:t>
            </a:r>
            <a:r>
              <a:rPr sz="1800" spc="-10" dirty="0">
                <a:solidFill>
                  <a:srgbClr val="EC7C30"/>
                </a:solidFill>
                <a:latin typeface="Tahoma"/>
                <a:cs typeface="Tahoma"/>
              </a:rPr>
              <a:t>.</a:t>
            </a:r>
            <a:endParaRPr sz="1800" dirty="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lang="en-GB" sz="1800" spc="-20" dirty="0">
                <a:latin typeface="Tahoma"/>
                <a:cs typeface="Tahoma"/>
              </a:rPr>
              <a:t>Typical</a:t>
            </a:r>
            <a:r>
              <a:rPr lang="en-GB" sz="1800" spc="-65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application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spc="-20" dirty="0">
                <a:latin typeface="Tahoma"/>
                <a:cs typeface="Tahoma"/>
              </a:rPr>
              <a:t>areas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Machine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spc="-10" dirty="0">
                <a:latin typeface="Tahoma"/>
                <a:cs typeface="Tahoma"/>
              </a:rPr>
              <a:t>vision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Character</a:t>
            </a:r>
            <a:r>
              <a:rPr lang="en-GB" sz="1800" spc="-8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recognition</a:t>
            </a:r>
            <a:r>
              <a:rPr lang="en-GB" sz="1800" spc="-65" dirty="0">
                <a:latin typeface="Tahoma"/>
                <a:cs typeface="Tahoma"/>
              </a:rPr>
              <a:t> </a:t>
            </a:r>
            <a:r>
              <a:rPr lang="en-GB" sz="1800" spc="-20" dirty="0">
                <a:latin typeface="Tahoma"/>
                <a:cs typeface="Tahoma"/>
              </a:rPr>
              <a:t>(OCR)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Computer</a:t>
            </a:r>
            <a:r>
              <a:rPr lang="en-GB" sz="1800" spc="-65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aided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800" spc="-10" dirty="0">
                <a:latin typeface="Tahoma"/>
                <a:cs typeface="Tahoma"/>
              </a:rPr>
              <a:t>diagnosis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Speech</a:t>
            </a:r>
            <a:r>
              <a:rPr lang="en-GB" sz="1800" spc="-10" dirty="0">
                <a:latin typeface="Tahoma"/>
                <a:cs typeface="Tahoma"/>
              </a:rPr>
              <a:t> recognition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Face</a:t>
            </a:r>
            <a:r>
              <a:rPr lang="en-GB" sz="1800" spc="-130" dirty="0">
                <a:latin typeface="Tahoma"/>
                <a:cs typeface="Tahoma"/>
              </a:rPr>
              <a:t> </a:t>
            </a:r>
            <a:r>
              <a:rPr lang="en-GB" sz="1800" spc="-10" dirty="0">
                <a:latin typeface="Tahoma"/>
                <a:cs typeface="Tahoma"/>
              </a:rPr>
              <a:t>recognition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spc="-10" dirty="0">
                <a:latin typeface="Tahoma"/>
                <a:cs typeface="Tahoma"/>
              </a:rPr>
              <a:t>Biometrics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Image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Data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Base</a:t>
            </a:r>
            <a:r>
              <a:rPr lang="en-GB" sz="1800" spc="-45" dirty="0">
                <a:latin typeface="Tahoma"/>
                <a:cs typeface="Tahoma"/>
              </a:rPr>
              <a:t> </a:t>
            </a:r>
            <a:r>
              <a:rPr lang="en-GB" sz="1800" spc="-10" dirty="0">
                <a:latin typeface="Tahoma"/>
                <a:cs typeface="Tahoma"/>
              </a:rPr>
              <a:t>retrieval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dirty="0">
                <a:latin typeface="Tahoma"/>
                <a:cs typeface="Tahoma"/>
              </a:rPr>
              <a:t>Data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spc="-10" dirty="0">
                <a:latin typeface="Tahoma"/>
                <a:cs typeface="Tahoma"/>
              </a:rPr>
              <a:t>mining</a:t>
            </a:r>
            <a:endParaRPr lang="en-GB" sz="1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GB" sz="1800" spc="-10" dirty="0">
                <a:latin typeface="Tahoma"/>
                <a:cs typeface="Tahoma"/>
              </a:rPr>
              <a:t>Bioinformatics</a:t>
            </a:r>
            <a:endParaRPr lang="en-GB"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2880" y="884046"/>
            <a:ext cx="6453505" cy="343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Representation</a:t>
            </a:r>
            <a:r>
              <a:rPr sz="2400" b="1" spc="-10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of</a:t>
            </a:r>
            <a:r>
              <a:rPr sz="2400" b="1" spc="-10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patterns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4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800" b="1" spc="-10" dirty="0">
                <a:latin typeface="Tahoma"/>
                <a:cs typeface="Tahoma"/>
              </a:rPr>
              <a:t>Features:</a:t>
            </a:r>
            <a:endParaRPr sz="1800">
              <a:latin typeface="Tahoma"/>
              <a:cs typeface="Tahoma"/>
            </a:endParaRPr>
          </a:p>
          <a:p>
            <a:pPr marL="3371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37185" algn="l"/>
              </a:tabLst>
            </a:pPr>
            <a:r>
              <a:rPr sz="1800" dirty="0">
                <a:latin typeface="Tahoma"/>
                <a:cs typeface="Tahoma"/>
              </a:rPr>
              <a:t>These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measurable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quantities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obtained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from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patterns</a:t>
            </a:r>
            <a:endParaRPr sz="1800">
              <a:latin typeface="Tahoma"/>
              <a:cs typeface="Tahoma"/>
            </a:endParaRPr>
          </a:p>
          <a:p>
            <a:pPr marL="337185" indent="-286385">
              <a:lnSpc>
                <a:spcPct val="100000"/>
              </a:lnSpc>
              <a:buFont typeface="Arial MT"/>
              <a:buChar char="•"/>
              <a:tabLst>
                <a:tab pos="337185" algn="l"/>
              </a:tabLst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classification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task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based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their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respective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values.</a:t>
            </a:r>
            <a:endParaRPr sz="1800">
              <a:latin typeface="Tahoma"/>
              <a:cs typeface="Tahoma"/>
            </a:endParaRPr>
          </a:p>
          <a:p>
            <a:pPr marL="50800">
              <a:lnSpc>
                <a:spcPts val="1970"/>
              </a:lnSpc>
              <a:spcBef>
                <a:spcPts val="1080"/>
              </a:spcBef>
              <a:tabLst>
                <a:tab pos="2058035" algn="l"/>
              </a:tabLst>
            </a:pPr>
            <a:r>
              <a:rPr sz="1800" b="1" dirty="0">
                <a:latin typeface="Tahoma"/>
                <a:cs typeface="Tahoma"/>
              </a:rPr>
              <a:t>Feature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vectors: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number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features</a:t>
            </a:r>
            <a:endParaRPr sz="1800">
              <a:latin typeface="Tahoma"/>
              <a:cs typeface="Tahoma"/>
            </a:endParaRPr>
          </a:p>
          <a:p>
            <a:pPr marL="3582035">
              <a:lnSpc>
                <a:spcPts val="4490"/>
              </a:lnSpc>
            </a:pPr>
            <a:r>
              <a:rPr sz="3900" i="1" spc="-50" dirty="0">
                <a:latin typeface="Times New Roman"/>
                <a:cs typeface="Times New Roman"/>
              </a:rPr>
              <a:t>x</a:t>
            </a:r>
            <a:r>
              <a:rPr sz="2925" spc="-75" baseline="-28490" dirty="0">
                <a:latin typeface="Times New Roman"/>
                <a:cs typeface="Times New Roman"/>
              </a:rPr>
              <a:t>1</a:t>
            </a:r>
            <a:r>
              <a:rPr sz="2925" spc="-337" baseline="-28490" dirty="0">
                <a:latin typeface="Times New Roman"/>
                <a:cs typeface="Times New Roman"/>
              </a:rPr>
              <a:t> </a:t>
            </a:r>
            <a:r>
              <a:rPr sz="3900" dirty="0">
                <a:latin typeface="Times New Roman"/>
                <a:cs typeface="Times New Roman"/>
              </a:rPr>
              <a:t>,...,</a:t>
            </a:r>
            <a:r>
              <a:rPr sz="3900" spc="-330" dirty="0">
                <a:latin typeface="Times New Roman"/>
                <a:cs typeface="Times New Roman"/>
              </a:rPr>
              <a:t> </a:t>
            </a:r>
            <a:r>
              <a:rPr sz="3900" i="1" dirty="0">
                <a:latin typeface="Times New Roman"/>
                <a:cs typeface="Times New Roman"/>
              </a:rPr>
              <a:t>x</a:t>
            </a:r>
            <a:r>
              <a:rPr sz="2925" i="1" baseline="-28490" dirty="0">
                <a:latin typeface="Times New Roman"/>
                <a:cs typeface="Times New Roman"/>
              </a:rPr>
              <a:t>l</a:t>
            </a:r>
            <a:r>
              <a:rPr sz="2925" i="1" spc="120" baseline="-28490" dirty="0">
                <a:latin typeface="Times New Roman"/>
                <a:cs typeface="Times New Roman"/>
              </a:rPr>
              <a:t> </a:t>
            </a:r>
            <a:r>
              <a:rPr sz="3900" spc="-50" dirty="0">
                <a:latin typeface="Times New Roman"/>
                <a:cs typeface="Times New Roman"/>
              </a:rPr>
              <a:t>,</a:t>
            </a:r>
            <a:endParaRPr sz="3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265"/>
              </a:spcBef>
            </a:pPr>
            <a:r>
              <a:rPr sz="1800" dirty="0">
                <a:latin typeface="Tahoma"/>
                <a:cs typeface="Tahoma"/>
              </a:rPr>
              <a:t>Constitute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vector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0980" y="5250891"/>
            <a:ext cx="4766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vectors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treated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EC7C30"/>
                </a:solidFill>
                <a:latin typeface="Tahoma"/>
                <a:cs typeface="Tahoma"/>
              </a:rPr>
              <a:t>random</a:t>
            </a:r>
            <a:r>
              <a:rPr sz="1800" spc="-40" dirty="0">
                <a:solidFill>
                  <a:srgbClr val="EC7C3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EC7C30"/>
                </a:solidFill>
                <a:latin typeface="Tahoma"/>
                <a:cs typeface="Tahoma"/>
              </a:rPr>
              <a:t>vectors.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7355" y="4370581"/>
            <a:ext cx="882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2452" y="4343944"/>
            <a:ext cx="1511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1467" y="4246209"/>
            <a:ext cx="273177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43760" algn="l"/>
              </a:tabLst>
            </a:pPr>
            <a:r>
              <a:rPr sz="2900" i="1" u="sng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900" i="1" spc="-25" dirty="0">
                <a:latin typeface="Times New Roman"/>
                <a:cs typeface="Times New Roman"/>
              </a:rPr>
              <a:t> </a:t>
            </a:r>
            <a:r>
              <a:rPr sz="2900" spc="75" dirty="0">
                <a:latin typeface="Symbol"/>
                <a:cs typeface="Symbol"/>
              </a:rPr>
              <a:t></a:t>
            </a:r>
            <a:r>
              <a:rPr sz="2900" spc="-16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Symbol"/>
                <a:cs typeface="Symbol"/>
              </a:rPr>
              <a:t></a:t>
            </a:r>
            <a:r>
              <a:rPr sz="2900" i="1" dirty="0">
                <a:latin typeface="Times New Roman"/>
                <a:cs typeface="Times New Roman"/>
              </a:rPr>
              <a:t>x</a:t>
            </a:r>
            <a:r>
              <a:rPr sz="2900" i="1" spc="1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,...,</a:t>
            </a:r>
            <a:r>
              <a:rPr sz="2900" spc="-235" dirty="0">
                <a:latin typeface="Times New Roman"/>
                <a:cs typeface="Times New Roman"/>
              </a:rPr>
              <a:t> </a:t>
            </a:r>
            <a:r>
              <a:rPr sz="2900" i="1" spc="50" dirty="0">
                <a:latin typeface="Times New Roman"/>
                <a:cs typeface="Times New Roman"/>
              </a:rPr>
              <a:t>x</a:t>
            </a:r>
            <a:r>
              <a:rPr sz="2900" i="1" spc="195" dirty="0">
                <a:latin typeface="Times New Roman"/>
                <a:cs typeface="Times New Roman"/>
              </a:rPr>
              <a:t> </a:t>
            </a:r>
            <a:r>
              <a:rPr sz="3950" spc="-365" dirty="0">
                <a:latin typeface="Symbol"/>
                <a:cs typeface="Symbol"/>
              </a:rPr>
              <a:t></a:t>
            </a:r>
            <a:r>
              <a:rPr sz="3950" dirty="0">
                <a:latin typeface="Times New Roman"/>
                <a:cs typeface="Times New Roman"/>
              </a:rPr>
              <a:t>	</a:t>
            </a:r>
            <a:r>
              <a:rPr sz="2900" spc="100" dirty="0">
                <a:latin typeface="Symbol"/>
                <a:cs typeface="Symbol"/>
              </a:rPr>
              <a:t></a:t>
            </a:r>
            <a:r>
              <a:rPr sz="2900" spc="-235" dirty="0">
                <a:latin typeface="Times New Roman"/>
                <a:cs typeface="Times New Roman"/>
              </a:rPr>
              <a:t> </a:t>
            </a:r>
            <a:r>
              <a:rPr sz="2900" i="1" spc="20" dirty="0">
                <a:latin typeface="Times New Roman"/>
                <a:cs typeface="Times New Roman"/>
              </a:rPr>
              <a:t>R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7857" y="4628191"/>
            <a:ext cx="9391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2965" algn="l"/>
              </a:tabLst>
            </a:pPr>
            <a:r>
              <a:rPr sz="1700" spc="-50" dirty="0">
                <a:latin typeface="Times New Roman"/>
                <a:cs typeface="Times New Roman"/>
              </a:rPr>
              <a:t>1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45" dirty="0"/>
              <a:t> </a:t>
            </a:r>
            <a:r>
              <a:rPr spc="-25" dirty="0"/>
              <a:t>01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3339" y="1464563"/>
            <a:ext cx="6867380" cy="4770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Issues</a:t>
            </a:r>
            <a:r>
              <a:rPr spc="-85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dirty="0"/>
              <a:t>Pattern</a:t>
            </a:r>
            <a:r>
              <a:rPr spc="-80" dirty="0"/>
              <a:t> </a:t>
            </a:r>
            <a:r>
              <a:rPr spc="-10" dirty="0"/>
              <a:t>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44424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How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generated?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What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best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numbers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features?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How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they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design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classifier?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How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good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classifier?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45" dirty="0"/>
              <a:t> </a:t>
            </a:r>
            <a:r>
              <a:rPr spc="-25" dirty="0"/>
              <a:t>02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432308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“Sorting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incoming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Fish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conveyor </a:t>
            </a:r>
            <a:r>
              <a:rPr sz="1800" dirty="0">
                <a:latin typeface="Tahoma"/>
                <a:cs typeface="Tahoma"/>
              </a:rPr>
              <a:t>according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species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using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optical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sensing”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Sea</a:t>
            </a:r>
            <a:r>
              <a:rPr sz="1800" spc="-20" dirty="0">
                <a:latin typeface="Tahoma"/>
                <a:cs typeface="Tahoma"/>
              </a:rPr>
              <a:t> bass</a:t>
            </a:r>
            <a:endParaRPr sz="18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85"/>
              </a:spcBef>
            </a:pPr>
            <a:r>
              <a:rPr sz="1800" spc="-10" dirty="0">
                <a:latin typeface="Tahoma"/>
                <a:cs typeface="Tahoma"/>
              </a:rPr>
              <a:t>Species</a:t>
            </a:r>
            <a:endParaRPr sz="1800">
              <a:latin typeface="Tahoma"/>
              <a:cs typeface="Tahoma"/>
            </a:endParaRPr>
          </a:p>
          <a:p>
            <a:pPr marL="2755900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Salmon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3027" y="3022218"/>
            <a:ext cx="854710" cy="577850"/>
          </a:xfrm>
          <a:custGeom>
            <a:avLst/>
            <a:gdLst/>
            <a:ahLst/>
            <a:cxnLst/>
            <a:rect l="l" t="t" r="r" b="b"/>
            <a:pathLst>
              <a:path w="854710" h="577850">
                <a:moveTo>
                  <a:pt x="854202" y="13589"/>
                </a:moveTo>
                <a:lnTo>
                  <a:pt x="770001" y="0"/>
                </a:lnTo>
                <a:lnTo>
                  <a:pt x="779462" y="30251"/>
                </a:lnTo>
                <a:lnTo>
                  <a:pt x="0" y="273812"/>
                </a:lnTo>
                <a:lnTo>
                  <a:pt x="3810" y="286004"/>
                </a:lnTo>
                <a:lnTo>
                  <a:pt x="783259" y="42405"/>
                </a:lnTo>
                <a:lnTo>
                  <a:pt x="792734" y="72644"/>
                </a:lnTo>
                <a:lnTo>
                  <a:pt x="840841" y="26416"/>
                </a:lnTo>
                <a:lnTo>
                  <a:pt x="854202" y="13589"/>
                </a:lnTo>
                <a:close/>
              </a:path>
              <a:path w="854710" h="577850">
                <a:moveTo>
                  <a:pt x="854456" y="564642"/>
                </a:moveTo>
                <a:lnTo>
                  <a:pt x="840524" y="550938"/>
                </a:lnTo>
                <a:lnTo>
                  <a:pt x="793750" y="504825"/>
                </a:lnTo>
                <a:lnTo>
                  <a:pt x="783920" y="534911"/>
                </a:lnTo>
                <a:lnTo>
                  <a:pt x="13081" y="283337"/>
                </a:lnTo>
                <a:lnTo>
                  <a:pt x="9017" y="295529"/>
                </a:lnTo>
                <a:lnTo>
                  <a:pt x="779983" y="546989"/>
                </a:lnTo>
                <a:lnTo>
                  <a:pt x="770128" y="577227"/>
                </a:lnTo>
                <a:lnTo>
                  <a:pt x="854456" y="564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7315" y="1728609"/>
            <a:ext cx="4660392" cy="46079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584200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Set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up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camera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take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some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sample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images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extract features</a:t>
            </a:r>
            <a:endParaRPr sz="1800">
              <a:latin typeface="Tahoma"/>
              <a:cs typeface="Tahoma"/>
            </a:endParaRPr>
          </a:p>
          <a:p>
            <a:pPr marL="756285" indent="-287020">
              <a:lnSpc>
                <a:spcPts val="205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spc="-10" dirty="0">
                <a:latin typeface="Calibri"/>
                <a:cs typeface="Calibri"/>
              </a:rPr>
              <a:t>Length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spc="-10" dirty="0">
                <a:latin typeface="Calibri"/>
                <a:cs typeface="Calibri"/>
              </a:rPr>
              <a:t>Lightness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spc="-10" dirty="0">
                <a:latin typeface="Calibri"/>
                <a:cs typeface="Calibri"/>
              </a:rPr>
              <a:t>Width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shape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fins</a:t>
            </a:r>
            <a:endParaRPr sz="18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Position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mouth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etc.…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Tahoma"/>
                <a:cs typeface="Tahoma"/>
              </a:rPr>
              <a:t>This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all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suggested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features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explore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-25" dirty="0">
                <a:latin typeface="Tahoma"/>
                <a:cs typeface="Tahoma"/>
              </a:rPr>
              <a:t> use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classifier!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40" dirty="0"/>
              <a:t>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576453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Preprocessing:</a:t>
            </a:r>
            <a:endParaRPr sz="1800">
              <a:latin typeface="Tahoma"/>
              <a:cs typeface="Tahoma"/>
            </a:endParaRPr>
          </a:p>
          <a:p>
            <a:pPr marL="756285" marR="5080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Isolate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fishes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from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another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also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removes background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Tahoma"/>
                <a:cs typeface="Tahoma"/>
              </a:rPr>
              <a:t>Feature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extraction:</a:t>
            </a:r>
            <a:endParaRPr sz="1800">
              <a:latin typeface="Tahoma"/>
              <a:cs typeface="Tahoma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Send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isolated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fish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image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extractor</a:t>
            </a:r>
            <a:endParaRPr sz="1800">
              <a:latin typeface="Tahoma"/>
              <a:cs typeface="Tahoma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It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reduces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too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spc="-10" dirty="0">
                <a:latin typeface="Tahoma"/>
                <a:cs typeface="Tahoma"/>
              </a:rPr>
              <a:t>Classification:</a:t>
            </a:r>
            <a:endParaRPr sz="1800">
              <a:latin typeface="Tahoma"/>
              <a:cs typeface="Tahoma"/>
            </a:endParaRPr>
          </a:p>
          <a:p>
            <a:pPr marL="7562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Pass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classifier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Length</a:t>
            </a:r>
            <a:r>
              <a:rPr spc="-5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discriminator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553" y="1658012"/>
            <a:ext cx="6344109" cy="40346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Length</a:t>
            </a:r>
            <a:r>
              <a:rPr spc="-5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discriminator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553" y="1658012"/>
            <a:ext cx="6344109" cy="40346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74389" y="5835802"/>
            <a:ext cx="4464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Conclusion:</a:t>
            </a:r>
            <a:r>
              <a:rPr sz="1800" b="1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Length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poor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alone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Lightness</a:t>
            </a:r>
            <a:r>
              <a:rPr spc="-4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discriminator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1756" y="1634289"/>
            <a:ext cx="5634182" cy="33487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Lightness</a:t>
            </a:r>
            <a:r>
              <a:rPr spc="-4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discriminator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1756" y="1634289"/>
            <a:ext cx="5634182" cy="33487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9723" y="5177408"/>
            <a:ext cx="96697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Tahoma"/>
                <a:cs typeface="Tahoma"/>
              </a:rPr>
              <a:t>Lightness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better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feature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length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because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reduces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misclassification</a:t>
            </a:r>
            <a:r>
              <a:rPr sz="1800" b="1" spc="-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error</a:t>
            </a:r>
            <a:r>
              <a:rPr sz="1800" spc="-10" dirty="0"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ahoma"/>
                <a:cs typeface="Tahoma"/>
              </a:rPr>
              <a:t>Can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combine </a:t>
            </a:r>
            <a:r>
              <a:rPr sz="1800" dirty="0">
                <a:latin typeface="Tahoma"/>
                <a:cs typeface="Tahoma"/>
              </a:rPr>
              <a:t>features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such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we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improve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performance?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(Hint: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correlation</a:t>
            </a:r>
            <a:r>
              <a:rPr sz="1800" spc="-1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Decision</a:t>
            </a:r>
            <a:r>
              <a:rPr spc="-85" dirty="0"/>
              <a:t> </a:t>
            </a:r>
            <a:r>
              <a:rPr dirty="0"/>
              <a:t>Boundary</a:t>
            </a:r>
            <a:r>
              <a:rPr spc="-7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Cost</a:t>
            </a:r>
            <a:r>
              <a:rPr spc="-80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980" y="1745360"/>
            <a:ext cx="68167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Move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our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decision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boundary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toward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smaller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lightness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in </a:t>
            </a:r>
            <a:r>
              <a:rPr sz="1800" dirty="0">
                <a:latin typeface="Tahoma"/>
                <a:cs typeface="Tahoma"/>
              </a:rPr>
              <a:t>order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minimize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cost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(reduce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number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bass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are </a:t>
            </a:r>
            <a:r>
              <a:rPr sz="1800" dirty="0">
                <a:latin typeface="Tahoma"/>
                <a:cs typeface="Tahoma"/>
              </a:rPr>
              <a:t>classified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salmon!)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8354" y="3665982"/>
            <a:ext cx="2568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Task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decision</a:t>
            </a:r>
            <a:r>
              <a:rPr sz="1800" b="1" spc="-4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theory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1000" y="2714244"/>
            <a:ext cx="629920" cy="861060"/>
          </a:xfrm>
          <a:custGeom>
            <a:avLst/>
            <a:gdLst/>
            <a:ahLst/>
            <a:cxnLst/>
            <a:rect l="l" t="t" r="r" b="b"/>
            <a:pathLst>
              <a:path w="629920" h="861060">
                <a:moveTo>
                  <a:pt x="0" y="546353"/>
                </a:moveTo>
                <a:lnTo>
                  <a:pt x="157352" y="546353"/>
                </a:lnTo>
                <a:lnTo>
                  <a:pt x="157352" y="0"/>
                </a:lnTo>
                <a:lnTo>
                  <a:pt x="472059" y="0"/>
                </a:lnTo>
                <a:lnTo>
                  <a:pt x="472059" y="546353"/>
                </a:lnTo>
                <a:lnTo>
                  <a:pt x="629412" y="546353"/>
                </a:lnTo>
                <a:lnTo>
                  <a:pt x="314705" y="861059"/>
                </a:lnTo>
                <a:lnTo>
                  <a:pt x="0" y="54635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To</a:t>
            </a:r>
            <a:r>
              <a:rPr spc="-80" dirty="0"/>
              <a:t> </a:t>
            </a:r>
            <a:r>
              <a:rPr dirty="0"/>
              <a:t>improve</a:t>
            </a:r>
            <a:r>
              <a:rPr spc="-40" dirty="0"/>
              <a:t> </a:t>
            </a:r>
            <a:r>
              <a:rPr dirty="0"/>
              <a:t>recognition</a:t>
            </a:r>
            <a:r>
              <a:rPr spc="-50" dirty="0"/>
              <a:t> </a:t>
            </a:r>
            <a:r>
              <a:rPr spc="-20" dirty="0"/>
              <a:t>accuracy,</a:t>
            </a:r>
            <a:r>
              <a:rPr spc="-7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might</a:t>
            </a:r>
            <a:r>
              <a:rPr spc="-60" dirty="0"/>
              <a:t> </a:t>
            </a:r>
            <a:r>
              <a:rPr dirty="0"/>
              <a:t>need</a:t>
            </a:r>
            <a:r>
              <a:rPr spc="-70" dirty="0"/>
              <a:t> </a:t>
            </a:r>
            <a:r>
              <a:rPr spc="-25" dirty="0"/>
              <a:t>to 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more</a:t>
            </a:r>
            <a:r>
              <a:rPr spc="-5" dirty="0"/>
              <a:t> </a:t>
            </a:r>
            <a:r>
              <a:rPr dirty="0"/>
              <a:t>than</a:t>
            </a:r>
            <a:r>
              <a:rPr spc="-30" dirty="0"/>
              <a:t> 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features.</a:t>
            </a: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>
                <a:solidFill>
                  <a:srgbClr val="FF0000"/>
                </a:solidFill>
              </a:rPr>
              <a:t>Single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/>
              <a:t>features</a:t>
            </a:r>
            <a:r>
              <a:rPr spc="-50" dirty="0"/>
              <a:t> </a:t>
            </a:r>
            <a:r>
              <a:rPr dirty="0"/>
              <a:t>might</a:t>
            </a:r>
            <a:r>
              <a:rPr spc="-45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yield</a:t>
            </a:r>
            <a:r>
              <a:rPr spc="-2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20" dirty="0"/>
              <a:t>best</a:t>
            </a:r>
          </a:p>
          <a:p>
            <a:pPr marL="756285">
              <a:lnSpc>
                <a:spcPct val="100000"/>
              </a:lnSpc>
            </a:pPr>
            <a:r>
              <a:rPr spc="-10" dirty="0"/>
              <a:t>performance.</a:t>
            </a:r>
          </a:p>
          <a:p>
            <a:pPr marL="756285" marR="10477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/>
              <a:t>Using</a:t>
            </a:r>
            <a:r>
              <a:rPr spc="-65" dirty="0"/>
              <a:t> </a:t>
            </a:r>
            <a:r>
              <a:rPr dirty="0">
                <a:solidFill>
                  <a:srgbClr val="FF0000"/>
                </a:solidFill>
              </a:rPr>
              <a:t>combinations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features</a:t>
            </a:r>
            <a:r>
              <a:rPr spc="-55" dirty="0"/>
              <a:t> </a:t>
            </a:r>
            <a:r>
              <a:rPr dirty="0"/>
              <a:t>might</a:t>
            </a:r>
            <a:r>
              <a:rPr spc="-55" dirty="0"/>
              <a:t> </a:t>
            </a:r>
            <a:r>
              <a:rPr spc="-10" dirty="0"/>
              <a:t>yield </a:t>
            </a:r>
            <a:r>
              <a:rPr dirty="0"/>
              <a:t>better</a:t>
            </a:r>
            <a:r>
              <a:rPr spc="-75" dirty="0"/>
              <a:t> </a:t>
            </a:r>
            <a:r>
              <a:rPr spc="-10" dirty="0"/>
              <a:t>performance.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Adopt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>
                <a:solidFill>
                  <a:srgbClr val="FF0000"/>
                </a:solidFill>
              </a:rPr>
              <a:t>lightness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add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>
                <a:solidFill>
                  <a:srgbClr val="FF0000"/>
                </a:solidFill>
              </a:rPr>
              <a:t>width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20" dirty="0"/>
              <a:t>fish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05329" y="4214876"/>
            <a:ext cx="4260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Fish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1327" y="4202512"/>
            <a:ext cx="13277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ahoma"/>
                <a:cs typeface="Tahoma"/>
              </a:rPr>
              <a:t>x</a:t>
            </a:r>
            <a:r>
              <a:rPr sz="1875" baseline="24444" dirty="0">
                <a:latin typeface="Tahoma"/>
                <a:cs typeface="Tahoma"/>
              </a:rPr>
              <a:t>T</a:t>
            </a:r>
            <a:r>
              <a:rPr sz="1875" spc="165" baseline="24444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=</a:t>
            </a:r>
            <a:r>
              <a:rPr sz="1900" spc="-105" dirty="0">
                <a:latin typeface="Tahoma"/>
                <a:cs typeface="Tahoma"/>
              </a:rPr>
              <a:t> </a:t>
            </a:r>
            <a:r>
              <a:rPr sz="1900" b="1" spc="-35" dirty="0">
                <a:latin typeface="Tahoma"/>
                <a:cs typeface="Tahoma"/>
              </a:rPr>
              <a:t>[</a:t>
            </a:r>
            <a:r>
              <a:rPr sz="1900" spc="-35" dirty="0">
                <a:latin typeface="Tahoma"/>
                <a:cs typeface="Tahoma"/>
              </a:rPr>
              <a:t>x</a:t>
            </a:r>
            <a:r>
              <a:rPr sz="1875" spc="-52" baseline="-20000" dirty="0">
                <a:latin typeface="Tahoma"/>
                <a:cs typeface="Tahoma"/>
              </a:rPr>
              <a:t>1</a:t>
            </a:r>
            <a:r>
              <a:rPr sz="1900" spc="-35" dirty="0">
                <a:latin typeface="Tahoma"/>
                <a:cs typeface="Tahoma"/>
              </a:rPr>
              <a:t>,</a:t>
            </a:r>
            <a:r>
              <a:rPr sz="1900" spc="-114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x</a:t>
            </a:r>
            <a:r>
              <a:rPr sz="1875" spc="-37" baseline="-20000" dirty="0">
                <a:latin typeface="Tahoma"/>
                <a:cs typeface="Tahoma"/>
              </a:rPr>
              <a:t>2</a:t>
            </a:r>
            <a:r>
              <a:rPr sz="1900" b="1" spc="-25" dirty="0">
                <a:latin typeface="Tahoma"/>
                <a:cs typeface="Tahoma"/>
              </a:rPr>
              <a:t>]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4995" y="5037531"/>
            <a:ext cx="974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Lightness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2098" y="5037531"/>
            <a:ext cx="614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Width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0611" y="4233671"/>
            <a:ext cx="487680" cy="302260"/>
          </a:xfrm>
          <a:custGeom>
            <a:avLst/>
            <a:gdLst/>
            <a:ahLst/>
            <a:cxnLst/>
            <a:rect l="l" t="t" r="r" b="b"/>
            <a:pathLst>
              <a:path w="487680" h="302260">
                <a:moveTo>
                  <a:pt x="0" y="75437"/>
                </a:moveTo>
                <a:lnTo>
                  <a:pt x="336804" y="75437"/>
                </a:lnTo>
                <a:lnTo>
                  <a:pt x="336804" y="0"/>
                </a:lnTo>
                <a:lnTo>
                  <a:pt x="487680" y="150875"/>
                </a:lnTo>
                <a:lnTo>
                  <a:pt x="336804" y="301751"/>
                </a:lnTo>
                <a:lnTo>
                  <a:pt x="336804" y="226313"/>
                </a:lnTo>
                <a:lnTo>
                  <a:pt x="0" y="226313"/>
                </a:lnTo>
                <a:lnTo>
                  <a:pt x="0" y="754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19957" y="4532629"/>
            <a:ext cx="263525" cy="520700"/>
          </a:xfrm>
          <a:custGeom>
            <a:avLst/>
            <a:gdLst/>
            <a:ahLst/>
            <a:cxnLst/>
            <a:rect l="l" t="t" r="r" b="b"/>
            <a:pathLst>
              <a:path w="263525" h="520700">
                <a:moveTo>
                  <a:pt x="0" y="435102"/>
                </a:moveTo>
                <a:lnTo>
                  <a:pt x="126" y="520319"/>
                </a:lnTo>
                <a:lnTo>
                  <a:pt x="68198" y="469011"/>
                </a:lnTo>
                <a:lnTo>
                  <a:pt x="62579" y="466217"/>
                </a:lnTo>
                <a:lnTo>
                  <a:pt x="34035" y="466217"/>
                </a:lnTo>
                <a:lnTo>
                  <a:pt x="22732" y="460629"/>
                </a:lnTo>
                <a:lnTo>
                  <a:pt x="28405" y="449225"/>
                </a:lnTo>
                <a:lnTo>
                  <a:pt x="0" y="435102"/>
                </a:lnTo>
                <a:close/>
              </a:path>
              <a:path w="263525" h="520700">
                <a:moveTo>
                  <a:pt x="28405" y="449225"/>
                </a:moveTo>
                <a:lnTo>
                  <a:pt x="22732" y="460629"/>
                </a:lnTo>
                <a:lnTo>
                  <a:pt x="34035" y="466217"/>
                </a:lnTo>
                <a:lnTo>
                  <a:pt x="39697" y="454840"/>
                </a:lnTo>
                <a:lnTo>
                  <a:pt x="28405" y="449225"/>
                </a:lnTo>
                <a:close/>
              </a:path>
              <a:path w="263525" h="520700">
                <a:moveTo>
                  <a:pt x="39697" y="454840"/>
                </a:moveTo>
                <a:lnTo>
                  <a:pt x="34035" y="466217"/>
                </a:lnTo>
                <a:lnTo>
                  <a:pt x="62579" y="466217"/>
                </a:lnTo>
                <a:lnTo>
                  <a:pt x="39697" y="454840"/>
                </a:lnTo>
                <a:close/>
              </a:path>
              <a:path w="263525" h="520700">
                <a:moveTo>
                  <a:pt x="251840" y="0"/>
                </a:moveTo>
                <a:lnTo>
                  <a:pt x="28405" y="449225"/>
                </a:lnTo>
                <a:lnTo>
                  <a:pt x="39697" y="454840"/>
                </a:lnTo>
                <a:lnTo>
                  <a:pt x="263270" y="5588"/>
                </a:lnTo>
                <a:lnTo>
                  <a:pt x="251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05503" y="4557267"/>
            <a:ext cx="382270" cy="468630"/>
          </a:xfrm>
          <a:custGeom>
            <a:avLst/>
            <a:gdLst/>
            <a:ahLst/>
            <a:cxnLst/>
            <a:rect l="l" t="t" r="r" b="b"/>
            <a:pathLst>
              <a:path w="382270" h="468629">
                <a:moveTo>
                  <a:pt x="329272" y="413147"/>
                </a:moveTo>
                <a:lnTo>
                  <a:pt x="304673" y="433196"/>
                </a:lnTo>
                <a:lnTo>
                  <a:pt x="382270" y="468248"/>
                </a:lnTo>
                <a:lnTo>
                  <a:pt x="372192" y="423036"/>
                </a:lnTo>
                <a:lnTo>
                  <a:pt x="337312" y="423036"/>
                </a:lnTo>
                <a:lnTo>
                  <a:pt x="329272" y="413147"/>
                </a:lnTo>
                <a:close/>
              </a:path>
              <a:path w="382270" h="468629">
                <a:moveTo>
                  <a:pt x="339069" y="405162"/>
                </a:moveTo>
                <a:lnTo>
                  <a:pt x="329272" y="413147"/>
                </a:lnTo>
                <a:lnTo>
                  <a:pt x="337312" y="423036"/>
                </a:lnTo>
                <a:lnTo>
                  <a:pt x="347091" y="415035"/>
                </a:lnTo>
                <a:lnTo>
                  <a:pt x="339069" y="405162"/>
                </a:lnTo>
                <a:close/>
              </a:path>
              <a:path w="382270" h="468629">
                <a:moveTo>
                  <a:pt x="363727" y="385063"/>
                </a:moveTo>
                <a:lnTo>
                  <a:pt x="339069" y="405162"/>
                </a:lnTo>
                <a:lnTo>
                  <a:pt x="347091" y="415035"/>
                </a:lnTo>
                <a:lnTo>
                  <a:pt x="337312" y="423036"/>
                </a:lnTo>
                <a:lnTo>
                  <a:pt x="372192" y="423036"/>
                </a:lnTo>
                <a:lnTo>
                  <a:pt x="363727" y="385063"/>
                </a:lnTo>
                <a:close/>
              </a:path>
              <a:path w="382270" h="468629">
                <a:moveTo>
                  <a:pt x="9906" y="0"/>
                </a:moveTo>
                <a:lnTo>
                  <a:pt x="0" y="8127"/>
                </a:lnTo>
                <a:lnTo>
                  <a:pt x="329272" y="413147"/>
                </a:lnTo>
                <a:lnTo>
                  <a:pt x="339069" y="405162"/>
                </a:lnTo>
                <a:lnTo>
                  <a:pt x="9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To</a:t>
            </a:r>
            <a:r>
              <a:rPr spc="-80" dirty="0"/>
              <a:t> </a:t>
            </a:r>
            <a:r>
              <a:rPr dirty="0"/>
              <a:t>improve</a:t>
            </a:r>
            <a:r>
              <a:rPr spc="-40" dirty="0"/>
              <a:t> </a:t>
            </a:r>
            <a:r>
              <a:rPr dirty="0"/>
              <a:t>recognition</a:t>
            </a:r>
            <a:r>
              <a:rPr spc="-50" dirty="0"/>
              <a:t> </a:t>
            </a:r>
            <a:r>
              <a:rPr spc="-20" dirty="0"/>
              <a:t>accuracy,</a:t>
            </a:r>
            <a:r>
              <a:rPr spc="-7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might</a:t>
            </a:r>
            <a:r>
              <a:rPr spc="-60" dirty="0"/>
              <a:t> </a:t>
            </a:r>
            <a:r>
              <a:rPr dirty="0"/>
              <a:t>need</a:t>
            </a:r>
            <a:r>
              <a:rPr spc="-70" dirty="0"/>
              <a:t> </a:t>
            </a:r>
            <a:r>
              <a:rPr spc="-25" dirty="0"/>
              <a:t>to 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more</a:t>
            </a:r>
            <a:r>
              <a:rPr spc="-5" dirty="0"/>
              <a:t> </a:t>
            </a:r>
            <a:r>
              <a:rPr dirty="0"/>
              <a:t>than</a:t>
            </a:r>
            <a:r>
              <a:rPr spc="-30" dirty="0"/>
              <a:t> </a:t>
            </a:r>
            <a:r>
              <a:rPr dirty="0"/>
              <a:t>one</a:t>
            </a:r>
            <a:r>
              <a:rPr spc="-15" dirty="0"/>
              <a:t> </a:t>
            </a:r>
            <a:r>
              <a:rPr spc="-10" dirty="0"/>
              <a:t>features.</a:t>
            </a:r>
          </a:p>
          <a:p>
            <a:pPr marL="75628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>
                <a:solidFill>
                  <a:srgbClr val="FF0000"/>
                </a:solidFill>
              </a:rPr>
              <a:t>Single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/>
              <a:t>features</a:t>
            </a:r>
            <a:r>
              <a:rPr spc="-50" dirty="0"/>
              <a:t> </a:t>
            </a:r>
            <a:r>
              <a:rPr dirty="0"/>
              <a:t>might</a:t>
            </a:r>
            <a:r>
              <a:rPr spc="-45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yield</a:t>
            </a:r>
            <a:r>
              <a:rPr spc="-2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20" dirty="0"/>
              <a:t>best</a:t>
            </a:r>
          </a:p>
          <a:p>
            <a:pPr marL="756285">
              <a:lnSpc>
                <a:spcPct val="100000"/>
              </a:lnSpc>
            </a:pPr>
            <a:r>
              <a:rPr spc="-10" dirty="0"/>
              <a:t>performance.</a:t>
            </a:r>
          </a:p>
          <a:p>
            <a:pPr marL="756285" marR="104775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dirty="0"/>
              <a:t>Using</a:t>
            </a:r>
            <a:r>
              <a:rPr spc="-65" dirty="0"/>
              <a:t> </a:t>
            </a:r>
            <a:r>
              <a:rPr dirty="0">
                <a:solidFill>
                  <a:srgbClr val="FF0000"/>
                </a:solidFill>
              </a:rPr>
              <a:t>combinations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features</a:t>
            </a:r>
            <a:r>
              <a:rPr spc="-55" dirty="0"/>
              <a:t> </a:t>
            </a:r>
            <a:r>
              <a:rPr dirty="0"/>
              <a:t>might</a:t>
            </a:r>
            <a:r>
              <a:rPr spc="-55" dirty="0"/>
              <a:t> </a:t>
            </a:r>
            <a:r>
              <a:rPr spc="-10" dirty="0"/>
              <a:t>yield </a:t>
            </a:r>
            <a:r>
              <a:rPr dirty="0"/>
              <a:t>better</a:t>
            </a:r>
            <a:r>
              <a:rPr spc="-75" dirty="0"/>
              <a:t> </a:t>
            </a:r>
            <a:r>
              <a:rPr spc="-10" dirty="0"/>
              <a:t>performance.</a:t>
            </a: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/>
              <a:t>Adopt</a:t>
            </a:r>
            <a:r>
              <a:rPr spc="-3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>
                <a:solidFill>
                  <a:srgbClr val="FF0000"/>
                </a:solidFill>
              </a:rPr>
              <a:t>lightness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add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>
                <a:solidFill>
                  <a:srgbClr val="FF0000"/>
                </a:solidFill>
              </a:rPr>
              <a:t>width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20" dirty="0"/>
              <a:t>fish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05329" y="4214876"/>
            <a:ext cx="4260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Fish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1327" y="4202512"/>
            <a:ext cx="132778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ahoma"/>
                <a:cs typeface="Tahoma"/>
              </a:rPr>
              <a:t>x</a:t>
            </a:r>
            <a:r>
              <a:rPr sz="1875" baseline="24444" dirty="0">
                <a:latin typeface="Tahoma"/>
                <a:cs typeface="Tahoma"/>
              </a:rPr>
              <a:t>T</a:t>
            </a:r>
            <a:r>
              <a:rPr sz="1875" spc="165" baseline="24444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=</a:t>
            </a:r>
            <a:r>
              <a:rPr sz="1900" spc="-105" dirty="0">
                <a:latin typeface="Tahoma"/>
                <a:cs typeface="Tahoma"/>
              </a:rPr>
              <a:t> </a:t>
            </a:r>
            <a:r>
              <a:rPr sz="1900" b="1" spc="-35" dirty="0">
                <a:latin typeface="Tahoma"/>
                <a:cs typeface="Tahoma"/>
              </a:rPr>
              <a:t>[</a:t>
            </a:r>
            <a:r>
              <a:rPr sz="1900" spc="-35" dirty="0">
                <a:latin typeface="Tahoma"/>
                <a:cs typeface="Tahoma"/>
              </a:rPr>
              <a:t>x</a:t>
            </a:r>
            <a:r>
              <a:rPr sz="1875" spc="-52" baseline="-20000" dirty="0">
                <a:latin typeface="Tahoma"/>
                <a:cs typeface="Tahoma"/>
              </a:rPr>
              <a:t>1</a:t>
            </a:r>
            <a:r>
              <a:rPr sz="1900" spc="-35" dirty="0">
                <a:latin typeface="Tahoma"/>
                <a:cs typeface="Tahoma"/>
              </a:rPr>
              <a:t>,</a:t>
            </a:r>
            <a:r>
              <a:rPr sz="1900" spc="-114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x</a:t>
            </a:r>
            <a:r>
              <a:rPr sz="1875" spc="-37" baseline="-20000" dirty="0">
                <a:latin typeface="Tahoma"/>
                <a:cs typeface="Tahoma"/>
              </a:rPr>
              <a:t>2</a:t>
            </a:r>
            <a:r>
              <a:rPr sz="1900" b="1" spc="-25" dirty="0">
                <a:latin typeface="Tahoma"/>
                <a:cs typeface="Tahoma"/>
              </a:rPr>
              <a:t>]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4995" y="5037531"/>
            <a:ext cx="974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Lightness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2098" y="5037531"/>
            <a:ext cx="614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Width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0611" y="4233671"/>
            <a:ext cx="487680" cy="302260"/>
          </a:xfrm>
          <a:custGeom>
            <a:avLst/>
            <a:gdLst/>
            <a:ahLst/>
            <a:cxnLst/>
            <a:rect l="l" t="t" r="r" b="b"/>
            <a:pathLst>
              <a:path w="487680" h="302260">
                <a:moveTo>
                  <a:pt x="0" y="75437"/>
                </a:moveTo>
                <a:lnTo>
                  <a:pt x="336804" y="75437"/>
                </a:lnTo>
                <a:lnTo>
                  <a:pt x="336804" y="0"/>
                </a:lnTo>
                <a:lnTo>
                  <a:pt x="487680" y="150875"/>
                </a:lnTo>
                <a:lnTo>
                  <a:pt x="336804" y="301751"/>
                </a:lnTo>
                <a:lnTo>
                  <a:pt x="336804" y="226313"/>
                </a:lnTo>
                <a:lnTo>
                  <a:pt x="0" y="226313"/>
                </a:lnTo>
                <a:lnTo>
                  <a:pt x="0" y="754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19957" y="4532629"/>
            <a:ext cx="263525" cy="520700"/>
          </a:xfrm>
          <a:custGeom>
            <a:avLst/>
            <a:gdLst/>
            <a:ahLst/>
            <a:cxnLst/>
            <a:rect l="l" t="t" r="r" b="b"/>
            <a:pathLst>
              <a:path w="263525" h="520700">
                <a:moveTo>
                  <a:pt x="0" y="435102"/>
                </a:moveTo>
                <a:lnTo>
                  <a:pt x="126" y="520319"/>
                </a:lnTo>
                <a:lnTo>
                  <a:pt x="68198" y="469011"/>
                </a:lnTo>
                <a:lnTo>
                  <a:pt x="62579" y="466217"/>
                </a:lnTo>
                <a:lnTo>
                  <a:pt x="34035" y="466217"/>
                </a:lnTo>
                <a:lnTo>
                  <a:pt x="22732" y="460629"/>
                </a:lnTo>
                <a:lnTo>
                  <a:pt x="28405" y="449225"/>
                </a:lnTo>
                <a:lnTo>
                  <a:pt x="0" y="435102"/>
                </a:lnTo>
                <a:close/>
              </a:path>
              <a:path w="263525" h="520700">
                <a:moveTo>
                  <a:pt x="28405" y="449225"/>
                </a:moveTo>
                <a:lnTo>
                  <a:pt x="22732" y="460629"/>
                </a:lnTo>
                <a:lnTo>
                  <a:pt x="34035" y="466217"/>
                </a:lnTo>
                <a:lnTo>
                  <a:pt x="39697" y="454840"/>
                </a:lnTo>
                <a:lnTo>
                  <a:pt x="28405" y="449225"/>
                </a:lnTo>
                <a:close/>
              </a:path>
              <a:path w="263525" h="520700">
                <a:moveTo>
                  <a:pt x="39697" y="454840"/>
                </a:moveTo>
                <a:lnTo>
                  <a:pt x="34035" y="466217"/>
                </a:lnTo>
                <a:lnTo>
                  <a:pt x="62579" y="466217"/>
                </a:lnTo>
                <a:lnTo>
                  <a:pt x="39697" y="454840"/>
                </a:lnTo>
                <a:close/>
              </a:path>
              <a:path w="263525" h="520700">
                <a:moveTo>
                  <a:pt x="251840" y="0"/>
                </a:moveTo>
                <a:lnTo>
                  <a:pt x="28405" y="449225"/>
                </a:lnTo>
                <a:lnTo>
                  <a:pt x="39697" y="454840"/>
                </a:lnTo>
                <a:lnTo>
                  <a:pt x="263270" y="5588"/>
                </a:lnTo>
                <a:lnTo>
                  <a:pt x="251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05503" y="4557267"/>
            <a:ext cx="382270" cy="468630"/>
          </a:xfrm>
          <a:custGeom>
            <a:avLst/>
            <a:gdLst/>
            <a:ahLst/>
            <a:cxnLst/>
            <a:rect l="l" t="t" r="r" b="b"/>
            <a:pathLst>
              <a:path w="382270" h="468629">
                <a:moveTo>
                  <a:pt x="329272" y="413147"/>
                </a:moveTo>
                <a:lnTo>
                  <a:pt x="304673" y="433196"/>
                </a:lnTo>
                <a:lnTo>
                  <a:pt x="382270" y="468248"/>
                </a:lnTo>
                <a:lnTo>
                  <a:pt x="372192" y="423036"/>
                </a:lnTo>
                <a:lnTo>
                  <a:pt x="337312" y="423036"/>
                </a:lnTo>
                <a:lnTo>
                  <a:pt x="329272" y="413147"/>
                </a:lnTo>
                <a:close/>
              </a:path>
              <a:path w="382270" h="468629">
                <a:moveTo>
                  <a:pt x="339069" y="405162"/>
                </a:moveTo>
                <a:lnTo>
                  <a:pt x="329272" y="413147"/>
                </a:lnTo>
                <a:lnTo>
                  <a:pt x="337312" y="423036"/>
                </a:lnTo>
                <a:lnTo>
                  <a:pt x="347091" y="415035"/>
                </a:lnTo>
                <a:lnTo>
                  <a:pt x="339069" y="405162"/>
                </a:lnTo>
                <a:close/>
              </a:path>
              <a:path w="382270" h="468629">
                <a:moveTo>
                  <a:pt x="363727" y="385063"/>
                </a:moveTo>
                <a:lnTo>
                  <a:pt x="339069" y="405162"/>
                </a:lnTo>
                <a:lnTo>
                  <a:pt x="347091" y="415035"/>
                </a:lnTo>
                <a:lnTo>
                  <a:pt x="337312" y="423036"/>
                </a:lnTo>
                <a:lnTo>
                  <a:pt x="372192" y="423036"/>
                </a:lnTo>
                <a:lnTo>
                  <a:pt x="363727" y="385063"/>
                </a:lnTo>
                <a:close/>
              </a:path>
              <a:path w="382270" h="468629">
                <a:moveTo>
                  <a:pt x="9906" y="0"/>
                </a:moveTo>
                <a:lnTo>
                  <a:pt x="0" y="8127"/>
                </a:lnTo>
                <a:lnTo>
                  <a:pt x="329272" y="413147"/>
                </a:lnTo>
                <a:lnTo>
                  <a:pt x="339069" y="405162"/>
                </a:lnTo>
                <a:lnTo>
                  <a:pt x="9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4285" y="2636325"/>
            <a:ext cx="4833661" cy="2901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Complex</a:t>
            </a:r>
            <a:r>
              <a:rPr spc="-125" dirty="0"/>
              <a:t> </a:t>
            </a:r>
            <a:r>
              <a:rPr dirty="0"/>
              <a:t>decision</a:t>
            </a:r>
            <a:r>
              <a:rPr spc="-110" dirty="0"/>
              <a:t> </a:t>
            </a:r>
            <a:r>
              <a:rPr spc="-10" dirty="0"/>
              <a:t>boundary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0372" y="1628929"/>
            <a:ext cx="6810136" cy="40832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Compromise</a:t>
            </a:r>
            <a:r>
              <a:rPr spc="-105" dirty="0"/>
              <a:t> </a:t>
            </a:r>
            <a:r>
              <a:rPr dirty="0"/>
              <a:t>between</a:t>
            </a:r>
            <a:r>
              <a:rPr spc="-114" dirty="0"/>
              <a:t> </a:t>
            </a:r>
            <a:r>
              <a:rPr dirty="0"/>
              <a:t>training</a:t>
            </a:r>
            <a:r>
              <a:rPr spc="-114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3762" y="1630311"/>
            <a:ext cx="7003042" cy="42039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Complex</a:t>
            </a:r>
            <a:r>
              <a:rPr spc="-80" dirty="0"/>
              <a:t> </a:t>
            </a:r>
            <a:r>
              <a:rPr dirty="0"/>
              <a:t>model</a:t>
            </a:r>
            <a:r>
              <a:rPr spc="-80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dirty="0"/>
              <a:t>Simple</a:t>
            </a:r>
            <a:r>
              <a:rPr spc="-80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6661" y="1945738"/>
            <a:ext cx="4850963" cy="29126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876" y="1914061"/>
            <a:ext cx="4832533" cy="28995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74594" y="5430418"/>
            <a:ext cx="1084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Overfitting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70266" y="5430418"/>
            <a:ext cx="1449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Generalization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Complex</a:t>
            </a:r>
            <a:r>
              <a:rPr spc="-80" dirty="0"/>
              <a:t> </a:t>
            </a:r>
            <a:r>
              <a:rPr dirty="0"/>
              <a:t>model</a:t>
            </a:r>
            <a:r>
              <a:rPr spc="-85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dirty="0"/>
              <a:t>Simple</a:t>
            </a:r>
            <a:r>
              <a:rPr spc="-80" dirty="0"/>
              <a:t> </a:t>
            </a:r>
            <a:r>
              <a:rPr dirty="0"/>
              <a:t>model</a:t>
            </a:r>
            <a:r>
              <a:rPr spc="-8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6182" y="5430418"/>
            <a:ext cx="1319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What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this?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115" y="1722031"/>
            <a:ext cx="5607395" cy="33672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Complex</a:t>
            </a:r>
            <a:r>
              <a:rPr spc="-80" dirty="0"/>
              <a:t> </a:t>
            </a:r>
            <a:r>
              <a:rPr dirty="0"/>
              <a:t>model</a:t>
            </a:r>
            <a:r>
              <a:rPr spc="-85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dirty="0"/>
              <a:t>Simple</a:t>
            </a:r>
            <a:r>
              <a:rPr spc="-80" dirty="0"/>
              <a:t> </a:t>
            </a:r>
            <a:r>
              <a:rPr dirty="0"/>
              <a:t>model</a:t>
            </a:r>
            <a:r>
              <a:rPr spc="-8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3952" y="5335320"/>
            <a:ext cx="1421765" cy="7645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844"/>
              </a:spcBef>
            </a:pPr>
            <a:r>
              <a:rPr sz="1800" dirty="0">
                <a:latin typeface="Tahoma"/>
                <a:cs typeface="Tahoma"/>
              </a:rPr>
              <a:t>What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this?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b="1" spc="-10" dirty="0">
                <a:latin typeface="Tahoma"/>
                <a:cs typeface="Tahoma"/>
              </a:rPr>
              <a:t>Underfitting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115" y="1722031"/>
            <a:ext cx="5607395" cy="33672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50" dirty="0"/>
              <a:t> </a:t>
            </a:r>
            <a:r>
              <a:rPr dirty="0"/>
              <a:t>Cycle</a:t>
            </a:r>
            <a:r>
              <a:rPr spc="-35" dirty="0"/>
              <a:t> </a:t>
            </a:r>
            <a:r>
              <a:rPr spc="-10" dirty="0"/>
              <a:t>(Simplified)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1600200"/>
            <a:ext cx="2783487" cy="44749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50" dirty="0"/>
              <a:t> </a:t>
            </a:r>
            <a:r>
              <a:rPr dirty="0"/>
              <a:t>Cycle</a:t>
            </a:r>
            <a:r>
              <a:rPr spc="-35" dirty="0"/>
              <a:t> </a:t>
            </a:r>
            <a:r>
              <a:rPr spc="-10" dirty="0"/>
              <a:t>(Advanced)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897" y="1674297"/>
            <a:ext cx="5386652" cy="44107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rcRect r="33265"/>
          <a:stretch/>
        </p:blipFill>
        <p:spPr>
          <a:xfrm>
            <a:off x="1330571" y="1980409"/>
            <a:ext cx="5869353" cy="39535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317A9A-AC01-A63F-D026-2D1D440F1C54}"/>
              </a:ext>
            </a:extLst>
          </p:cNvPr>
          <p:cNvSpPr/>
          <p:nvPr/>
        </p:nvSpPr>
        <p:spPr>
          <a:xfrm>
            <a:off x="8496300" y="4495800"/>
            <a:ext cx="121920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dirty="0"/>
              <a:t>Agent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61C801-DB12-DDF2-991A-2DED933BEB00}"/>
              </a:ext>
            </a:extLst>
          </p:cNvPr>
          <p:cNvSpPr/>
          <p:nvPr/>
        </p:nvSpPr>
        <p:spPr>
          <a:xfrm>
            <a:off x="7962900" y="2971800"/>
            <a:ext cx="19812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dirty="0"/>
              <a:t>Environment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11304834-12AF-0B6D-0395-1AB453735651}"/>
              </a:ext>
            </a:extLst>
          </p:cNvPr>
          <p:cNvCxnSpPr>
            <a:stCxn id="4" idx="1"/>
            <a:endCxn id="5" idx="2"/>
          </p:cNvCxnSpPr>
          <p:nvPr/>
        </p:nvCxnSpPr>
        <p:spPr>
          <a:xfrm rot="10800000">
            <a:off x="7962900" y="3429000"/>
            <a:ext cx="533400" cy="1371600"/>
          </a:xfrm>
          <a:prstGeom prst="bentConnector3">
            <a:avLst>
              <a:gd name="adj1" fmla="val 14285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FDB4445-6F79-0208-7C4B-5C2CE6DD2106}"/>
              </a:ext>
            </a:extLst>
          </p:cNvPr>
          <p:cNvCxnSpPr>
            <a:stCxn id="5" idx="0"/>
            <a:endCxn id="4" idx="3"/>
          </p:cNvCxnSpPr>
          <p:nvPr/>
        </p:nvCxnSpPr>
        <p:spPr>
          <a:xfrm rot="16200000" flipH="1">
            <a:off x="8420100" y="3505200"/>
            <a:ext cx="1828800" cy="762000"/>
          </a:xfrm>
          <a:prstGeom prst="bentConnector4">
            <a:avLst>
              <a:gd name="adj1" fmla="val -12500"/>
              <a:gd name="adj2" fmla="val 160000"/>
            </a:avLst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13F3925-B6DC-EB21-99CD-33E5F8CFD13D}"/>
              </a:ext>
            </a:extLst>
          </p:cNvPr>
          <p:cNvCxnSpPr>
            <a:cxnSpLocks/>
          </p:cNvCxnSpPr>
          <p:nvPr/>
        </p:nvCxnSpPr>
        <p:spPr>
          <a:xfrm rot="5400000">
            <a:off x="9173570" y="3704230"/>
            <a:ext cx="1769660" cy="1219200"/>
          </a:xfrm>
          <a:prstGeom prst="bentConnector3">
            <a:avLst>
              <a:gd name="adj1" fmla="val 110154"/>
            </a:avLst>
          </a:prstGeom>
          <a:ln w="22225">
            <a:solidFill>
              <a:schemeClr val="accent1">
                <a:shade val="95000"/>
                <a:satMod val="105000"/>
                <a:alpha val="9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76835A-6CC3-C9F6-924D-6CAA8F88B5DD}"/>
              </a:ext>
            </a:extLst>
          </p:cNvPr>
          <p:cNvCxnSpPr>
            <a:stCxn id="5" idx="6"/>
          </p:cNvCxnSpPr>
          <p:nvPr/>
        </p:nvCxnSpPr>
        <p:spPr>
          <a:xfrm>
            <a:off x="9944100" y="3429000"/>
            <a:ext cx="76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B0CCB8-905E-405D-3794-1EEB45F2255A}"/>
              </a:ext>
            </a:extLst>
          </p:cNvPr>
          <p:cNvSpPr txBox="1"/>
          <p:nvPr/>
        </p:nvSpPr>
        <p:spPr>
          <a:xfrm>
            <a:off x="7879876" y="512132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2AC8DF-6E3D-CFDC-3B4F-46E555D9A42E}"/>
              </a:ext>
            </a:extLst>
          </p:cNvPr>
          <p:cNvSpPr txBox="1"/>
          <p:nvPr/>
        </p:nvSpPr>
        <p:spPr>
          <a:xfrm>
            <a:off x="9289008" y="237643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State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8CC922-B900-1EE3-36F3-C605BF19D6A7}"/>
              </a:ext>
            </a:extLst>
          </p:cNvPr>
          <p:cNvSpPr txBox="1"/>
          <p:nvPr/>
        </p:nvSpPr>
        <p:spPr>
          <a:xfrm>
            <a:off x="9671713" y="542469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Reward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D2A56-A04B-25FA-FD6E-FB942C700E0C}"/>
              </a:ext>
            </a:extLst>
          </p:cNvPr>
          <p:cNvSpPr txBox="1"/>
          <p:nvPr/>
        </p:nvSpPr>
        <p:spPr>
          <a:xfrm>
            <a:off x="7686280" y="1886972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dirty="0"/>
              <a:t>Reinforcement Learning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Supervised</a:t>
            </a:r>
            <a:r>
              <a:rPr spc="-65" dirty="0"/>
              <a:t> </a:t>
            </a:r>
            <a:r>
              <a:rPr dirty="0"/>
              <a:t>vs</a:t>
            </a:r>
            <a:r>
              <a:rPr spc="-50" dirty="0"/>
              <a:t> </a:t>
            </a:r>
            <a:r>
              <a:rPr spc="-10" dirty="0"/>
              <a:t>Unsupervised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9386" y="1666113"/>
            <a:ext cx="3329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Classification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(known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categories)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751" y="2480508"/>
            <a:ext cx="4402481" cy="2722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5257" y="3494196"/>
            <a:ext cx="4453409" cy="24473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82104" y="2685669"/>
            <a:ext cx="329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Clustering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(unknown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categories)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Supervised</a:t>
            </a:r>
            <a:r>
              <a:rPr spc="-65" dirty="0"/>
              <a:t> </a:t>
            </a:r>
            <a:r>
              <a:rPr dirty="0"/>
              <a:t>vs</a:t>
            </a:r>
            <a:r>
              <a:rPr spc="-50" dirty="0"/>
              <a:t> </a:t>
            </a:r>
            <a:r>
              <a:rPr spc="-10" dirty="0"/>
              <a:t>Unsupervised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9386" y="1666113"/>
            <a:ext cx="3329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4425" marR="5080" indent="-11023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Classification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(known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categories)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Supervised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3751" y="2480508"/>
            <a:ext cx="4402481" cy="2722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5257" y="3494196"/>
            <a:ext cx="4453409" cy="24473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82104" y="2685669"/>
            <a:ext cx="3292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9644" marR="5080" indent="-9575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Clustering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(unknown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categories)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Unsupervised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7175" y="3199333"/>
            <a:ext cx="1455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The </a:t>
            </a:r>
            <a:r>
              <a:rPr sz="2800" spc="-25" dirty="0"/>
              <a:t>End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724</Words>
  <Application>Microsoft Macintosh PowerPoint</Application>
  <PresentationFormat>Widescreen</PresentationFormat>
  <Paragraphs>144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 MT</vt:lpstr>
      <vt:lpstr>Calibri</vt:lpstr>
      <vt:lpstr>Symbol</vt:lpstr>
      <vt:lpstr>Tahoma</vt:lpstr>
      <vt:lpstr>Times New Roman</vt:lpstr>
      <vt:lpstr>Office Theme</vt:lpstr>
      <vt:lpstr>Introduction to Pattern Recognition</vt:lpstr>
      <vt:lpstr>Pattern Recognition/Classification</vt:lpstr>
      <vt:lpstr>What is Pattern</vt:lpstr>
      <vt:lpstr>What is Pattern (cont.)</vt:lpstr>
      <vt:lpstr>What is Pattern (cont.)</vt:lpstr>
      <vt:lpstr>What is Class</vt:lpstr>
      <vt:lpstr>Main Objective</vt:lpstr>
      <vt:lpstr>What is Pattern Recognition</vt:lpstr>
      <vt:lpstr>PowerPoint Presentation</vt:lpstr>
      <vt:lpstr>Example 01</vt:lpstr>
      <vt:lpstr>Issues in Pattern Recognition</vt:lpstr>
      <vt:lpstr>Example 02</vt:lpstr>
      <vt:lpstr>Problem Analysis</vt:lpstr>
      <vt:lpstr>Main Steps</vt:lpstr>
      <vt:lpstr>Length as a discriminator</vt:lpstr>
      <vt:lpstr>Length as a discriminator</vt:lpstr>
      <vt:lpstr>Lightness as a discriminator</vt:lpstr>
      <vt:lpstr>Lightness as a discriminator</vt:lpstr>
      <vt:lpstr>Decision Boundary and Cost Relationship</vt:lpstr>
      <vt:lpstr>Multiple features</vt:lpstr>
      <vt:lpstr>Multiple features</vt:lpstr>
      <vt:lpstr>Complex decision boundary</vt:lpstr>
      <vt:lpstr>Compromise between training and testing</vt:lpstr>
      <vt:lpstr>Complex model vs Simple model</vt:lpstr>
      <vt:lpstr>Complex model vs Simple model (cont.)</vt:lpstr>
      <vt:lpstr>Complex model vs Simple model (cont.)</vt:lpstr>
      <vt:lpstr>Design Cycle (Simplified)</vt:lpstr>
      <vt:lpstr>Design Cycle (Advanced)</vt:lpstr>
      <vt:lpstr>Learning</vt:lpstr>
      <vt:lpstr>Supervised vs Unsupervised</vt:lpstr>
      <vt:lpstr>Supervised vs Unsupervised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Bijon Mallik</dc:creator>
  <cp:lastModifiedBy>Rakib Mahmud</cp:lastModifiedBy>
  <cp:revision>2</cp:revision>
  <dcterms:created xsi:type="dcterms:W3CDTF">2025-07-16T04:53:18Z</dcterms:created>
  <dcterms:modified xsi:type="dcterms:W3CDTF">2025-07-21T18:01:35Z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2025-07-16T00:00:00Z</vt:filetime>
  </property>
  <property fmtid="{D5CDD505-2E9C-101B-9397-08002B2CF9AE}" pid="5" name="Producer">
    <vt:lpwstr>Microsoft® PowerPoint® LTSC</vt:lpwstr>
  </property>
</Properties>
</file>