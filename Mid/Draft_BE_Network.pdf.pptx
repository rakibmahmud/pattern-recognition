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67" r:id="rId3"/>
    <p:sldId id="268" r:id="rId4"/>
    <p:sldId id="266" r:id="rId5"/>
    <p:sldId id="269" r:id="rId6"/>
    <p:sldId id="270" r:id="rId7"/>
    <p:sldId id="271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73342"/>
  </p:normalViewPr>
  <p:slideViewPr>
    <p:cSldViewPr>
      <p:cViewPr varScale="1">
        <p:scale>
          <a:sx n="92" d="100"/>
          <a:sy n="92" d="100"/>
        </p:scale>
        <p:origin x="217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A5B54-1F87-9F4C-B9D1-7ECD611BB7A6}" type="datetimeFigureOut">
              <a:rPr lang="en-BD" smtClean="0"/>
              <a:t>19/8/25</a:t>
            </a:fld>
            <a:endParaRPr lang="e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F0BB5B-91D0-D748-A76E-EFB2E40502FF}" type="slidenum">
              <a:rPr lang="en-BD" smtClean="0"/>
              <a:t>‹#›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55601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parents </a:t>
            </a:r>
            <a:r>
              <a:rPr lang="bn-BD" dirty="0"/>
              <a:t>জানা থাকলে একটা </a:t>
            </a:r>
            <a:r>
              <a:rPr lang="en-GB" dirty="0"/>
              <a:t>variable </a:t>
            </a:r>
            <a:r>
              <a:rPr lang="bn-BD" dirty="0"/>
              <a:t>তার </a:t>
            </a:r>
            <a:r>
              <a:rPr lang="en-GB" dirty="0"/>
              <a:t>ancestor </a:t>
            </a:r>
            <a:r>
              <a:rPr lang="bn-BD" dirty="0"/>
              <a:t>দের উপর নির্ভর করে না।</a:t>
            </a:r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0BB5B-91D0-D748-A76E-EFB2E40502FF}" type="slidenum">
              <a:rPr lang="en-BD" smtClean="0"/>
              <a:t>2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1682669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bn-BD" dirty="0">
                <a:effectLst/>
              </a:rPr>
              <a:t>একবার </a:t>
            </a:r>
            <a:r>
              <a:rPr lang="en-GB" dirty="0">
                <a:effectLst/>
              </a:rPr>
              <a:t>y </a:t>
            </a:r>
            <a:r>
              <a:rPr lang="bn-BD" dirty="0">
                <a:effectLst/>
              </a:rPr>
              <a:t>এর </a:t>
            </a:r>
            <a:r>
              <a:rPr lang="en-GB" dirty="0">
                <a:effectLst/>
              </a:rPr>
              <a:t>value </a:t>
            </a:r>
            <a:r>
              <a:rPr lang="bn-BD" dirty="0">
                <a:effectLst/>
              </a:rPr>
              <a:t>জানা গেলে, </a:t>
            </a:r>
            <a:r>
              <a:rPr lang="en-GB" dirty="0">
                <a:effectLst/>
              </a:rPr>
              <a:t>x </a:t>
            </a:r>
            <a:r>
              <a:rPr lang="bn-BD" dirty="0">
                <a:effectLst/>
              </a:rPr>
              <a:t>এর আর কোন প্রভাব নেই </a:t>
            </a:r>
            <a:r>
              <a:rPr lang="en-GB" dirty="0">
                <a:effectLst/>
              </a:rPr>
              <a:t>z </a:t>
            </a:r>
            <a:r>
              <a:rPr lang="bn-BD" dirty="0">
                <a:effectLst/>
              </a:rPr>
              <a:t>এর উপর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bn-BD" dirty="0">
                <a:effectLst/>
              </a:rPr>
              <a:t>এটাকে বলে </a:t>
            </a:r>
            <a:r>
              <a:rPr lang="en-GB" b="1" dirty="0">
                <a:effectLst/>
              </a:rPr>
              <a:t>Conditional Independence</a:t>
            </a:r>
            <a:endParaRPr lang="en-GB" dirty="0"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bn-BD" dirty="0">
                <a:effectLst/>
              </a:rPr>
              <a:t>মানে: </a:t>
            </a:r>
            <a:r>
              <a:rPr lang="en-GB" dirty="0">
                <a:effectLst/>
              </a:rPr>
              <a:t>y </a:t>
            </a:r>
            <a:r>
              <a:rPr lang="bn-BD" dirty="0">
                <a:effectLst/>
              </a:rPr>
              <a:t>জানা থাকলে, </a:t>
            </a:r>
            <a:r>
              <a:rPr lang="en-GB" dirty="0">
                <a:effectLst/>
              </a:rPr>
              <a:t>z </a:t>
            </a:r>
            <a:r>
              <a:rPr lang="bn-BD" dirty="0">
                <a:effectLst/>
              </a:rPr>
              <a:t>শুধু </a:t>
            </a:r>
            <a:r>
              <a:rPr lang="en-GB" dirty="0">
                <a:effectLst/>
              </a:rPr>
              <a:t>y </a:t>
            </a:r>
            <a:r>
              <a:rPr lang="bn-BD" dirty="0">
                <a:effectLst/>
              </a:rPr>
              <a:t>এর উপর </a:t>
            </a:r>
            <a:r>
              <a:rPr lang="en-GB" dirty="0">
                <a:effectLst/>
              </a:rPr>
              <a:t>depend </a:t>
            </a:r>
            <a:r>
              <a:rPr lang="bn-BD" dirty="0">
                <a:effectLst/>
              </a:rPr>
              <a:t>করে, </a:t>
            </a:r>
            <a:r>
              <a:rPr lang="en-GB" dirty="0">
                <a:effectLst/>
              </a:rPr>
              <a:t>x </a:t>
            </a:r>
            <a:r>
              <a:rPr lang="bn-BD" dirty="0">
                <a:effectLst/>
              </a:rPr>
              <a:t>এর উপর না</a:t>
            </a:r>
          </a:p>
          <a:p>
            <a:pPr>
              <a:buNone/>
            </a:pPr>
            <a:r>
              <a:rPr lang="en-GB" b="1" dirty="0">
                <a:effectLst/>
              </a:rPr>
              <a:t>P(x1)=0.60 </a:t>
            </a:r>
            <a:r>
              <a:rPr lang="bn-BD" b="1" dirty="0">
                <a:effectLst/>
              </a:rPr>
              <a:t>কেন ব্যবহার হয়নি?</a:t>
            </a:r>
          </a:p>
          <a:p>
            <a:pPr>
              <a:buNone/>
            </a:pPr>
            <a:r>
              <a:rPr lang="en-GB" dirty="0">
                <a:effectLst/>
              </a:rPr>
              <a:t>P(x1) </a:t>
            </a:r>
            <a:r>
              <a:rPr lang="bn-BD" dirty="0">
                <a:effectLst/>
              </a:rPr>
              <a:t>হল </a:t>
            </a:r>
            <a:r>
              <a:rPr lang="en-GB" b="1" dirty="0">
                <a:effectLst/>
              </a:rPr>
              <a:t>prior probability</a:t>
            </a:r>
            <a:r>
              <a:rPr lang="en-GB" dirty="0">
                <a:effectLst/>
              </a:rPr>
              <a:t>। </a:t>
            </a:r>
            <a:r>
              <a:rPr lang="bn-BD" dirty="0">
                <a:effectLst/>
              </a:rPr>
              <a:t>কিন্তু এখানে আমরা </a:t>
            </a:r>
            <a:r>
              <a:rPr lang="en-GB" b="1" dirty="0">
                <a:effectLst/>
              </a:rPr>
              <a:t>conditional probability</a:t>
            </a:r>
            <a:r>
              <a:rPr lang="en-GB" dirty="0">
                <a:effectLst/>
              </a:rPr>
              <a:t> P(z1|x1) </a:t>
            </a:r>
            <a:r>
              <a:rPr lang="bn-BD" dirty="0">
                <a:effectLst/>
              </a:rPr>
              <a:t>বের করছি।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bn-BD" dirty="0">
                <a:effectLst/>
              </a:rPr>
              <a:t>এর মানে হল আমরা ইতিমধ্যে জানি যে </a:t>
            </a:r>
            <a:r>
              <a:rPr lang="en-GB" dirty="0">
                <a:effectLst/>
              </a:rPr>
              <a:t>x=1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bn-BD" dirty="0">
                <a:effectLst/>
              </a:rPr>
              <a:t>তাই </a:t>
            </a:r>
            <a:r>
              <a:rPr lang="en-GB" dirty="0">
                <a:effectLst/>
              </a:rPr>
              <a:t>P(x1) </a:t>
            </a:r>
            <a:r>
              <a:rPr lang="bn-BD" dirty="0">
                <a:effectLst/>
              </a:rPr>
              <a:t>এর আর দরকার নেই এই </a:t>
            </a:r>
            <a:r>
              <a:rPr lang="en-GB" dirty="0">
                <a:effectLst/>
              </a:rPr>
              <a:t>calculation </a:t>
            </a:r>
            <a:r>
              <a:rPr lang="bn-BD" dirty="0">
                <a:effectLst/>
              </a:rPr>
              <a:t>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P(x1) </a:t>
            </a:r>
            <a:r>
              <a:rPr lang="bn-BD" dirty="0">
                <a:effectLst/>
              </a:rPr>
              <a:t>দরকার হবে যদি আমরা </a:t>
            </a:r>
            <a:r>
              <a:rPr lang="en-GB" b="1" dirty="0">
                <a:effectLst/>
              </a:rPr>
              <a:t>joint probability</a:t>
            </a:r>
            <a:r>
              <a:rPr lang="en-GB" dirty="0">
                <a:effectLst/>
              </a:rPr>
              <a:t> P(z1,x1) </a:t>
            </a:r>
            <a:r>
              <a:rPr lang="bn-BD" dirty="0">
                <a:effectLst/>
              </a:rPr>
              <a:t>বের করতাম</a:t>
            </a:r>
          </a:p>
          <a:p>
            <a:pPr>
              <a:buNone/>
            </a:pPr>
            <a:r>
              <a:rPr lang="bn-BD" b="1" dirty="0">
                <a:effectLst/>
              </a:rPr>
              <a:t>সহজ উদাহরণ:</a:t>
            </a:r>
            <a:r>
              <a:rPr lang="bn-BD" dirty="0">
                <a:effectLst/>
              </a:rPr>
              <a:t> ধরুন আপনি জানেন আজকে বৃষ্টি হচ্ছে। এখন ছাতা নেওয়ার </a:t>
            </a:r>
            <a:r>
              <a:rPr lang="en-GB" dirty="0">
                <a:effectLst/>
              </a:rPr>
              <a:t>probability </a:t>
            </a:r>
            <a:r>
              <a:rPr lang="bn-BD" dirty="0">
                <a:effectLst/>
              </a:rPr>
              <a:t>কত? এখানে "আজকে বৃষ্টি হওয়ার </a:t>
            </a:r>
            <a:r>
              <a:rPr lang="en-GB" dirty="0">
                <a:effectLst/>
              </a:rPr>
              <a:t>probability" (prior) </a:t>
            </a:r>
            <a:r>
              <a:rPr lang="bn-BD" dirty="0">
                <a:effectLst/>
              </a:rPr>
              <a:t>আর দরকার নেই, কারণ আপনি ইতিমধ্যে জানেন বৃষ্টি হচ্ছে।</a:t>
            </a:r>
          </a:p>
          <a:p>
            <a:pPr>
              <a:buNone/>
            </a:pPr>
            <a:r>
              <a:rPr lang="bn-BD" dirty="0">
                <a:effectLst/>
              </a:rPr>
              <a:t>এভাবে বুঝতে পারলেন?</a:t>
            </a:r>
          </a:p>
          <a:p>
            <a:endParaRPr lang="en-B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F0BB5B-91D0-D748-A76E-EFB2E40502FF}" type="slidenum">
              <a:rPr lang="en-BD" smtClean="0"/>
              <a:t>19</a:t>
            </a:fld>
            <a:endParaRPr lang="en-BD"/>
          </a:p>
        </p:txBody>
      </p:sp>
    </p:spTree>
    <p:extLst>
      <p:ext uri="{BB962C8B-B14F-4D97-AF65-F5344CB8AC3E}">
        <p14:creationId xmlns:p14="http://schemas.microsoft.com/office/powerpoint/2010/main" val="269589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135381"/>
            <a:ext cx="7778318" cy="7103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57971" y="6384248"/>
            <a:ext cx="2597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87573" y="3807333"/>
            <a:ext cx="42271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F70717"/>
                </a:solidFill>
                <a:latin typeface="Calibri"/>
                <a:cs typeface="Calibri"/>
              </a:rPr>
              <a:t>Bayesian</a:t>
            </a:r>
            <a:r>
              <a:rPr sz="4400" b="1" spc="-185" dirty="0">
                <a:solidFill>
                  <a:srgbClr val="F70717"/>
                </a:solidFill>
                <a:latin typeface="Calibri"/>
                <a:cs typeface="Calibri"/>
              </a:rPr>
              <a:t> </a:t>
            </a:r>
            <a:r>
              <a:rPr sz="4400" b="1" spc="-10" dirty="0">
                <a:solidFill>
                  <a:srgbClr val="F70717"/>
                </a:solidFill>
                <a:latin typeface="Calibri"/>
                <a:cs typeface="Calibri"/>
              </a:rPr>
              <a:t>Network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4976" y="1065275"/>
            <a:ext cx="4382262" cy="43060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11971" y="6446122"/>
            <a:ext cx="2343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1</a:t>
            </a:fld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3855" y="0"/>
            <a:ext cx="9144000" cy="682082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21170" y="4562387"/>
            <a:ext cx="911225" cy="6985"/>
          </a:xfrm>
          <a:custGeom>
            <a:avLst/>
            <a:gdLst/>
            <a:ahLst/>
            <a:cxnLst/>
            <a:rect l="l" t="t" r="r" b="b"/>
            <a:pathLst>
              <a:path w="911225" h="6985">
                <a:moveTo>
                  <a:pt x="0" y="0"/>
                </a:moveTo>
                <a:lnTo>
                  <a:pt x="62160" y="0"/>
                </a:lnTo>
                <a:lnTo>
                  <a:pt x="145077" y="0"/>
                </a:lnTo>
                <a:lnTo>
                  <a:pt x="238972" y="0"/>
                </a:lnTo>
                <a:lnTo>
                  <a:pt x="364855" y="0"/>
                </a:lnTo>
                <a:lnTo>
                  <a:pt x="496083" y="2523"/>
                </a:lnTo>
                <a:lnTo>
                  <a:pt x="617568" y="5047"/>
                </a:lnTo>
                <a:lnTo>
                  <a:pt x="715680" y="5047"/>
                </a:lnTo>
                <a:lnTo>
                  <a:pt x="769987" y="5047"/>
                </a:lnTo>
                <a:lnTo>
                  <a:pt x="886930" y="5047"/>
                </a:lnTo>
                <a:lnTo>
                  <a:pt x="897616" y="5748"/>
                </a:lnTo>
                <a:lnTo>
                  <a:pt x="904748" y="6448"/>
                </a:lnTo>
                <a:lnTo>
                  <a:pt x="909728" y="6448"/>
                </a:lnTo>
                <a:lnTo>
                  <a:pt x="910742" y="6448"/>
                </a:lnTo>
                <a:lnTo>
                  <a:pt x="908702" y="6448"/>
                </a:lnTo>
              </a:path>
            </a:pathLst>
          </a:custGeom>
          <a:ln w="6758">
            <a:solidFill>
              <a:srgbClr val="FB25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11971" y="6446122"/>
            <a:ext cx="2343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2</a:t>
            </a:fld>
            <a:endParaRPr sz="1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99283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11971" y="6446122"/>
            <a:ext cx="2343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3</a:t>
            </a:fld>
            <a:endParaRPr sz="1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35763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1213" y="398206"/>
            <a:ext cx="7936459" cy="57695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11971" y="6446122"/>
            <a:ext cx="2343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4</a:t>
            </a:fld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b="11111"/>
          <a:stretch/>
        </p:blipFill>
        <p:spPr>
          <a:xfrm>
            <a:off x="3544" y="381000"/>
            <a:ext cx="9144000" cy="48768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11971" y="6446122"/>
            <a:ext cx="2343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5</a:t>
            </a:fld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6031"/>
            <a:ext cx="8991600" cy="66019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11971" y="6446122"/>
            <a:ext cx="2343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6</a:t>
            </a:fld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476" y="650433"/>
            <a:ext cx="7251058" cy="50884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411971" y="6446122"/>
            <a:ext cx="23431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z="1200" spc="-25" dirty="0">
                <a:solidFill>
                  <a:srgbClr val="888888"/>
                </a:solidFill>
                <a:latin typeface="Arial MT"/>
                <a:cs typeface="Arial MT"/>
              </a:rPr>
              <a:t>7</a:t>
            </a:fld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740" y="705739"/>
            <a:ext cx="6792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–</a:t>
            </a:r>
            <a:r>
              <a:rPr sz="2400" spc="1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graphical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way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portray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conditional</a:t>
            </a:r>
            <a:r>
              <a:rPr sz="24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1629155"/>
            <a:ext cx="2324100" cy="34000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1629155"/>
            <a:ext cx="2324100" cy="34000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63040" y="705739"/>
            <a:ext cx="6962775" cy="419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150" indent="-285750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311150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graphical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way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portray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conditional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Clr>
                <a:srgbClr val="FFFF00"/>
              </a:buClr>
              <a:buFont typeface="Arial MT"/>
              <a:buChar char="–"/>
            </a:pPr>
            <a:endParaRPr sz="2400">
              <a:latin typeface="Calibri"/>
              <a:cs typeface="Calibri"/>
            </a:endParaRPr>
          </a:p>
          <a:p>
            <a:pPr marL="3335020" marR="43180" lvl="1" indent="-285750">
              <a:lnSpc>
                <a:spcPts val="2590"/>
              </a:lnSpc>
              <a:spcBef>
                <a:spcPts val="5"/>
              </a:spcBef>
              <a:buFont typeface="Wingdings"/>
              <a:buChar char=""/>
              <a:tabLst>
                <a:tab pos="3336290" algn="l"/>
              </a:tabLst>
            </a:pP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According</a:t>
            </a:r>
            <a:r>
              <a:rPr sz="2400" spc="-6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to</a:t>
            </a:r>
            <a:r>
              <a:rPr sz="2400" spc="-7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this</a:t>
            </a:r>
            <a:r>
              <a:rPr sz="24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figure</a:t>
            </a:r>
            <a:r>
              <a:rPr sz="2400" spc="-6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00"/>
                </a:solidFill>
                <a:latin typeface="Arial MT"/>
                <a:cs typeface="Arial MT"/>
              </a:rPr>
              <a:t>we 	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have</a:t>
            </a:r>
            <a:r>
              <a:rPr sz="2400" spc="-6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that:</a:t>
            </a:r>
            <a:endParaRPr sz="2400">
              <a:latin typeface="Arial MT"/>
              <a:cs typeface="Arial MT"/>
            </a:endParaRPr>
          </a:p>
          <a:p>
            <a:pPr marL="3735070" lvl="2" indent="-227965">
              <a:lnSpc>
                <a:spcPts val="2390"/>
              </a:lnSpc>
              <a:buFont typeface="Times New Roman"/>
              <a:buChar char="•"/>
              <a:tabLst>
                <a:tab pos="3735070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sz="2400" spc="359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is</a:t>
            </a:r>
            <a:r>
              <a:rPr sz="2400" spc="-1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conditionally</a:t>
            </a:r>
            <a:endParaRPr sz="2400">
              <a:latin typeface="Arial MT"/>
              <a:cs typeface="Arial MT"/>
            </a:endParaRPr>
          </a:p>
          <a:p>
            <a:pPr marL="3735704">
              <a:lnSpc>
                <a:spcPts val="2595"/>
              </a:lnSpc>
            </a:pP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dependent</a:t>
            </a:r>
            <a:r>
              <a:rPr sz="2400" spc="-4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6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400" i="1" spc="-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spc="-3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735070" lvl="2" indent="-227965">
              <a:lnSpc>
                <a:spcPts val="2595"/>
              </a:lnSpc>
              <a:buFont typeface="Times New Roman"/>
              <a:buChar char="•"/>
              <a:tabLst>
                <a:tab pos="3735070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i="1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400" i="1" spc="262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i="1" spc="-3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  <a:p>
            <a:pPr marL="3735070" lvl="2" indent="-227965">
              <a:lnSpc>
                <a:spcPts val="2590"/>
              </a:lnSpc>
              <a:buFont typeface="Times New Roman"/>
              <a:buChar char="•"/>
              <a:tabLst>
                <a:tab pos="3735070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2400" spc="27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400" i="1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spc="-3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3735070" lvl="2" indent="-227965">
              <a:lnSpc>
                <a:spcPts val="2590"/>
              </a:lnSpc>
              <a:buFont typeface="Times New Roman"/>
              <a:buChar char="•"/>
              <a:tabLst>
                <a:tab pos="3735070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i="1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sz="2400" i="1" spc="262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spc="-3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3735704" marR="317500" lvl="2" indent="-228600" algn="just">
              <a:lnSpc>
                <a:spcPct val="90500"/>
              </a:lnSpc>
              <a:spcBef>
                <a:spcPts val="125"/>
              </a:spcBef>
              <a:buFont typeface="Times New Roman"/>
              <a:buChar char="•"/>
              <a:tabLst>
                <a:tab pos="3735704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400" spc="254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are</a:t>
            </a:r>
            <a:r>
              <a:rPr sz="2400" spc="-2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conditionally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independent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10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other variables.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975" y="1629155"/>
            <a:ext cx="2324100" cy="34000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50340" y="705739"/>
            <a:ext cx="6988175" cy="4976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323850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graphical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way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portray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conditional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Clr>
                <a:srgbClr val="FFFF00"/>
              </a:buClr>
              <a:buFont typeface="Arial MT"/>
              <a:buChar char="–"/>
            </a:pPr>
            <a:endParaRPr sz="2400">
              <a:latin typeface="Calibri"/>
              <a:cs typeface="Calibri"/>
            </a:endParaRPr>
          </a:p>
          <a:p>
            <a:pPr marL="3347720" marR="55880" lvl="1" indent="-285750">
              <a:lnSpc>
                <a:spcPts val="2590"/>
              </a:lnSpc>
              <a:spcBef>
                <a:spcPts val="5"/>
              </a:spcBef>
              <a:buFont typeface="Wingdings"/>
              <a:buChar char=""/>
              <a:tabLst>
                <a:tab pos="3348990" algn="l"/>
              </a:tabLst>
            </a:pP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According</a:t>
            </a:r>
            <a:r>
              <a:rPr sz="2400" spc="-6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to</a:t>
            </a:r>
            <a:r>
              <a:rPr sz="2400" spc="-7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this</a:t>
            </a:r>
            <a:r>
              <a:rPr sz="24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figure</a:t>
            </a:r>
            <a:r>
              <a:rPr sz="2400" spc="-6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00"/>
                </a:solidFill>
                <a:latin typeface="Arial MT"/>
                <a:cs typeface="Arial MT"/>
              </a:rPr>
              <a:t>we 	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have</a:t>
            </a:r>
            <a:r>
              <a:rPr sz="2400" spc="-6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that:</a:t>
            </a:r>
            <a:endParaRPr sz="2400">
              <a:latin typeface="Arial MT"/>
              <a:cs typeface="Arial MT"/>
            </a:endParaRPr>
          </a:p>
          <a:p>
            <a:pPr marL="3747770" lvl="2" indent="-227965">
              <a:lnSpc>
                <a:spcPts val="2390"/>
              </a:lnSpc>
              <a:buFont typeface="Times New Roman"/>
              <a:buChar char="•"/>
              <a:tabLst>
                <a:tab pos="3747770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r>
              <a:rPr sz="2400" spc="359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is</a:t>
            </a:r>
            <a:r>
              <a:rPr sz="2400" spc="-1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conditionally</a:t>
            </a:r>
            <a:endParaRPr sz="2400">
              <a:latin typeface="Arial MT"/>
              <a:cs typeface="Arial MT"/>
            </a:endParaRPr>
          </a:p>
          <a:p>
            <a:pPr marL="3748404">
              <a:lnSpc>
                <a:spcPts val="2595"/>
              </a:lnSpc>
            </a:pP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dependent</a:t>
            </a:r>
            <a:r>
              <a:rPr sz="2400" spc="-4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6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400" i="1" spc="-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spc="-3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endParaRPr sz="2400">
              <a:latin typeface="Times New Roman"/>
              <a:cs typeface="Times New Roman"/>
            </a:endParaRPr>
          </a:p>
          <a:p>
            <a:pPr marL="3747770" lvl="2" indent="-227965">
              <a:lnSpc>
                <a:spcPts val="2595"/>
              </a:lnSpc>
              <a:buFont typeface="Times New Roman"/>
              <a:buChar char="•"/>
              <a:tabLst>
                <a:tab pos="3747770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i="1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r>
              <a:rPr sz="2400" i="1" spc="262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i="1" spc="-3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400" baseline="-20833">
              <a:latin typeface="Times New Roman"/>
              <a:cs typeface="Times New Roman"/>
            </a:endParaRPr>
          </a:p>
          <a:p>
            <a:pPr marL="3747770" lvl="2" indent="-227965">
              <a:lnSpc>
                <a:spcPts val="2590"/>
              </a:lnSpc>
              <a:buFont typeface="Times New Roman"/>
              <a:buChar char="•"/>
              <a:tabLst>
                <a:tab pos="3747770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sz="2400" spc="27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7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400" i="1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spc="-3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3747770" lvl="2" indent="-227965">
              <a:lnSpc>
                <a:spcPts val="2590"/>
              </a:lnSpc>
              <a:buFont typeface="Times New Roman"/>
              <a:buChar char="•"/>
              <a:tabLst>
                <a:tab pos="3747770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i="1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sz="2400" i="1" spc="262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8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spc="-37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400" baseline="-20833">
              <a:latin typeface="Times New Roman"/>
              <a:cs typeface="Times New Roman"/>
            </a:endParaRPr>
          </a:p>
          <a:p>
            <a:pPr marL="3748404" marR="330200" lvl="2" indent="-228600" algn="just">
              <a:lnSpc>
                <a:spcPct val="90500"/>
              </a:lnSpc>
              <a:spcBef>
                <a:spcPts val="125"/>
              </a:spcBef>
              <a:buFont typeface="Times New Roman"/>
              <a:buChar char="•"/>
              <a:tabLst>
                <a:tab pos="3748404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sz="2400" spc="254" baseline="-20833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are</a:t>
            </a:r>
            <a:r>
              <a:rPr sz="2400" spc="-2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conditionally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independent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on</a:t>
            </a:r>
            <a:r>
              <a:rPr sz="2400" spc="-10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other variables.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400">
              <a:latin typeface="Arial MT"/>
              <a:cs typeface="Arial MT"/>
            </a:endParaRPr>
          </a:p>
          <a:p>
            <a:pPr marL="324485" indent="-286385">
              <a:lnSpc>
                <a:spcPct val="100000"/>
              </a:lnSpc>
              <a:buFont typeface="Wingdings"/>
              <a:buChar char=""/>
              <a:tabLst>
                <a:tab pos="324485" algn="l"/>
              </a:tabLst>
            </a:pP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For</a:t>
            </a:r>
            <a:r>
              <a:rPr sz="2400" spc="-3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this</a:t>
            </a:r>
            <a:r>
              <a:rPr sz="2400" spc="-2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case: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5567" y="5820155"/>
            <a:ext cx="7740650" cy="504825"/>
          </a:xfrm>
          <a:custGeom>
            <a:avLst/>
            <a:gdLst/>
            <a:ahLst/>
            <a:cxnLst/>
            <a:rect l="l" t="t" r="r" b="b"/>
            <a:pathLst>
              <a:path w="7740650" h="504825">
                <a:moveTo>
                  <a:pt x="7740396" y="0"/>
                </a:moveTo>
                <a:lnTo>
                  <a:pt x="0" y="0"/>
                </a:lnTo>
                <a:lnTo>
                  <a:pt x="0" y="504444"/>
                </a:lnTo>
                <a:lnTo>
                  <a:pt x="7740396" y="504444"/>
                </a:lnTo>
                <a:lnTo>
                  <a:pt x="77403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5567" y="5820155"/>
            <a:ext cx="7740650" cy="504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3185">
              <a:lnSpc>
                <a:spcPts val="3225"/>
              </a:lnSpc>
            </a:pPr>
            <a:r>
              <a:rPr sz="2700" i="1" spc="-75" dirty="0">
                <a:latin typeface="Times New Roman"/>
                <a:cs typeface="Times New Roman"/>
              </a:rPr>
              <a:t>p</a:t>
            </a:r>
            <a:r>
              <a:rPr sz="2700" spc="-75" dirty="0">
                <a:latin typeface="Times New Roman"/>
                <a:cs typeface="Times New Roman"/>
              </a:rPr>
              <a:t>(</a:t>
            </a:r>
            <a:r>
              <a:rPr sz="2700" i="1" spc="-75" dirty="0">
                <a:latin typeface="Times New Roman"/>
                <a:cs typeface="Times New Roman"/>
              </a:rPr>
              <a:t>x</a:t>
            </a:r>
            <a:r>
              <a:rPr sz="2325" spc="-112" baseline="-23297" dirty="0">
                <a:latin typeface="Times New Roman"/>
                <a:cs typeface="Times New Roman"/>
              </a:rPr>
              <a:t>1</a:t>
            </a:r>
            <a:r>
              <a:rPr sz="2700" spc="-75" dirty="0">
                <a:latin typeface="Times New Roman"/>
                <a:cs typeface="Times New Roman"/>
              </a:rPr>
              <a:t>,</a:t>
            </a:r>
            <a:r>
              <a:rPr sz="2700" spc="-305" dirty="0">
                <a:latin typeface="Times New Roman"/>
                <a:cs typeface="Times New Roman"/>
              </a:rPr>
              <a:t> </a:t>
            </a:r>
            <a:r>
              <a:rPr sz="2700" i="1" spc="-95" dirty="0">
                <a:latin typeface="Times New Roman"/>
                <a:cs typeface="Times New Roman"/>
              </a:rPr>
              <a:t>x</a:t>
            </a:r>
            <a:r>
              <a:rPr sz="2325" spc="-142" baseline="-23297" dirty="0">
                <a:latin typeface="Times New Roman"/>
                <a:cs typeface="Times New Roman"/>
              </a:rPr>
              <a:t>2</a:t>
            </a:r>
            <a:r>
              <a:rPr sz="2325" spc="-300" baseline="-23297" dirty="0">
                <a:latin typeface="Times New Roman"/>
                <a:cs typeface="Times New Roman"/>
              </a:rPr>
              <a:t> </a:t>
            </a:r>
            <a:r>
              <a:rPr sz="2700" spc="-80" dirty="0">
                <a:latin typeface="Times New Roman"/>
                <a:cs typeface="Times New Roman"/>
              </a:rPr>
              <a:t>,...,</a:t>
            </a:r>
            <a:r>
              <a:rPr sz="2700" spc="-345" dirty="0">
                <a:latin typeface="Times New Roman"/>
                <a:cs typeface="Times New Roman"/>
              </a:rPr>
              <a:t> </a:t>
            </a:r>
            <a:r>
              <a:rPr sz="2700" i="1" spc="-110" dirty="0">
                <a:latin typeface="Times New Roman"/>
                <a:cs typeface="Times New Roman"/>
              </a:rPr>
              <a:t>x</a:t>
            </a:r>
            <a:r>
              <a:rPr sz="2325" spc="-165" baseline="-23297" dirty="0">
                <a:latin typeface="Times New Roman"/>
                <a:cs typeface="Times New Roman"/>
              </a:rPr>
              <a:t>6</a:t>
            </a:r>
            <a:r>
              <a:rPr sz="2325" spc="-240" baseline="-23297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imes New Roman"/>
                <a:cs typeface="Times New Roman"/>
              </a:rPr>
              <a:t>)</a:t>
            </a:r>
            <a:r>
              <a:rPr sz="2700" spc="-1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170" dirty="0">
                <a:latin typeface="Times New Roman"/>
                <a:cs typeface="Times New Roman"/>
              </a:rPr>
              <a:t> </a:t>
            </a:r>
            <a:r>
              <a:rPr sz="2700" i="1" spc="-10" dirty="0">
                <a:latin typeface="Times New Roman"/>
                <a:cs typeface="Times New Roman"/>
              </a:rPr>
              <a:t>p</a:t>
            </a:r>
            <a:r>
              <a:rPr sz="2700" spc="-10" dirty="0">
                <a:latin typeface="Times New Roman"/>
                <a:cs typeface="Times New Roman"/>
              </a:rPr>
              <a:t>(</a:t>
            </a:r>
            <a:r>
              <a:rPr sz="2700" i="1" spc="-10" dirty="0">
                <a:latin typeface="Times New Roman"/>
                <a:cs typeface="Times New Roman"/>
              </a:rPr>
              <a:t>x</a:t>
            </a:r>
            <a:r>
              <a:rPr sz="2325" spc="-15" baseline="-23297" dirty="0">
                <a:latin typeface="Times New Roman"/>
                <a:cs typeface="Times New Roman"/>
              </a:rPr>
              <a:t>6</a:t>
            </a:r>
            <a:r>
              <a:rPr sz="2325" spc="135" baseline="-23297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imes New Roman"/>
                <a:cs typeface="Times New Roman"/>
              </a:rPr>
              <a:t>|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i="1" spc="-120" dirty="0">
                <a:latin typeface="Times New Roman"/>
                <a:cs typeface="Times New Roman"/>
              </a:rPr>
              <a:t>x</a:t>
            </a:r>
            <a:r>
              <a:rPr sz="2325" spc="-179" baseline="-23297" dirty="0">
                <a:latin typeface="Times New Roman"/>
                <a:cs typeface="Times New Roman"/>
              </a:rPr>
              <a:t>5</a:t>
            </a:r>
            <a:r>
              <a:rPr sz="2325" spc="-337" baseline="-23297" dirty="0">
                <a:latin typeface="Times New Roman"/>
                <a:cs typeface="Times New Roman"/>
              </a:rPr>
              <a:t> </a:t>
            </a:r>
            <a:r>
              <a:rPr sz="2700" spc="-55" dirty="0">
                <a:latin typeface="Times New Roman"/>
                <a:cs typeface="Times New Roman"/>
              </a:rPr>
              <a:t>,</a:t>
            </a:r>
            <a:r>
              <a:rPr sz="2700" spc="-300" dirty="0">
                <a:latin typeface="Times New Roman"/>
                <a:cs typeface="Times New Roman"/>
              </a:rPr>
              <a:t> </a:t>
            </a:r>
            <a:r>
              <a:rPr sz="2700" i="1" spc="-100" dirty="0">
                <a:latin typeface="Times New Roman"/>
                <a:cs typeface="Times New Roman"/>
              </a:rPr>
              <a:t>x</a:t>
            </a:r>
            <a:r>
              <a:rPr sz="2325" spc="-150" baseline="-23297" dirty="0">
                <a:latin typeface="Times New Roman"/>
                <a:cs typeface="Times New Roman"/>
              </a:rPr>
              <a:t>4</a:t>
            </a:r>
            <a:r>
              <a:rPr sz="2325" spc="-240" baseline="-23297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imes New Roman"/>
                <a:cs typeface="Times New Roman"/>
              </a:rPr>
              <a:t>)</a:t>
            </a:r>
            <a:r>
              <a:rPr sz="2700" spc="-4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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i="1" spc="-20" dirty="0">
                <a:latin typeface="Times New Roman"/>
                <a:cs typeface="Times New Roman"/>
              </a:rPr>
              <a:t>p</a:t>
            </a:r>
            <a:r>
              <a:rPr sz="2700" spc="-20" dirty="0">
                <a:latin typeface="Times New Roman"/>
                <a:cs typeface="Times New Roman"/>
              </a:rPr>
              <a:t>(</a:t>
            </a:r>
            <a:r>
              <a:rPr sz="2700" i="1" spc="-20" dirty="0">
                <a:latin typeface="Times New Roman"/>
                <a:cs typeface="Times New Roman"/>
              </a:rPr>
              <a:t>x</a:t>
            </a:r>
            <a:r>
              <a:rPr sz="2325" spc="-30" baseline="-23297" dirty="0">
                <a:latin typeface="Times New Roman"/>
                <a:cs typeface="Times New Roman"/>
              </a:rPr>
              <a:t>5</a:t>
            </a:r>
            <a:r>
              <a:rPr sz="2325" spc="232" baseline="-23297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imes New Roman"/>
                <a:cs typeface="Times New Roman"/>
              </a:rPr>
              <a:t>|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i="1" spc="-95" dirty="0">
                <a:latin typeface="Times New Roman"/>
                <a:cs typeface="Times New Roman"/>
              </a:rPr>
              <a:t>x</a:t>
            </a:r>
            <a:r>
              <a:rPr sz="2325" spc="-142" baseline="-23297" dirty="0">
                <a:latin typeface="Times New Roman"/>
                <a:cs typeface="Times New Roman"/>
              </a:rPr>
              <a:t>4</a:t>
            </a:r>
            <a:r>
              <a:rPr sz="2325" spc="-247" baseline="-23297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imes New Roman"/>
                <a:cs typeface="Times New Roman"/>
              </a:rPr>
              <a:t>)</a:t>
            </a:r>
            <a:r>
              <a:rPr sz="2700" spc="-43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</a:t>
            </a:r>
            <a:r>
              <a:rPr sz="2700" spc="-150" dirty="0">
                <a:latin typeface="Times New Roman"/>
                <a:cs typeface="Times New Roman"/>
              </a:rPr>
              <a:t> </a:t>
            </a:r>
            <a:r>
              <a:rPr sz="2700" i="1" spc="-20" dirty="0">
                <a:latin typeface="Times New Roman"/>
                <a:cs typeface="Times New Roman"/>
              </a:rPr>
              <a:t>p</a:t>
            </a:r>
            <a:r>
              <a:rPr sz="2700" spc="-20" dirty="0">
                <a:latin typeface="Times New Roman"/>
                <a:cs typeface="Times New Roman"/>
              </a:rPr>
              <a:t>(</a:t>
            </a:r>
            <a:r>
              <a:rPr sz="2700" i="1" spc="-20" dirty="0">
                <a:latin typeface="Times New Roman"/>
                <a:cs typeface="Times New Roman"/>
              </a:rPr>
              <a:t>x</a:t>
            </a:r>
            <a:r>
              <a:rPr sz="2325" spc="-30" baseline="-23297" dirty="0">
                <a:latin typeface="Times New Roman"/>
                <a:cs typeface="Times New Roman"/>
              </a:rPr>
              <a:t>3</a:t>
            </a:r>
            <a:r>
              <a:rPr sz="2325" spc="202" baseline="-23297" dirty="0">
                <a:latin typeface="Times New Roman"/>
                <a:cs typeface="Times New Roman"/>
              </a:rPr>
              <a:t> </a:t>
            </a:r>
            <a:r>
              <a:rPr sz="2700" spc="-40" dirty="0">
                <a:latin typeface="Times New Roman"/>
                <a:cs typeface="Times New Roman"/>
              </a:rPr>
              <a:t>|</a:t>
            </a:r>
            <a:r>
              <a:rPr sz="2700" spc="-140" dirty="0">
                <a:latin typeface="Times New Roman"/>
                <a:cs typeface="Times New Roman"/>
              </a:rPr>
              <a:t> </a:t>
            </a:r>
            <a:r>
              <a:rPr sz="2700" i="1" spc="-100" dirty="0">
                <a:latin typeface="Times New Roman"/>
                <a:cs typeface="Times New Roman"/>
              </a:rPr>
              <a:t>x</a:t>
            </a:r>
            <a:r>
              <a:rPr sz="2325" spc="-150" baseline="-23297" dirty="0">
                <a:latin typeface="Times New Roman"/>
                <a:cs typeface="Times New Roman"/>
              </a:rPr>
              <a:t>2</a:t>
            </a:r>
            <a:r>
              <a:rPr sz="2325" spc="-240" baseline="-23297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imes New Roman"/>
                <a:cs typeface="Times New Roman"/>
              </a:rPr>
              <a:t>)</a:t>
            </a:r>
            <a:r>
              <a:rPr sz="2700" spc="-43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</a:t>
            </a:r>
            <a:r>
              <a:rPr sz="2700" spc="-145" dirty="0">
                <a:latin typeface="Times New Roman"/>
                <a:cs typeface="Times New Roman"/>
              </a:rPr>
              <a:t> </a:t>
            </a:r>
            <a:r>
              <a:rPr sz="2700" i="1" spc="-60" dirty="0">
                <a:latin typeface="Times New Roman"/>
                <a:cs typeface="Times New Roman"/>
              </a:rPr>
              <a:t>p</a:t>
            </a:r>
            <a:r>
              <a:rPr sz="2700" spc="-60" dirty="0">
                <a:latin typeface="Times New Roman"/>
                <a:cs typeface="Times New Roman"/>
              </a:rPr>
              <a:t>(</a:t>
            </a:r>
            <a:r>
              <a:rPr sz="2700" i="1" spc="-60" dirty="0">
                <a:latin typeface="Times New Roman"/>
                <a:cs typeface="Times New Roman"/>
              </a:rPr>
              <a:t>x</a:t>
            </a:r>
            <a:r>
              <a:rPr sz="2325" spc="-89" baseline="-23297" dirty="0">
                <a:latin typeface="Times New Roman"/>
                <a:cs typeface="Times New Roman"/>
              </a:rPr>
              <a:t>2</a:t>
            </a:r>
            <a:r>
              <a:rPr sz="2325" spc="-240" baseline="-23297" dirty="0">
                <a:latin typeface="Times New Roman"/>
                <a:cs typeface="Times New Roman"/>
              </a:rPr>
              <a:t> </a:t>
            </a:r>
            <a:r>
              <a:rPr sz="2700" spc="-70" dirty="0">
                <a:latin typeface="Times New Roman"/>
                <a:cs typeface="Times New Roman"/>
              </a:rPr>
              <a:t>)</a:t>
            </a:r>
            <a:r>
              <a:rPr sz="2700" spc="-43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</a:t>
            </a:r>
            <a:r>
              <a:rPr sz="2700" spc="-145" dirty="0">
                <a:latin typeface="Times New Roman"/>
                <a:cs typeface="Times New Roman"/>
              </a:rPr>
              <a:t> </a:t>
            </a:r>
            <a:r>
              <a:rPr sz="2700" i="1" spc="-10" dirty="0">
                <a:latin typeface="Times New Roman"/>
                <a:cs typeface="Times New Roman"/>
              </a:rPr>
              <a:t>p</a:t>
            </a:r>
            <a:r>
              <a:rPr sz="2700" spc="-10" dirty="0">
                <a:latin typeface="Times New Roman"/>
                <a:cs typeface="Times New Roman"/>
              </a:rPr>
              <a:t>(</a:t>
            </a:r>
            <a:r>
              <a:rPr sz="2700" i="1" spc="-10" dirty="0">
                <a:latin typeface="Times New Roman"/>
                <a:cs typeface="Times New Roman"/>
              </a:rPr>
              <a:t>x</a:t>
            </a:r>
            <a:r>
              <a:rPr sz="2325" spc="-15" baseline="-23297" dirty="0">
                <a:latin typeface="Times New Roman"/>
                <a:cs typeface="Times New Roman"/>
              </a:rPr>
              <a:t>1</a:t>
            </a:r>
            <a:r>
              <a:rPr sz="2700" spc="-10" dirty="0">
                <a:latin typeface="Times New Roman"/>
                <a:cs typeface="Times New Roman"/>
              </a:rPr>
              <a:t>)</a:t>
            </a:r>
            <a:endParaRPr sz="27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85853" y="6219415"/>
            <a:ext cx="101219" cy="774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64997" y="5480136"/>
            <a:ext cx="121585" cy="23874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36404" y="5515505"/>
            <a:ext cx="108029" cy="19667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51606" y="5467073"/>
            <a:ext cx="196115" cy="18151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50483" y="5572622"/>
            <a:ext cx="111961" cy="126375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507166" y="5384005"/>
            <a:ext cx="2540" cy="248285"/>
          </a:xfrm>
          <a:custGeom>
            <a:avLst/>
            <a:gdLst/>
            <a:ahLst/>
            <a:cxnLst/>
            <a:rect l="l" t="t" r="r" b="b"/>
            <a:pathLst>
              <a:path w="2540" h="248285">
                <a:moveTo>
                  <a:pt x="2520" y="0"/>
                </a:moveTo>
                <a:lnTo>
                  <a:pt x="2520" y="2833"/>
                </a:lnTo>
                <a:lnTo>
                  <a:pt x="2520" y="8512"/>
                </a:lnTo>
                <a:lnTo>
                  <a:pt x="2520" y="11345"/>
                </a:lnTo>
                <a:lnTo>
                  <a:pt x="1675" y="17013"/>
                </a:lnTo>
                <a:lnTo>
                  <a:pt x="1675" y="222625"/>
                </a:lnTo>
                <a:lnTo>
                  <a:pt x="0" y="228298"/>
                </a:lnTo>
                <a:lnTo>
                  <a:pt x="0" y="233971"/>
                </a:lnTo>
                <a:lnTo>
                  <a:pt x="0" y="236807"/>
                </a:lnTo>
                <a:lnTo>
                  <a:pt x="0" y="239644"/>
                </a:lnTo>
                <a:lnTo>
                  <a:pt x="0" y="242480"/>
                </a:lnTo>
                <a:lnTo>
                  <a:pt x="0" y="248153"/>
                </a:lnTo>
              </a:path>
            </a:pathLst>
          </a:custGeom>
          <a:ln w="6841">
            <a:solidFill>
              <a:srgbClr val="FB251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6990062" y="5244333"/>
            <a:ext cx="325755" cy="459105"/>
            <a:chOff x="6990062" y="5244333"/>
            <a:chExt cx="325755" cy="459105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990062" y="5385745"/>
              <a:ext cx="143900" cy="14702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1016" y="5477304"/>
              <a:ext cx="74712" cy="12248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192731" y="5255105"/>
              <a:ext cx="112395" cy="437515"/>
            </a:xfrm>
            <a:custGeom>
              <a:avLst/>
              <a:gdLst/>
              <a:ahLst/>
              <a:cxnLst/>
              <a:rect l="l" t="t" r="r" b="b"/>
              <a:pathLst>
                <a:path w="112395" h="437514">
                  <a:moveTo>
                    <a:pt x="0" y="0"/>
                  </a:moveTo>
                  <a:lnTo>
                    <a:pt x="2602" y="2937"/>
                  </a:lnTo>
                  <a:lnTo>
                    <a:pt x="5205" y="5874"/>
                  </a:lnTo>
                  <a:lnTo>
                    <a:pt x="10410" y="8823"/>
                  </a:lnTo>
                  <a:lnTo>
                    <a:pt x="13023" y="11760"/>
                  </a:lnTo>
                  <a:lnTo>
                    <a:pt x="13023" y="14697"/>
                  </a:lnTo>
                  <a:lnTo>
                    <a:pt x="18228" y="20583"/>
                  </a:lnTo>
                  <a:lnTo>
                    <a:pt x="20830" y="23520"/>
                  </a:lnTo>
                  <a:lnTo>
                    <a:pt x="23443" y="29394"/>
                  </a:lnTo>
                  <a:lnTo>
                    <a:pt x="41672" y="49977"/>
                  </a:lnTo>
                  <a:lnTo>
                    <a:pt x="46887" y="55863"/>
                  </a:lnTo>
                  <a:lnTo>
                    <a:pt x="52092" y="61737"/>
                  </a:lnTo>
                  <a:lnTo>
                    <a:pt x="57308" y="67623"/>
                  </a:lnTo>
                  <a:lnTo>
                    <a:pt x="59911" y="67623"/>
                  </a:lnTo>
                  <a:lnTo>
                    <a:pt x="62513" y="70560"/>
                  </a:lnTo>
                  <a:lnTo>
                    <a:pt x="80752" y="91131"/>
                  </a:lnTo>
                  <a:lnTo>
                    <a:pt x="80752" y="97017"/>
                  </a:lnTo>
                  <a:lnTo>
                    <a:pt x="83355" y="99954"/>
                  </a:lnTo>
                  <a:lnTo>
                    <a:pt x="85957" y="102891"/>
                  </a:lnTo>
                  <a:lnTo>
                    <a:pt x="91173" y="108777"/>
                  </a:lnTo>
                  <a:lnTo>
                    <a:pt x="93775" y="111714"/>
                  </a:lnTo>
                  <a:lnTo>
                    <a:pt x="96378" y="114651"/>
                  </a:lnTo>
                  <a:lnTo>
                    <a:pt x="100218" y="127627"/>
                  </a:lnTo>
                  <a:lnTo>
                    <a:pt x="102820" y="133513"/>
                  </a:lnTo>
                  <a:lnTo>
                    <a:pt x="105423" y="136450"/>
                  </a:lnTo>
                  <a:lnTo>
                    <a:pt x="109252" y="149426"/>
                  </a:lnTo>
                  <a:lnTo>
                    <a:pt x="109252" y="152363"/>
                  </a:lnTo>
                  <a:lnTo>
                    <a:pt x="109252" y="155300"/>
                  </a:lnTo>
                  <a:lnTo>
                    <a:pt x="111865" y="161186"/>
                  </a:lnTo>
                  <a:lnTo>
                    <a:pt x="111865" y="292460"/>
                  </a:lnTo>
                  <a:lnTo>
                    <a:pt x="106628" y="298346"/>
                  </a:lnTo>
                  <a:lnTo>
                    <a:pt x="106628" y="301283"/>
                  </a:lnTo>
                  <a:lnTo>
                    <a:pt x="106628" y="304220"/>
                  </a:lnTo>
                  <a:lnTo>
                    <a:pt x="106628" y="307157"/>
                  </a:lnTo>
                  <a:lnTo>
                    <a:pt x="103993" y="313043"/>
                  </a:lnTo>
                  <a:lnTo>
                    <a:pt x="103993" y="318917"/>
                  </a:lnTo>
                  <a:lnTo>
                    <a:pt x="101370" y="321866"/>
                  </a:lnTo>
                  <a:lnTo>
                    <a:pt x="101370" y="327740"/>
                  </a:lnTo>
                  <a:lnTo>
                    <a:pt x="101370" y="330680"/>
                  </a:lnTo>
                  <a:lnTo>
                    <a:pt x="98735" y="333620"/>
                  </a:lnTo>
                  <a:lnTo>
                    <a:pt x="93498" y="339499"/>
                  </a:lnTo>
                  <a:lnTo>
                    <a:pt x="90874" y="342440"/>
                  </a:lnTo>
                  <a:lnTo>
                    <a:pt x="88240" y="348320"/>
                  </a:lnTo>
                  <a:lnTo>
                    <a:pt x="85616" y="351259"/>
                  </a:lnTo>
                  <a:lnTo>
                    <a:pt x="79526" y="378707"/>
                  </a:lnTo>
                  <a:lnTo>
                    <a:pt x="76891" y="381647"/>
                  </a:lnTo>
                  <a:lnTo>
                    <a:pt x="69201" y="394622"/>
                  </a:lnTo>
                  <a:lnTo>
                    <a:pt x="66577" y="397563"/>
                  </a:lnTo>
                  <a:lnTo>
                    <a:pt x="63942" y="403441"/>
                  </a:lnTo>
                  <a:lnTo>
                    <a:pt x="58705" y="409321"/>
                  </a:lnTo>
                  <a:lnTo>
                    <a:pt x="56082" y="412262"/>
                  </a:lnTo>
                  <a:lnTo>
                    <a:pt x="53447" y="415201"/>
                  </a:lnTo>
                  <a:lnTo>
                    <a:pt x="49586" y="428176"/>
                  </a:lnTo>
                  <a:lnTo>
                    <a:pt x="44360" y="431117"/>
                  </a:lnTo>
                  <a:lnTo>
                    <a:pt x="41725" y="434056"/>
                  </a:lnTo>
                  <a:lnTo>
                    <a:pt x="39091" y="436997"/>
                  </a:lnTo>
                  <a:lnTo>
                    <a:pt x="36467" y="436997"/>
                  </a:lnTo>
                </a:path>
              </a:pathLst>
            </a:custGeom>
            <a:ln w="21500">
              <a:solidFill>
                <a:srgbClr val="FB25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6584781" y="5449375"/>
            <a:ext cx="328295" cy="172720"/>
            <a:chOff x="6584781" y="5449375"/>
            <a:chExt cx="328295" cy="172720"/>
          </a:xfrm>
        </p:grpSpPr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84781" y="5449375"/>
              <a:ext cx="193059" cy="9817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820419" y="5515030"/>
              <a:ext cx="635" cy="38735"/>
            </a:xfrm>
            <a:custGeom>
              <a:avLst/>
              <a:gdLst/>
              <a:ahLst/>
              <a:cxnLst/>
              <a:rect l="l" t="t" r="r" b="b"/>
              <a:pathLst>
                <a:path w="634" h="38735">
                  <a:moveTo>
                    <a:pt x="344" y="0"/>
                  </a:moveTo>
                  <a:lnTo>
                    <a:pt x="344" y="2138"/>
                  </a:lnTo>
                  <a:lnTo>
                    <a:pt x="344" y="27724"/>
                  </a:lnTo>
                  <a:lnTo>
                    <a:pt x="0" y="31984"/>
                  </a:lnTo>
                  <a:lnTo>
                    <a:pt x="0" y="34114"/>
                  </a:lnTo>
                  <a:lnTo>
                    <a:pt x="0" y="36253"/>
                  </a:lnTo>
                  <a:lnTo>
                    <a:pt x="0" y="38383"/>
                  </a:lnTo>
                </a:path>
              </a:pathLst>
            </a:custGeom>
            <a:ln w="3175">
              <a:solidFill>
                <a:srgbClr val="FB25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892077" y="5527489"/>
              <a:ext cx="6350" cy="44450"/>
            </a:xfrm>
            <a:custGeom>
              <a:avLst/>
              <a:gdLst/>
              <a:ahLst/>
              <a:cxnLst/>
              <a:rect l="l" t="t" r="r" b="b"/>
              <a:pathLst>
                <a:path w="6350" h="44450">
                  <a:moveTo>
                    <a:pt x="0" y="0"/>
                  </a:moveTo>
                  <a:lnTo>
                    <a:pt x="2355" y="0"/>
                  </a:lnTo>
                  <a:lnTo>
                    <a:pt x="3530" y="0"/>
                  </a:lnTo>
                  <a:lnTo>
                    <a:pt x="4705" y="0"/>
                  </a:lnTo>
                  <a:lnTo>
                    <a:pt x="5885" y="2198"/>
                  </a:lnTo>
                  <a:lnTo>
                    <a:pt x="5885" y="41805"/>
                  </a:lnTo>
                  <a:lnTo>
                    <a:pt x="4696" y="44003"/>
                  </a:lnTo>
                </a:path>
              </a:pathLst>
            </a:custGeom>
            <a:ln w="9780">
              <a:solidFill>
                <a:srgbClr val="FB25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859831" y="5542636"/>
              <a:ext cx="43815" cy="69850"/>
            </a:xfrm>
            <a:custGeom>
              <a:avLst/>
              <a:gdLst/>
              <a:ahLst/>
              <a:cxnLst/>
              <a:rect l="l" t="t" r="r" b="b"/>
              <a:pathLst>
                <a:path w="43815" h="69850">
                  <a:moveTo>
                    <a:pt x="23774" y="0"/>
                  </a:moveTo>
                  <a:lnTo>
                    <a:pt x="24421" y="0"/>
                  </a:lnTo>
                  <a:lnTo>
                    <a:pt x="42995" y="0"/>
                  </a:lnTo>
                  <a:lnTo>
                    <a:pt x="43390" y="356"/>
                  </a:lnTo>
                  <a:lnTo>
                    <a:pt x="43390" y="1187"/>
                  </a:lnTo>
                  <a:lnTo>
                    <a:pt x="43390" y="2186"/>
                  </a:lnTo>
                  <a:lnTo>
                    <a:pt x="43390" y="3324"/>
                  </a:lnTo>
                  <a:lnTo>
                    <a:pt x="42896" y="4472"/>
                  </a:lnTo>
                  <a:lnTo>
                    <a:pt x="41908" y="5540"/>
                  </a:lnTo>
                  <a:lnTo>
                    <a:pt x="41028" y="6500"/>
                  </a:lnTo>
                  <a:lnTo>
                    <a:pt x="40641" y="7222"/>
                  </a:lnTo>
                  <a:lnTo>
                    <a:pt x="40201" y="8162"/>
                  </a:lnTo>
                  <a:lnTo>
                    <a:pt x="39285" y="9339"/>
                  </a:lnTo>
                  <a:lnTo>
                    <a:pt x="38719" y="10467"/>
                  </a:lnTo>
                  <a:lnTo>
                    <a:pt x="38549" y="11635"/>
                  </a:lnTo>
                  <a:lnTo>
                    <a:pt x="38046" y="12773"/>
                  </a:lnTo>
                  <a:lnTo>
                    <a:pt x="37552" y="13911"/>
                  </a:lnTo>
                  <a:lnTo>
                    <a:pt x="37022" y="15048"/>
                  </a:lnTo>
                  <a:lnTo>
                    <a:pt x="36097" y="16097"/>
                  </a:lnTo>
                  <a:lnTo>
                    <a:pt x="35172" y="17116"/>
                  </a:lnTo>
                  <a:lnTo>
                    <a:pt x="34678" y="18185"/>
                  </a:lnTo>
                  <a:lnTo>
                    <a:pt x="34381" y="18719"/>
                  </a:lnTo>
                  <a:lnTo>
                    <a:pt x="33654" y="19085"/>
                  </a:lnTo>
                  <a:lnTo>
                    <a:pt x="32720" y="19926"/>
                  </a:lnTo>
                  <a:lnTo>
                    <a:pt x="31660" y="20975"/>
                  </a:lnTo>
                  <a:lnTo>
                    <a:pt x="30636" y="21578"/>
                  </a:lnTo>
                  <a:lnTo>
                    <a:pt x="29675" y="21667"/>
                  </a:lnTo>
                  <a:lnTo>
                    <a:pt x="29091" y="22192"/>
                  </a:lnTo>
                  <a:lnTo>
                    <a:pt x="28516" y="22706"/>
                  </a:lnTo>
                  <a:lnTo>
                    <a:pt x="27986" y="23280"/>
                  </a:lnTo>
                  <a:lnTo>
                    <a:pt x="27447" y="23834"/>
                  </a:lnTo>
                  <a:lnTo>
                    <a:pt x="26944" y="24388"/>
                  </a:lnTo>
                  <a:lnTo>
                    <a:pt x="26944" y="25467"/>
                  </a:lnTo>
                  <a:lnTo>
                    <a:pt x="26648" y="25991"/>
                  </a:lnTo>
                  <a:lnTo>
                    <a:pt x="26190" y="26367"/>
                  </a:lnTo>
                  <a:lnTo>
                    <a:pt x="25633" y="27169"/>
                  </a:lnTo>
                  <a:lnTo>
                    <a:pt x="24852" y="28029"/>
                  </a:lnTo>
                  <a:lnTo>
                    <a:pt x="24052" y="28910"/>
                  </a:lnTo>
                  <a:lnTo>
                    <a:pt x="23639" y="29850"/>
                  </a:lnTo>
                  <a:lnTo>
                    <a:pt x="23280" y="30335"/>
                  </a:lnTo>
                  <a:lnTo>
                    <a:pt x="22912" y="30780"/>
                  </a:lnTo>
                  <a:lnTo>
                    <a:pt x="22481" y="31324"/>
                  </a:lnTo>
                  <a:lnTo>
                    <a:pt x="21672" y="31839"/>
                  </a:lnTo>
                  <a:lnTo>
                    <a:pt x="20855" y="32274"/>
                  </a:lnTo>
                  <a:lnTo>
                    <a:pt x="20020" y="32274"/>
                  </a:lnTo>
                  <a:lnTo>
                    <a:pt x="19588" y="32818"/>
                  </a:lnTo>
                  <a:lnTo>
                    <a:pt x="19292" y="33352"/>
                  </a:lnTo>
                  <a:lnTo>
                    <a:pt x="18538" y="33728"/>
                  </a:lnTo>
                  <a:lnTo>
                    <a:pt x="17945" y="34599"/>
                  </a:lnTo>
                  <a:lnTo>
                    <a:pt x="17370" y="35183"/>
                  </a:lnTo>
                  <a:lnTo>
                    <a:pt x="16463" y="35776"/>
                  </a:lnTo>
                  <a:lnTo>
                    <a:pt x="15888" y="36786"/>
                  </a:lnTo>
                  <a:lnTo>
                    <a:pt x="15286" y="37884"/>
                  </a:lnTo>
                  <a:lnTo>
                    <a:pt x="14289" y="39051"/>
                  </a:lnTo>
                  <a:lnTo>
                    <a:pt x="13265" y="40189"/>
                  </a:lnTo>
                  <a:lnTo>
                    <a:pt x="12286" y="41258"/>
                  </a:lnTo>
                  <a:lnTo>
                    <a:pt x="11765" y="42356"/>
                  </a:lnTo>
                  <a:lnTo>
                    <a:pt x="11209" y="43500"/>
                  </a:lnTo>
                  <a:lnTo>
                    <a:pt x="10050" y="45494"/>
                  </a:lnTo>
                  <a:lnTo>
                    <a:pt x="9385" y="47259"/>
                  </a:lnTo>
                  <a:lnTo>
                    <a:pt x="8882" y="48806"/>
                  </a:lnTo>
                  <a:lnTo>
                    <a:pt x="8299" y="50652"/>
                  </a:lnTo>
                  <a:lnTo>
                    <a:pt x="7769" y="51927"/>
                  </a:lnTo>
                  <a:lnTo>
                    <a:pt x="7257" y="53883"/>
                  </a:lnTo>
                  <a:lnTo>
                    <a:pt x="7140" y="55877"/>
                  </a:lnTo>
                  <a:lnTo>
                    <a:pt x="6574" y="57356"/>
                  </a:lnTo>
                  <a:lnTo>
                    <a:pt x="6071" y="58564"/>
                  </a:lnTo>
                  <a:lnTo>
                    <a:pt x="6071" y="59596"/>
                  </a:lnTo>
                  <a:lnTo>
                    <a:pt x="6071" y="60750"/>
                  </a:lnTo>
                  <a:lnTo>
                    <a:pt x="6071" y="61862"/>
                  </a:lnTo>
                  <a:lnTo>
                    <a:pt x="5577" y="62948"/>
                  </a:lnTo>
                  <a:lnTo>
                    <a:pt x="5083" y="64020"/>
                  </a:lnTo>
                  <a:lnTo>
                    <a:pt x="5083" y="64916"/>
                  </a:lnTo>
                  <a:lnTo>
                    <a:pt x="2954" y="67915"/>
                  </a:lnTo>
                  <a:lnTo>
                    <a:pt x="2119" y="67915"/>
                  </a:lnTo>
                  <a:lnTo>
                    <a:pt x="1769" y="68363"/>
                  </a:lnTo>
                  <a:lnTo>
                    <a:pt x="1329" y="68852"/>
                  </a:lnTo>
                  <a:lnTo>
                    <a:pt x="808" y="69327"/>
                  </a:lnTo>
                  <a:lnTo>
                    <a:pt x="368" y="69774"/>
                  </a:lnTo>
                  <a:lnTo>
                    <a:pt x="0" y="69436"/>
                  </a:lnTo>
                  <a:lnTo>
                    <a:pt x="0" y="68703"/>
                  </a:lnTo>
                  <a:lnTo>
                    <a:pt x="0" y="67875"/>
                  </a:lnTo>
                  <a:lnTo>
                    <a:pt x="0" y="66992"/>
                  </a:lnTo>
                  <a:lnTo>
                    <a:pt x="422" y="65880"/>
                  </a:lnTo>
                  <a:lnTo>
                    <a:pt x="871" y="64631"/>
                  </a:lnTo>
                  <a:lnTo>
                    <a:pt x="1535" y="62636"/>
                  </a:lnTo>
                </a:path>
              </a:pathLst>
            </a:custGeom>
            <a:ln w="18472">
              <a:solidFill>
                <a:srgbClr val="FB25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0064" y="1416507"/>
            <a:ext cx="7390765" cy="192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Bayesian</a:t>
            </a:r>
            <a:r>
              <a:rPr sz="2400" spc="-11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230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70717"/>
                </a:solidFill>
                <a:latin typeface="Calibri"/>
                <a:cs typeface="Calibri"/>
              </a:rPr>
              <a:t>directed</a:t>
            </a:r>
            <a:r>
              <a:rPr sz="2400" spc="-60" dirty="0">
                <a:solidFill>
                  <a:srgbClr val="F7071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70717"/>
                </a:solidFill>
                <a:latin typeface="Calibri"/>
                <a:cs typeface="Calibri"/>
              </a:rPr>
              <a:t>acyclic</a:t>
            </a:r>
            <a:r>
              <a:rPr sz="2400" spc="-80" dirty="0">
                <a:solidFill>
                  <a:srgbClr val="F7071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70717"/>
                </a:solidFill>
                <a:latin typeface="Calibri"/>
                <a:cs typeface="Calibri"/>
              </a:rPr>
              <a:t>graph</a:t>
            </a:r>
            <a:r>
              <a:rPr sz="2400" spc="-45" dirty="0">
                <a:solidFill>
                  <a:srgbClr val="F7071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(DAG)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70717"/>
                </a:solidFill>
                <a:latin typeface="Calibri"/>
                <a:cs typeface="Calibri"/>
              </a:rPr>
              <a:t>nodes</a:t>
            </a:r>
            <a:r>
              <a:rPr sz="2400" spc="-55" dirty="0">
                <a:solidFill>
                  <a:srgbClr val="F7071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correspond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random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variables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5015" algn="l"/>
              </a:tabLst>
            </a:pPr>
            <a:r>
              <a:rPr sz="2400" dirty="0">
                <a:solidFill>
                  <a:srgbClr val="F70717"/>
                </a:solidFill>
                <a:latin typeface="Calibri"/>
                <a:cs typeface="Calibri"/>
              </a:rPr>
              <a:t>arc</a:t>
            </a:r>
            <a:r>
              <a:rPr sz="2400" spc="-70" dirty="0">
                <a:solidFill>
                  <a:srgbClr val="F70717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represents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00"/>
                </a:solidFill>
                <a:latin typeface="Calibri"/>
                <a:cs typeface="Calibri"/>
              </a:rPr>
              <a:t>parent-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child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(</a:t>
            </a:r>
            <a:r>
              <a:rPr sz="2400" i="1" dirty="0">
                <a:solidFill>
                  <a:srgbClr val="FFFF00"/>
                </a:solidFill>
                <a:latin typeface="Calibri"/>
                <a:cs typeface="Calibri"/>
              </a:rPr>
              <a:t>dependence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)</a:t>
            </a:r>
            <a:r>
              <a:rPr sz="2400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relationship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0064" y="1648297"/>
            <a:ext cx="7896859" cy="16109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Bayesian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Network</a:t>
            </a:r>
            <a:r>
              <a:rPr sz="2400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specified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00"/>
                </a:solidFill>
                <a:latin typeface="Calibri"/>
                <a:cs typeface="Calibri"/>
              </a:rPr>
              <a:t>by: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5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200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70717"/>
                </a:solidFill>
                <a:latin typeface="Calibri"/>
                <a:cs typeface="Calibri"/>
              </a:rPr>
              <a:t>prior</a:t>
            </a:r>
            <a:r>
              <a:rPr sz="2200" spc="-45" dirty="0">
                <a:solidFill>
                  <a:srgbClr val="F7071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70717"/>
                </a:solidFill>
                <a:latin typeface="Calibri"/>
                <a:cs typeface="Calibri"/>
              </a:rPr>
              <a:t>probabilities</a:t>
            </a:r>
            <a:r>
              <a:rPr sz="2200" spc="-55" dirty="0">
                <a:solidFill>
                  <a:srgbClr val="F70717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2200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its</a:t>
            </a:r>
            <a:r>
              <a:rPr sz="22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root</a:t>
            </a:r>
            <a:r>
              <a:rPr sz="2200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Calibri"/>
                <a:cs typeface="Calibri"/>
              </a:rPr>
              <a:t>nodes.</a:t>
            </a:r>
            <a:endParaRPr sz="22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30"/>
              </a:spcBef>
              <a:buFont typeface="Arial MT"/>
              <a:buChar char="–"/>
              <a:tabLst>
                <a:tab pos="756285" algn="l"/>
              </a:tabLst>
            </a:pP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200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conditional</a:t>
            </a:r>
            <a:r>
              <a:rPr sz="2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probabilities</a:t>
            </a:r>
            <a:r>
              <a:rPr sz="2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22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2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Calibri"/>
                <a:cs typeface="Calibri"/>
              </a:rPr>
              <a:t>non-</a:t>
            </a: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root</a:t>
            </a:r>
            <a:r>
              <a:rPr sz="22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nodes,</a:t>
            </a:r>
            <a:r>
              <a:rPr sz="22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given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their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parents</a:t>
            </a: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,</a:t>
            </a:r>
            <a:r>
              <a:rPr sz="22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22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possible</a:t>
            </a:r>
            <a:r>
              <a:rPr sz="22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00"/>
                </a:solidFill>
                <a:latin typeface="Calibri"/>
                <a:cs typeface="Calibri"/>
              </a:rPr>
              <a:t>combinations.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1773935"/>
            <a:ext cx="5257800" cy="49027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5740" y="705739"/>
            <a:ext cx="7984490" cy="466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298450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Bayesian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Network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from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medical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application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35"/>
              </a:spcBef>
              <a:buClr>
                <a:srgbClr val="FFFF00"/>
              </a:buClr>
              <a:buFont typeface="Arial MT"/>
              <a:buChar char="–"/>
            </a:pPr>
            <a:endParaRPr sz="2400">
              <a:latin typeface="Calibri"/>
              <a:cs typeface="Calibri"/>
            </a:endParaRPr>
          </a:p>
          <a:p>
            <a:pPr marL="4867275" marR="5080" lvl="1" indent="-285750">
              <a:lnSpc>
                <a:spcPct val="90000"/>
              </a:lnSpc>
              <a:buFont typeface="Wingdings"/>
              <a:buChar char=""/>
              <a:tabLst>
                <a:tab pos="4868545" algn="l"/>
              </a:tabLst>
            </a:pP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BBN</a:t>
            </a:r>
            <a:r>
              <a:rPr sz="2400" spc="-2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41D"/>
                </a:solidFill>
                <a:latin typeface="Arial MT"/>
                <a:cs typeface="Arial MT"/>
              </a:rPr>
              <a:t>models 	conditional 	dependencies 	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concerning</a:t>
            </a:r>
            <a:r>
              <a:rPr sz="2400" spc="-15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0717"/>
                </a:solidFill>
                <a:latin typeface="Arial MT"/>
                <a:cs typeface="Arial MT"/>
              </a:rPr>
              <a:t>smokers 	</a:t>
            </a:r>
            <a:r>
              <a:rPr sz="2400" dirty="0">
                <a:solidFill>
                  <a:srgbClr val="F70717"/>
                </a:solidFill>
                <a:latin typeface="Arial MT"/>
                <a:cs typeface="Arial MT"/>
              </a:rPr>
              <a:t>(S)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,</a:t>
            </a:r>
            <a:r>
              <a:rPr sz="2400" spc="-114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tendencies</a:t>
            </a:r>
            <a:r>
              <a:rPr sz="2400" spc="-8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41D"/>
                </a:solidFill>
                <a:latin typeface="Arial MT"/>
                <a:cs typeface="Arial MT"/>
              </a:rPr>
              <a:t>to 	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develop</a:t>
            </a:r>
            <a:r>
              <a:rPr sz="2400" spc="-75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0717"/>
                </a:solidFill>
                <a:latin typeface="Arial MT"/>
                <a:cs typeface="Arial MT"/>
              </a:rPr>
              <a:t>cancer</a:t>
            </a:r>
            <a:r>
              <a:rPr sz="2400" spc="-90" dirty="0">
                <a:solidFill>
                  <a:srgbClr val="F70717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70717"/>
                </a:solidFill>
                <a:latin typeface="Arial MT"/>
                <a:cs typeface="Arial MT"/>
              </a:rPr>
              <a:t>(C) 	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0717"/>
                </a:solidFill>
                <a:latin typeface="Arial MT"/>
                <a:cs typeface="Arial MT"/>
              </a:rPr>
              <a:t>heart</a:t>
            </a:r>
            <a:r>
              <a:rPr sz="2400" spc="-70" dirty="0">
                <a:solidFill>
                  <a:srgbClr val="F70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0717"/>
                </a:solidFill>
                <a:latin typeface="Arial MT"/>
                <a:cs typeface="Arial MT"/>
              </a:rPr>
              <a:t>disease</a:t>
            </a:r>
            <a:r>
              <a:rPr sz="2400" spc="-60" dirty="0">
                <a:solidFill>
                  <a:srgbClr val="F70717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70717"/>
                </a:solidFill>
                <a:latin typeface="Arial MT"/>
                <a:cs typeface="Arial MT"/>
              </a:rPr>
              <a:t>(H)</a:t>
            </a:r>
            <a:r>
              <a:rPr sz="2400" spc="-20" dirty="0">
                <a:solidFill>
                  <a:srgbClr val="FFF41D"/>
                </a:solidFill>
                <a:latin typeface="Arial MT"/>
                <a:cs typeface="Arial MT"/>
              </a:rPr>
              <a:t>, 	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together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41D"/>
                </a:solidFill>
                <a:latin typeface="Arial MT"/>
                <a:cs typeface="Arial MT"/>
              </a:rPr>
              <a:t>variables 	corresponding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70717"/>
                </a:solidFill>
                <a:latin typeface="Arial MT"/>
                <a:cs typeface="Arial MT"/>
              </a:rPr>
              <a:t>heart 	</a:t>
            </a:r>
            <a:r>
              <a:rPr sz="2400" dirty="0">
                <a:solidFill>
                  <a:srgbClr val="F70717"/>
                </a:solidFill>
                <a:latin typeface="Arial MT"/>
                <a:cs typeface="Arial MT"/>
              </a:rPr>
              <a:t>(H1,</a:t>
            </a:r>
            <a:r>
              <a:rPr sz="2400" spc="-50" dirty="0">
                <a:solidFill>
                  <a:srgbClr val="F70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0717"/>
                </a:solidFill>
                <a:latin typeface="Arial MT"/>
                <a:cs typeface="Arial MT"/>
              </a:rPr>
              <a:t>H2)</a:t>
            </a:r>
            <a:r>
              <a:rPr sz="2400" spc="-45" dirty="0">
                <a:solidFill>
                  <a:srgbClr val="F70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and</a:t>
            </a:r>
            <a:r>
              <a:rPr sz="2400" spc="-3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0717"/>
                </a:solidFill>
                <a:latin typeface="Arial MT"/>
                <a:cs typeface="Arial MT"/>
              </a:rPr>
              <a:t>cancer 	</a:t>
            </a:r>
            <a:r>
              <a:rPr sz="2400" dirty="0">
                <a:solidFill>
                  <a:srgbClr val="F70717"/>
                </a:solidFill>
                <a:latin typeface="Arial MT"/>
                <a:cs typeface="Arial MT"/>
              </a:rPr>
              <a:t>(C1,</a:t>
            </a:r>
            <a:r>
              <a:rPr sz="2400" spc="-70" dirty="0">
                <a:solidFill>
                  <a:srgbClr val="F70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0717"/>
                </a:solidFill>
                <a:latin typeface="Arial MT"/>
                <a:cs typeface="Arial MT"/>
              </a:rPr>
              <a:t>C2)</a:t>
            </a:r>
            <a:r>
              <a:rPr sz="2400" spc="-65" dirty="0">
                <a:solidFill>
                  <a:srgbClr val="F70717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0717"/>
                </a:solidFill>
                <a:latin typeface="Arial MT"/>
                <a:cs typeface="Arial MT"/>
              </a:rPr>
              <a:t>medical</a:t>
            </a:r>
            <a:r>
              <a:rPr sz="2400" spc="-55" dirty="0">
                <a:solidFill>
                  <a:srgbClr val="F70717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0717"/>
                </a:solidFill>
                <a:latin typeface="Arial MT"/>
                <a:cs typeface="Arial MT"/>
              </a:rPr>
              <a:t>tests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5740" y="418338"/>
            <a:ext cx="7364095" cy="39882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214629" indent="-285750" algn="just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299085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any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joint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probability</a:t>
            </a:r>
            <a:r>
              <a:rPr sz="2400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can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be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obtained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by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multiplying</a:t>
            </a:r>
            <a:r>
              <a:rPr sz="24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0000"/>
                </a:solidFill>
                <a:latin typeface="Calibri"/>
                <a:cs typeface="Calibri"/>
              </a:rPr>
              <a:t>the 	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prior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(root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nodes)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conditional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(non-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root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nodes) 	probabilities.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Font typeface="Arial MT"/>
              <a:buChar char="–"/>
            </a:pPr>
            <a:endParaRPr sz="2400" dirty="0">
              <a:latin typeface="Calibri"/>
              <a:cs typeface="Calibri"/>
            </a:endParaRPr>
          </a:p>
          <a:p>
            <a:pPr marL="297815" marR="5080" indent="-28575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299085" algn="l"/>
              </a:tabLst>
            </a:pP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Training:</a:t>
            </a:r>
            <a:r>
              <a:rPr sz="24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given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00"/>
                </a:solidFill>
                <a:latin typeface="Calibri"/>
                <a:cs typeface="Calibri"/>
              </a:rPr>
              <a:t>topology,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probabilities</a:t>
            </a:r>
            <a:r>
              <a:rPr sz="2400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are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estimated 	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from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training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data.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Font typeface="Arial MT"/>
              <a:buChar char="–"/>
            </a:pPr>
            <a:endParaRPr sz="2400" dirty="0">
              <a:latin typeface="Calibri"/>
              <a:cs typeface="Calibri"/>
            </a:endParaRPr>
          </a:p>
          <a:p>
            <a:pPr marL="297815" marR="74295" indent="-285750">
              <a:lnSpc>
                <a:spcPct val="100000"/>
              </a:lnSpc>
              <a:buFont typeface="Arial MT"/>
              <a:buChar char="–"/>
              <a:tabLst>
                <a:tab pos="299085" algn="l"/>
              </a:tabLst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Probability</a:t>
            </a:r>
            <a:r>
              <a:rPr sz="24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Inference:</a:t>
            </a:r>
            <a:r>
              <a:rPr sz="24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Given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an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pattern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evidence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),</a:t>
            </a:r>
            <a:r>
              <a:rPr sz="2400" spc="-8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00"/>
                </a:solidFill>
                <a:latin typeface="Calibri"/>
                <a:cs typeface="Calibri"/>
              </a:rPr>
              <a:t>the 	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goal</a:t>
            </a:r>
            <a:r>
              <a:rPr sz="2400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2400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compute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conditional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probabilities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for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00"/>
                </a:solidFill>
                <a:latin typeface="Calibri"/>
                <a:cs typeface="Calibri"/>
              </a:rPr>
              <a:t>some 	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other</a:t>
            </a:r>
            <a:r>
              <a:rPr sz="24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variables</a:t>
            </a:r>
            <a:r>
              <a:rPr sz="2400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(</a:t>
            </a:r>
            <a:r>
              <a:rPr sz="2400" spc="-10" dirty="0">
                <a:solidFill>
                  <a:srgbClr val="F70717"/>
                </a:solidFill>
                <a:latin typeface="Calibri"/>
                <a:cs typeface="Calibri"/>
              </a:rPr>
              <a:t>class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143" y="462153"/>
            <a:ext cx="7165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1672589" algn="l"/>
              </a:tabLst>
            </a:pPr>
            <a:r>
              <a:rPr sz="2400" spc="-10" dirty="0">
                <a:solidFill>
                  <a:srgbClr val="FFFF00"/>
                </a:solidFill>
                <a:latin typeface="Times New Roman"/>
                <a:cs typeface="Times New Roman"/>
              </a:rPr>
              <a:t>Example: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	Consider</a:t>
            </a:r>
            <a:r>
              <a:rPr sz="2400" spc="-2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the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Bayesian</a:t>
            </a:r>
            <a:r>
              <a:rPr sz="2400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network</a:t>
            </a:r>
            <a:r>
              <a:rPr sz="2400" spc="-2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of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the</a:t>
            </a:r>
            <a:r>
              <a:rPr sz="2400" spc="-1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Times New Roman"/>
                <a:cs typeface="Times New Roman"/>
              </a:rPr>
              <a:t>figure: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0143" y="2840227"/>
            <a:ext cx="3745229" cy="12325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Random</a:t>
            </a:r>
            <a:r>
              <a:rPr sz="2400" spc="-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variables:</a:t>
            </a:r>
            <a:r>
              <a:rPr sz="2400" spc="-7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x,</a:t>
            </a:r>
            <a:r>
              <a:rPr sz="2400" i="1" spc="-5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y,</a:t>
            </a:r>
            <a:r>
              <a:rPr sz="2400" i="1" spc="-6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spc="-35" dirty="0">
                <a:solidFill>
                  <a:srgbClr val="FFFF00"/>
                </a:solidFill>
                <a:latin typeface="Times New Roman"/>
                <a:cs typeface="Times New Roman"/>
              </a:rPr>
              <a:t>w,</a:t>
            </a:r>
            <a:r>
              <a:rPr sz="2400" i="1" spc="-4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spc="-50" dirty="0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means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i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means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i="1" spc="-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sz="2400" spc="-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371600"/>
            <a:ext cx="7720583" cy="1295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679194" y="2146808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508375" y="2159634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4602" y="2107184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29982" y="208343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143" y="453009"/>
            <a:ext cx="5287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We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can</a:t>
            </a:r>
            <a:r>
              <a:rPr sz="2400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calculate</a:t>
            </a:r>
            <a:r>
              <a:rPr sz="2400" spc="-9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other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probabilities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5029200"/>
            <a:ext cx="7661148" cy="4572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590800" y="4191000"/>
            <a:ext cx="5873750" cy="762000"/>
          </a:xfrm>
          <a:custGeom>
            <a:avLst/>
            <a:gdLst/>
            <a:ahLst/>
            <a:cxnLst/>
            <a:rect l="l" t="t" r="r" b="b"/>
            <a:pathLst>
              <a:path w="5873750" h="762000">
                <a:moveTo>
                  <a:pt x="5873496" y="0"/>
                </a:moveTo>
                <a:lnTo>
                  <a:pt x="0" y="0"/>
                </a:lnTo>
                <a:lnTo>
                  <a:pt x="0" y="762000"/>
                </a:lnTo>
                <a:lnTo>
                  <a:pt x="5873496" y="762000"/>
                </a:lnTo>
                <a:lnTo>
                  <a:pt x="58734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691639" y="1066800"/>
            <a:ext cx="5801995" cy="2086610"/>
            <a:chOff x="1691639" y="1066800"/>
            <a:chExt cx="5801995" cy="208661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1639" y="1066800"/>
              <a:ext cx="5801868" cy="20863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19600" y="1981200"/>
              <a:ext cx="3048000" cy="1143000"/>
            </a:xfrm>
            <a:custGeom>
              <a:avLst/>
              <a:gdLst/>
              <a:ahLst/>
              <a:cxnLst/>
              <a:rect l="l" t="t" r="r" b="b"/>
              <a:pathLst>
                <a:path w="3048000" h="1143000">
                  <a:moveTo>
                    <a:pt x="3048000" y="0"/>
                  </a:moveTo>
                  <a:lnTo>
                    <a:pt x="0" y="0"/>
                  </a:lnTo>
                  <a:lnTo>
                    <a:pt x="0" y="1143000"/>
                  </a:lnTo>
                  <a:lnTo>
                    <a:pt x="3048000" y="1143000"/>
                  </a:lnTo>
                  <a:lnTo>
                    <a:pt x="304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897615" y="4633571"/>
            <a:ext cx="125095" cy="29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50" i="1" spc="-50" dirty="0">
                <a:latin typeface="Times New Roman"/>
                <a:cs typeface="Times New Roman"/>
              </a:rPr>
              <a:t>x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752043" y="3672332"/>
            <a:ext cx="7708900" cy="973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Example:</a:t>
            </a:r>
            <a:r>
              <a:rPr sz="2400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(</a:t>
            </a:r>
            <a:r>
              <a:rPr sz="2400" i="1" spc="-10" dirty="0">
                <a:solidFill>
                  <a:srgbClr val="FFFF00"/>
                </a:solidFill>
                <a:latin typeface="Calibri"/>
                <a:cs typeface="Calibri"/>
              </a:rPr>
              <a:t>y</a:t>
            </a:r>
            <a:r>
              <a:rPr sz="2400" spc="-15" baseline="-20833" dirty="0">
                <a:solidFill>
                  <a:srgbClr val="FFFF00"/>
                </a:solidFill>
                <a:latin typeface="Calibri"/>
                <a:cs typeface="Calibri"/>
              </a:rPr>
              <a:t>1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):</a:t>
            </a:r>
            <a:endParaRPr sz="2400">
              <a:latin typeface="Calibri"/>
              <a:cs typeface="Calibri"/>
            </a:endParaRPr>
          </a:p>
          <a:p>
            <a:pPr marL="1906905">
              <a:lnSpc>
                <a:spcPct val="100000"/>
              </a:lnSpc>
              <a:spcBef>
                <a:spcPts val="135"/>
              </a:spcBef>
            </a:pPr>
            <a:r>
              <a:rPr sz="2700" i="1" spc="60" dirty="0">
                <a:latin typeface="Times New Roman"/>
                <a:cs typeface="Times New Roman"/>
              </a:rPr>
              <a:t>P</a:t>
            </a:r>
            <a:r>
              <a:rPr sz="2700" spc="60" dirty="0">
                <a:latin typeface="Times New Roman"/>
                <a:cs typeface="Times New Roman"/>
              </a:rPr>
              <a:t>(</a:t>
            </a:r>
            <a:r>
              <a:rPr sz="2700" spc="-355" dirty="0">
                <a:latin typeface="Times New Roman"/>
                <a:cs typeface="Times New Roman"/>
              </a:rPr>
              <a:t> </a:t>
            </a:r>
            <a:r>
              <a:rPr sz="2700" i="1" spc="-105" dirty="0">
                <a:latin typeface="Times New Roman"/>
                <a:cs typeface="Times New Roman"/>
              </a:rPr>
              <a:t>y</a:t>
            </a:r>
            <a:r>
              <a:rPr sz="2700" spc="-105" dirty="0">
                <a:latin typeface="Times New Roman"/>
                <a:cs typeface="Times New Roman"/>
              </a:rPr>
              <a:t>1)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70" dirty="0">
                <a:latin typeface="Times New Roman"/>
                <a:cs typeface="Times New Roman"/>
              </a:rPr>
              <a:t> </a:t>
            </a:r>
            <a:r>
              <a:rPr sz="5550" baseline="-7507" dirty="0">
                <a:latin typeface="Symbol"/>
                <a:cs typeface="Symbol"/>
              </a:rPr>
              <a:t></a:t>
            </a:r>
            <a:r>
              <a:rPr sz="5550" spc="-765" baseline="-7507" dirty="0">
                <a:latin typeface="Times New Roman"/>
                <a:cs typeface="Times New Roman"/>
              </a:rPr>
              <a:t> </a:t>
            </a:r>
            <a:r>
              <a:rPr sz="2700" i="1" spc="60" dirty="0">
                <a:latin typeface="Times New Roman"/>
                <a:cs typeface="Times New Roman"/>
              </a:rPr>
              <a:t>P</a:t>
            </a:r>
            <a:r>
              <a:rPr sz="2700" spc="60" dirty="0">
                <a:latin typeface="Times New Roman"/>
                <a:cs typeface="Times New Roman"/>
              </a:rPr>
              <a:t>(</a:t>
            </a:r>
            <a:r>
              <a:rPr sz="2700" spc="-340" dirty="0">
                <a:latin typeface="Times New Roman"/>
                <a:cs typeface="Times New Roman"/>
              </a:rPr>
              <a:t> </a:t>
            </a:r>
            <a:r>
              <a:rPr sz="2700" i="1" spc="-125" dirty="0">
                <a:latin typeface="Times New Roman"/>
                <a:cs typeface="Times New Roman"/>
              </a:rPr>
              <a:t>y</a:t>
            </a:r>
            <a:r>
              <a:rPr sz="2700" spc="-125" dirty="0">
                <a:latin typeface="Times New Roman"/>
                <a:cs typeface="Times New Roman"/>
              </a:rPr>
              <a:t>1,</a:t>
            </a:r>
            <a:r>
              <a:rPr sz="2700" spc="-250" dirty="0">
                <a:latin typeface="Times New Roman"/>
                <a:cs typeface="Times New Roman"/>
              </a:rPr>
              <a:t> </a:t>
            </a:r>
            <a:r>
              <a:rPr sz="2700" i="1" spc="50" dirty="0">
                <a:latin typeface="Times New Roman"/>
                <a:cs typeface="Times New Roman"/>
              </a:rPr>
              <a:t>x</a:t>
            </a:r>
            <a:r>
              <a:rPr sz="2700" spc="50" dirty="0">
                <a:latin typeface="Times New Roman"/>
                <a:cs typeface="Times New Roman"/>
              </a:rPr>
              <a:t>)</a:t>
            </a:r>
            <a:r>
              <a:rPr sz="2700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30" dirty="0">
                <a:latin typeface="Times New Roman"/>
                <a:cs typeface="Times New Roman"/>
              </a:rPr>
              <a:t> </a:t>
            </a:r>
            <a:r>
              <a:rPr sz="2700" i="1" spc="60" dirty="0">
                <a:latin typeface="Times New Roman"/>
                <a:cs typeface="Times New Roman"/>
              </a:rPr>
              <a:t>P</a:t>
            </a:r>
            <a:r>
              <a:rPr sz="2700" spc="60" dirty="0">
                <a:latin typeface="Times New Roman"/>
                <a:cs typeface="Times New Roman"/>
              </a:rPr>
              <a:t>(</a:t>
            </a:r>
            <a:r>
              <a:rPr sz="2700" spc="-345" dirty="0">
                <a:latin typeface="Times New Roman"/>
                <a:cs typeface="Times New Roman"/>
              </a:rPr>
              <a:t> </a:t>
            </a:r>
            <a:r>
              <a:rPr sz="2700" i="1" spc="-125" dirty="0">
                <a:latin typeface="Times New Roman"/>
                <a:cs typeface="Times New Roman"/>
              </a:rPr>
              <a:t>y</a:t>
            </a:r>
            <a:r>
              <a:rPr sz="2700" spc="-125" dirty="0">
                <a:latin typeface="Times New Roman"/>
                <a:cs typeface="Times New Roman"/>
              </a:rPr>
              <a:t>1,</a:t>
            </a:r>
            <a:r>
              <a:rPr sz="2700" spc="-245" dirty="0">
                <a:latin typeface="Times New Roman"/>
                <a:cs typeface="Times New Roman"/>
              </a:rPr>
              <a:t> </a:t>
            </a:r>
            <a:r>
              <a:rPr sz="2700" i="1" spc="-130" dirty="0">
                <a:latin typeface="Times New Roman"/>
                <a:cs typeface="Times New Roman"/>
              </a:rPr>
              <a:t>x</a:t>
            </a:r>
            <a:r>
              <a:rPr sz="2700" spc="-130" dirty="0">
                <a:latin typeface="Times New Roman"/>
                <a:cs typeface="Times New Roman"/>
              </a:rPr>
              <a:t>1)</a:t>
            </a:r>
            <a:r>
              <a:rPr sz="2700" spc="-1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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i="1" spc="60" dirty="0">
                <a:latin typeface="Times New Roman"/>
                <a:cs typeface="Times New Roman"/>
              </a:rPr>
              <a:t>P</a:t>
            </a:r>
            <a:r>
              <a:rPr sz="2700" spc="60" dirty="0">
                <a:latin typeface="Times New Roman"/>
                <a:cs typeface="Times New Roman"/>
              </a:rPr>
              <a:t>(</a:t>
            </a:r>
            <a:r>
              <a:rPr sz="2700" spc="-355" dirty="0">
                <a:latin typeface="Times New Roman"/>
                <a:cs typeface="Times New Roman"/>
              </a:rPr>
              <a:t> </a:t>
            </a:r>
            <a:r>
              <a:rPr sz="2700" i="1" spc="-125" dirty="0">
                <a:latin typeface="Times New Roman"/>
                <a:cs typeface="Times New Roman"/>
              </a:rPr>
              <a:t>y</a:t>
            </a:r>
            <a:r>
              <a:rPr sz="2700" spc="-125" dirty="0">
                <a:latin typeface="Times New Roman"/>
                <a:cs typeface="Times New Roman"/>
              </a:rPr>
              <a:t>1,</a:t>
            </a:r>
            <a:r>
              <a:rPr sz="2700" spc="-245" dirty="0">
                <a:latin typeface="Times New Roman"/>
                <a:cs typeface="Times New Roman"/>
              </a:rPr>
              <a:t> </a:t>
            </a:r>
            <a:r>
              <a:rPr sz="2700" i="1" spc="-25" dirty="0">
                <a:latin typeface="Times New Roman"/>
                <a:cs typeface="Times New Roman"/>
              </a:rPr>
              <a:t>x</a:t>
            </a:r>
            <a:r>
              <a:rPr sz="2700" spc="-25" dirty="0">
                <a:latin typeface="Times New Roman"/>
                <a:cs typeface="Times New Roman"/>
              </a:rPr>
              <a:t>0)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0194" y="1765808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4575" y="1777949"/>
            <a:ext cx="12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8828" y="1726184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09409" y="1701749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143" y="453009"/>
            <a:ext cx="5287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We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can</a:t>
            </a:r>
            <a:r>
              <a:rPr sz="2400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calculate</a:t>
            </a:r>
            <a:r>
              <a:rPr sz="2400" spc="-9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the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other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probabilities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39" y="1066800"/>
            <a:ext cx="5801868" cy="20863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60194" y="1765808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584575" y="1777949"/>
            <a:ext cx="12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8828" y="1726184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9409" y="1701749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0143" y="453009"/>
            <a:ext cx="70713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Given</a:t>
            </a:r>
            <a:r>
              <a:rPr sz="2400" spc="-7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this</a:t>
            </a:r>
            <a:r>
              <a:rPr sz="2400" spc="-9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info,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we</a:t>
            </a:r>
            <a:r>
              <a:rPr sz="2400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can</a:t>
            </a:r>
            <a:r>
              <a:rPr sz="2400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answer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any</a:t>
            </a:r>
            <a:r>
              <a:rPr sz="2400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probabilistic</a:t>
            </a:r>
            <a:r>
              <a:rPr sz="2400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query: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5055" y="3456419"/>
            <a:ext cx="6993890" cy="152527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304165">
              <a:lnSpc>
                <a:spcPts val="2650"/>
              </a:lnSpc>
              <a:spcBef>
                <a:spcPts val="380"/>
              </a:spcBef>
              <a:buAutoNum type="alphaLcParenR"/>
              <a:tabLst>
                <a:tab pos="316865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If</a:t>
            </a:r>
            <a:r>
              <a:rPr sz="2400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i="1" spc="-8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measured</a:t>
            </a:r>
            <a:r>
              <a:rPr sz="24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2400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be</a:t>
            </a:r>
            <a:r>
              <a:rPr sz="2400" spc="-2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x=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sz="2400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1)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sz="2400" i="1" spc="-1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compute</a:t>
            </a:r>
            <a:r>
              <a:rPr sz="24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(z1|x1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sz="2400" i="1" spc="-5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i="1" spc="-25" dirty="0">
                <a:solidFill>
                  <a:srgbClr val="FFFF00"/>
                </a:solidFill>
                <a:latin typeface="Times New Roman"/>
                <a:cs typeface="Times New Roman"/>
              </a:rPr>
              <a:t>and </a:t>
            </a:r>
            <a:r>
              <a:rPr sz="2400" i="1" spc="-10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2400" spc="-10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2400" i="1" spc="-10" dirty="0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sz="2400" spc="-10" dirty="0">
                <a:solidFill>
                  <a:srgbClr val="FFFF00"/>
                </a:solidFill>
                <a:latin typeface="Times New Roman"/>
                <a:cs typeface="Times New Roman"/>
              </a:rPr>
              <a:t>0|</a:t>
            </a:r>
            <a:r>
              <a:rPr sz="2400" i="1" spc="-10" dirty="0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sz="2400" spc="-10" dirty="0">
                <a:solidFill>
                  <a:srgbClr val="FFFF00"/>
                </a:solidFill>
                <a:latin typeface="Times New Roman"/>
                <a:cs typeface="Times New Roman"/>
              </a:rPr>
              <a:t>1).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90"/>
              </a:spcBef>
              <a:buClr>
                <a:srgbClr val="FFFF00"/>
              </a:buClr>
              <a:buFont typeface="Calibri"/>
              <a:buAutoNum type="alphaLcParenR"/>
            </a:pPr>
            <a:endParaRPr sz="2400" dirty="0">
              <a:latin typeface="Times New Roman"/>
              <a:cs typeface="Times New Roman"/>
            </a:endParaRPr>
          </a:p>
          <a:p>
            <a:pPr marL="330835" indent="-318135">
              <a:lnSpc>
                <a:spcPct val="100000"/>
              </a:lnSpc>
              <a:buAutoNum type="alphaLcParenR"/>
              <a:tabLst>
                <a:tab pos="330835" algn="l"/>
              </a:tabLst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If</a:t>
            </a:r>
            <a:r>
              <a:rPr sz="24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sz="2400" i="1" spc="-8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measured</a:t>
            </a:r>
            <a:r>
              <a:rPr sz="2400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24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be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=1</a:t>
            </a:r>
            <a:r>
              <a:rPr sz="2400" spc="-3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FFFF00"/>
                </a:solidFill>
                <a:latin typeface="Times New Roman"/>
                <a:cs typeface="Times New Roman"/>
              </a:rPr>
              <a:t>w</a:t>
            </a:r>
            <a:r>
              <a:rPr sz="2400" dirty="0">
                <a:solidFill>
                  <a:srgbClr val="FFFF00"/>
                </a:solidFill>
                <a:latin typeface="Times New Roman"/>
                <a:cs typeface="Times New Roman"/>
              </a:rPr>
              <a:t>1)</a:t>
            </a:r>
            <a:r>
              <a:rPr sz="2400" spc="-9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compute</a:t>
            </a:r>
            <a:r>
              <a:rPr sz="2400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FFFF00"/>
                </a:solidFill>
                <a:latin typeface="Times New Roman"/>
                <a:cs typeface="Times New Roman"/>
              </a:rPr>
              <a:t>P</a:t>
            </a:r>
            <a:r>
              <a:rPr sz="2400" spc="-10" dirty="0">
                <a:solidFill>
                  <a:srgbClr val="FFFF00"/>
                </a:solidFill>
                <a:latin typeface="Times New Roman"/>
                <a:cs typeface="Times New Roman"/>
              </a:rPr>
              <a:t>(z1|w1)].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39" y="1266444"/>
            <a:ext cx="5801868" cy="20863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194" y="1689608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584575" y="1701749"/>
            <a:ext cx="1270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8828" y="1649425"/>
            <a:ext cx="1149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9409" y="1625549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3043" y="856564"/>
            <a:ext cx="6993890" cy="7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65"/>
              </a:lnSpc>
              <a:spcBef>
                <a:spcPts val="100"/>
              </a:spcBef>
            </a:pPr>
            <a:r>
              <a:rPr dirty="0"/>
              <a:t>a)</a:t>
            </a:r>
            <a:r>
              <a:rPr spc="-35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i="1" dirty="0">
                <a:latin typeface="Times New Roman"/>
                <a:cs typeface="Times New Roman"/>
              </a:rPr>
              <a:t>x</a:t>
            </a:r>
            <a:r>
              <a:rPr i="1" spc="-80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measured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i="1" dirty="0">
                <a:latin typeface="Times New Roman"/>
                <a:cs typeface="Times New Roman"/>
              </a:rPr>
              <a:t>x=</a:t>
            </a:r>
            <a:r>
              <a:rPr dirty="0">
                <a:latin typeface="Times New Roman"/>
                <a:cs typeface="Times New Roman"/>
              </a:rPr>
              <a:t>1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i="1" dirty="0">
                <a:latin typeface="Times New Roman"/>
                <a:cs typeface="Times New Roman"/>
              </a:rPr>
              <a:t>x</a:t>
            </a:r>
            <a:r>
              <a:rPr dirty="0">
                <a:latin typeface="Times New Roman"/>
                <a:cs typeface="Times New Roman"/>
              </a:rPr>
              <a:t>1)</a:t>
            </a:r>
            <a:r>
              <a:rPr i="1" dirty="0">
                <a:latin typeface="Times New Roman"/>
                <a:cs typeface="Times New Roman"/>
              </a:rPr>
              <a:t>,</a:t>
            </a:r>
            <a:r>
              <a:rPr i="1" spc="-110" dirty="0">
                <a:latin typeface="Times New Roman"/>
                <a:cs typeface="Times New Roman"/>
              </a:rPr>
              <a:t> </a:t>
            </a:r>
            <a:r>
              <a:rPr dirty="0"/>
              <a:t>compute</a:t>
            </a:r>
            <a:r>
              <a:rPr spc="-35" dirty="0"/>
              <a:t> </a:t>
            </a:r>
            <a:r>
              <a:rPr dirty="0"/>
              <a:t>P(z1|x1)</a:t>
            </a:r>
            <a:r>
              <a:rPr spc="-40" dirty="0"/>
              <a:t> </a:t>
            </a:r>
            <a:r>
              <a:rPr spc="-25" dirty="0"/>
              <a:t>and</a:t>
            </a:r>
          </a:p>
          <a:p>
            <a:pPr marL="12700">
              <a:lnSpc>
                <a:spcPts val="2765"/>
              </a:lnSpc>
            </a:pPr>
            <a:r>
              <a:rPr i="1" spc="-10" dirty="0">
                <a:latin typeface="Times New Roman"/>
                <a:cs typeface="Times New Roman"/>
              </a:rPr>
              <a:t>P</a:t>
            </a:r>
            <a:r>
              <a:rPr spc="-10" dirty="0">
                <a:latin typeface="Times New Roman"/>
                <a:cs typeface="Times New Roman"/>
              </a:rPr>
              <a:t>(</a:t>
            </a:r>
            <a:r>
              <a:rPr i="1" spc="-10" dirty="0">
                <a:latin typeface="Times New Roman"/>
                <a:cs typeface="Times New Roman"/>
              </a:rPr>
              <a:t>w</a:t>
            </a:r>
            <a:r>
              <a:rPr spc="-10" dirty="0">
                <a:latin typeface="Times New Roman"/>
                <a:cs typeface="Times New Roman"/>
              </a:rPr>
              <a:t>0|</a:t>
            </a:r>
            <a:r>
              <a:rPr i="1" spc="-10" dirty="0">
                <a:latin typeface="Times New Roman"/>
                <a:cs typeface="Times New Roman"/>
              </a:rPr>
              <a:t>x</a:t>
            </a:r>
            <a:r>
              <a:rPr spc="-10" dirty="0">
                <a:latin typeface="Times New Roman"/>
                <a:cs typeface="Times New Roman"/>
              </a:rPr>
              <a:t>1).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1639" y="1799844"/>
            <a:ext cx="5801868" cy="20863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6400" y="4038600"/>
            <a:ext cx="7202424" cy="1676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194" y="2223008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584575" y="2235834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8828" y="2183384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9409" y="2159634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3043" y="856564"/>
            <a:ext cx="6993890" cy="72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65"/>
              </a:lnSpc>
              <a:spcBef>
                <a:spcPts val="100"/>
              </a:spcBef>
            </a:pPr>
            <a:r>
              <a:rPr dirty="0"/>
              <a:t>a)</a:t>
            </a:r>
            <a:r>
              <a:rPr spc="-35" dirty="0"/>
              <a:t> </a:t>
            </a:r>
            <a:r>
              <a:rPr dirty="0"/>
              <a:t>If</a:t>
            </a:r>
            <a:r>
              <a:rPr spc="-35" dirty="0"/>
              <a:t> </a:t>
            </a:r>
            <a:r>
              <a:rPr i="1" dirty="0">
                <a:latin typeface="Times New Roman"/>
                <a:cs typeface="Times New Roman"/>
              </a:rPr>
              <a:t>x</a:t>
            </a:r>
            <a:r>
              <a:rPr i="1" spc="-80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measured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be</a:t>
            </a:r>
            <a:r>
              <a:rPr spc="-20" dirty="0"/>
              <a:t> </a:t>
            </a:r>
            <a:r>
              <a:rPr i="1" dirty="0">
                <a:latin typeface="Times New Roman"/>
                <a:cs typeface="Times New Roman"/>
              </a:rPr>
              <a:t>x=</a:t>
            </a:r>
            <a:r>
              <a:rPr dirty="0">
                <a:latin typeface="Times New Roman"/>
                <a:cs typeface="Times New Roman"/>
              </a:rPr>
              <a:t>1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i="1" dirty="0">
                <a:latin typeface="Times New Roman"/>
                <a:cs typeface="Times New Roman"/>
              </a:rPr>
              <a:t>x</a:t>
            </a:r>
            <a:r>
              <a:rPr dirty="0">
                <a:latin typeface="Times New Roman"/>
                <a:cs typeface="Times New Roman"/>
              </a:rPr>
              <a:t>1)</a:t>
            </a:r>
            <a:r>
              <a:rPr i="1" dirty="0">
                <a:latin typeface="Times New Roman"/>
                <a:cs typeface="Times New Roman"/>
              </a:rPr>
              <a:t>,</a:t>
            </a:r>
            <a:r>
              <a:rPr i="1" spc="-110" dirty="0">
                <a:latin typeface="Times New Roman"/>
                <a:cs typeface="Times New Roman"/>
              </a:rPr>
              <a:t> </a:t>
            </a:r>
            <a:r>
              <a:rPr dirty="0"/>
              <a:t>compute</a:t>
            </a:r>
            <a:r>
              <a:rPr spc="-35" dirty="0"/>
              <a:t> </a:t>
            </a:r>
            <a:r>
              <a:rPr dirty="0"/>
              <a:t>P(z1|x1)</a:t>
            </a:r>
            <a:r>
              <a:rPr spc="-40" dirty="0"/>
              <a:t> </a:t>
            </a:r>
            <a:r>
              <a:rPr spc="-25" dirty="0"/>
              <a:t>and</a:t>
            </a:r>
          </a:p>
          <a:p>
            <a:pPr marL="12700">
              <a:lnSpc>
                <a:spcPts val="2765"/>
              </a:lnSpc>
            </a:pPr>
            <a:r>
              <a:rPr i="1" spc="-10" dirty="0">
                <a:latin typeface="Times New Roman"/>
                <a:cs typeface="Times New Roman"/>
              </a:rPr>
              <a:t>P</a:t>
            </a:r>
            <a:r>
              <a:rPr spc="-10" dirty="0">
                <a:latin typeface="Times New Roman"/>
                <a:cs typeface="Times New Roman"/>
              </a:rPr>
              <a:t>(</a:t>
            </a:r>
            <a:r>
              <a:rPr i="1" spc="-10" dirty="0">
                <a:latin typeface="Times New Roman"/>
                <a:cs typeface="Times New Roman"/>
              </a:rPr>
              <a:t>w</a:t>
            </a:r>
            <a:r>
              <a:rPr spc="-10" dirty="0">
                <a:latin typeface="Times New Roman"/>
                <a:cs typeface="Times New Roman"/>
              </a:rPr>
              <a:t>0|</a:t>
            </a:r>
            <a:r>
              <a:rPr i="1" spc="-10" dirty="0">
                <a:latin typeface="Times New Roman"/>
                <a:cs typeface="Times New Roman"/>
              </a:rPr>
              <a:t>x</a:t>
            </a:r>
            <a:r>
              <a:rPr spc="-10" dirty="0">
                <a:latin typeface="Times New Roman"/>
                <a:cs typeface="Times New Roman"/>
              </a:rPr>
              <a:t>1).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39" y="1799844"/>
            <a:ext cx="5801868" cy="20863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4038600"/>
            <a:ext cx="7260335" cy="16002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194" y="2146808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584575" y="2159634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8828" y="2173985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9409" y="2149551"/>
            <a:ext cx="178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851" rIns="0" bIns="0" rtlCol="0">
            <a:spAutoFit/>
          </a:bodyPr>
          <a:lstStyle/>
          <a:p>
            <a:pPr marL="914400">
              <a:lnSpc>
                <a:spcPct val="100000"/>
              </a:lnSpc>
              <a:spcBef>
                <a:spcPts val="100"/>
              </a:spcBef>
            </a:pPr>
            <a:r>
              <a:rPr dirty="0"/>
              <a:t>b)</a:t>
            </a:r>
            <a:r>
              <a:rPr spc="-40" dirty="0"/>
              <a:t> </a:t>
            </a:r>
            <a:r>
              <a:rPr dirty="0"/>
              <a:t>If</a:t>
            </a:r>
            <a:r>
              <a:rPr spc="-25" dirty="0"/>
              <a:t> </a:t>
            </a:r>
            <a:r>
              <a:rPr i="1" dirty="0">
                <a:latin typeface="Times New Roman"/>
                <a:cs typeface="Times New Roman"/>
              </a:rPr>
              <a:t>w</a:t>
            </a:r>
            <a:r>
              <a:rPr i="1" spc="-85" dirty="0">
                <a:latin typeface="Times New Roman"/>
                <a:cs typeface="Times New Roman"/>
              </a:rPr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-10" dirty="0"/>
              <a:t>measured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be</a:t>
            </a:r>
            <a:r>
              <a:rPr spc="-45" dirty="0"/>
              <a:t> </a:t>
            </a:r>
            <a:r>
              <a:rPr i="1" dirty="0">
                <a:latin typeface="Times New Roman"/>
                <a:cs typeface="Times New Roman"/>
              </a:rPr>
              <a:t>w</a:t>
            </a:r>
            <a:r>
              <a:rPr dirty="0">
                <a:latin typeface="Times New Roman"/>
                <a:cs typeface="Times New Roman"/>
              </a:rPr>
              <a:t>=1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i="1" dirty="0">
                <a:latin typeface="Times New Roman"/>
                <a:cs typeface="Times New Roman"/>
              </a:rPr>
              <a:t>w</a:t>
            </a:r>
            <a:r>
              <a:rPr dirty="0">
                <a:latin typeface="Times New Roman"/>
                <a:cs typeface="Times New Roman"/>
              </a:rPr>
              <a:t>1)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dirty="0"/>
              <a:t>compute</a:t>
            </a:r>
            <a:r>
              <a:rPr spc="-35" dirty="0"/>
              <a:t> </a:t>
            </a:r>
            <a:r>
              <a:rPr i="1" spc="-10" dirty="0">
                <a:latin typeface="Times New Roman"/>
                <a:cs typeface="Times New Roman"/>
              </a:rPr>
              <a:t>P</a:t>
            </a:r>
            <a:r>
              <a:rPr spc="-10" dirty="0">
                <a:latin typeface="Times New Roman"/>
                <a:cs typeface="Times New Roman"/>
              </a:rPr>
              <a:t>(z1|w1|)].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39" y="1371600"/>
            <a:ext cx="5801868" cy="20863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400" y="3962400"/>
            <a:ext cx="7014972" cy="9144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60194" y="2019680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3584575" y="2032508"/>
            <a:ext cx="127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08828" y="2046859"/>
            <a:ext cx="11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z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09409" y="2023109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851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F41D"/>
                </a:solidFill>
              </a:rPr>
              <a:t>What’s</a:t>
            </a:r>
            <a:r>
              <a:rPr spc="-60" dirty="0">
                <a:solidFill>
                  <a:srgbClr val="FFF41D"/>
                </a:solidFill>
              </a:rPr>
              <a:t> </a:t>
            </a:r>
            <a:r>
              <a:rPr dirty="0">
                <a:solidFill>
                  <a:srgbClr val="FFF41D"/>
                </a:solidFill>
              </a:rPr>
              <a:t>about</a:t>
            </a:r>
            <a:r>
              <a:rPr spc="-55" dirty="0">
                <a:solidFill>
                  <a:srgbClr val="FFF41D"/>
                </a:solidFill>
              </a:rPr>
              <a:t> </a:t>
            </a:r>
            <a:r>
              <a:rPr dirty="0">
                <a:solidFill>
                  <a:srgbClr val="FFF41D"/>
                </a:solidFill>
              </a:rPr>
              <a:t>more</a:t>
            </a:r>
            <a:r>
              <a:rPr spc="-65" dirty="0">
                <a:solidFill>
                  <a:srgbClr val="FFF41D"/>
                </a:solidFill>
              </a:rPr>
              <a:t> </a:t>
            </a:r>
            <a:r>
              <a:rPr dirty="0">
                <a:solidFill>
                  <a:srgbClr val="FFF41D"/>
                </a:solidFill>
              </a:rPr>
              <a:t>complex</a:t>
            </a:r>
            <a:r>
              <a:rPr spc="-60" dirty="0">
                <a:solidFill>
                  <a:srgbClr val="FFF41D"/>
                </a:solidFill>
              </a:rPr>
              <a:t> </a:t>
            </a:r>
            <a:r>
              <a:rPr spc="-10" dirty="0">
                <a:solidFill>
                  <a:srgbClr val="FFF41D"/>
                </a:solidFill>
              </a:rPr>
              <a:t>networks?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143000"/>
            <a:ext cx="5791200" cy="54010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851" rIns="0" bIns="0" rtlCol="0">
            <a:spAutoFit/>
          </a:bodyPr>
          <a:lstStyle/>
          <a:p>
            <a:pPr marL="5715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solidFill>
                  <a:srgbClr val="FFF41D"/>
                </a:solidFill>
              </a:rPr>
              <a:t>What’s</a:t>
            </a:r>
            <a:r>
              <a:rPr spc="-60" dirty="0">
                <a:solidFill>
                  <a:srgbClr val="FFF41D"/>
                </a:solidFill>
              </a:rPr>
              <a:t> </a:t>
            </a:r>
            <a:r>
              <a:rPr dirty="0">
                <a:solidFill>
                  <a:srgbClr val="FFF41D"/>
                </a:solidFill>
              </a:rPr>
              <a:t>about</a:t>
            </a:r>
            <a:r>
              <a:rPr spc="-55" dirty="0">
                <a:solidFill>
                  <a:srgbClr val="FFF41D"/>
                </a:solidFill>
              </a:rPr>
              <a:t> </a:t>
            </a:r>
            <a:r>
              <a:rPr dirty="0">
                <a:solidFill>
                  <a:srgbClr val="FFF41D"/>
                </a:solidFill>
              </a:rPr>
              <a:t>more</a:t>
            </a:r>
            <a:r>
              <a:rPr spc="-65" dirty="0">
                <a:solidFill>
                  <a:srgbClr val="FFF41D"/>
                </a:solidFill>
              </a:rPr>
              <a:t> </a:t>
            </a:r>
            <a:r>
              <a:rPr dirty="0">
                <a:solidFill>
                  <a:srgbClr val="FFF41D"/>
                </a:solidFill>
              </a:rPr>
              <a:t>complex</a:t>
            </a:r>
            <a:r>
              <a:rPr spc="-60" dirty="0">
                <a:solidFill>
                  <a:srgbClr val="FFF41D"/>
                </a:solidFill>
              </a:rPr>
              <a:t> </a:t>
            </a:r>
            <a:r>
              <a:rPr spc="-10" dirty="0">
                <a:solidFill>
                  <a:srgbClr val="FFF41D"/>
                </a:solidFill>
              </a:rPr>
              <a:t>networks?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3712" y="905255"/>
            <a:ext cx="7658100" cy="50474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851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</a:rPr>
              <a:t>We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will</a:t>
            </a:r>
            <a:r>
              <a:rPr spc="-65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study</a:t>
            </a:r>
            <a:r>
              <a:rPr spc="-70" dirty="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this</a:t>
            </a:r>
            <a:r>
              <a:rPr spc="-5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graph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381000"/>
            <a:ext cx="5638800" cy="39822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90143" y="3827144"/>
            <a:ext cx="5398770" cy="24403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We</a:t>
            </a:r>
            <a:r>
              <a:rPr sz="2400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can</a:t>
            </a:r>
            <a:r>
              <a:rPr sz="2400" spc="-10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show: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i="1" spc="-10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(D|E)=P(D)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i="1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2400" i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Calibri"/>
                <a:cs typeface="Calibri"/>
              </a:rPr>
              <a:t>(Hb|HD,</a:t>
            </a:r>
            <a:r>
              <a:rPr sz="2400" i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Calibri"/>
                <a:cs typeface="Calibri"/>
              </a:rPr>
              <a:t>E,</a:t>
            </a:r>
            <a:r>
              <a:rPr sz="2400" i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Calibri"/>
                <a:cs typeface="Calibri"/>
              </a:rPr>
              <a:t>D)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=</a:t>
            </a:r>
            <a:r>
              <a:rPr sz="2400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2400" i="1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(</a:t>
            </a:r>
            <a:r>
              <a:rPr sz="2400" i="1" spc="-10" dirty="0">
                <a:solidFill>
                  <a:srgbClr val="FFFF00"/>
                </a:solidFill>
                <a:latin typeface="Calibri"/>
                <a:cs typeface="Calibri"/>
              </a:rPr>
              <a:t>Hb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|</a:t>
            </a:r>
            <a:r>
              <a:rPr sz="2400" i="1" spc="-10" dirty="0">
                <a:solidFill>
                  <a:srgbClr val="FFFF00"/>
                </a:solidFill>
                <a:latin typeface="Calibri"/>
                <a:cs typeface="Calibri"/>
              </a:rPr>
              <a:t>D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P</a:t>
            </a:r>
            <a:r>
              <a:rPr sz="2400" i="1" spc="-1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(CP|Hb,</a:t>
            </a:r>
            <a:r>
              <a:rPr sz="2400" i="1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HD,</a:t>
            </a:r>
            <a:r>
              <a:rPr sz="2400" i="1" spc="-3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E,</a:t>
            </a:r>
            <a:r>
              <a:rPr sz="2400" i="1" spc="-6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D)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=</a:t>
            </a:r>
            <a:r>
              <a:rPr sz="2400" spc="-3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P</a:t>
            </a:r>
            <a:r>
              <a:rPr sz="2400" i="1" spc="-6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(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CP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|Hb,</a:t>
            </a:r>
            <a:r>
              <a:rPr sz="2400" spc="-15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00"/>
                </a:solidFill>
                <a:latin typeface="Arial MT"/>
                <a:cs typeface="Arial MT"/>
              </a:rPr>
              <a:t>HD)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P</a:t>
            </a:r>
            <a:r>
              <a:rPr sz="2400" i="1" spc="-12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i="1" spc="-35" dirty="0">
                <a:solidFill>
                  <a:srgbClr val="FFFF00"/>
                </a:solidFill>
                <a:latin typeface="Arial"/>
                <a:cs typeface="Arial"/>
              </a:rPr>
              <a:t>(BP|CP,</a:t>
            </a:r>
            <a:r>
              <a:rPr sz="2400" i="1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Hb,</a:t>
            </a:r>
            <a:r>
              <a:rPr sz="2400" i="1" spc="-25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HD,</a:t>
            </a:r>
            <a:r>
              <a:rPr sz="2400" i="1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E,</a:t>
            </a:r>
            <a:r>
              <a:rPr sz="2400" i="1" spc="-4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D)</a:t>
            </a:r>
            <a:r>
              <a:rPr sz="2400" dirty="0">
                <a:solidFill>
                  <a:srgbClr val="FFFF00"/>
                </a:solidFill>
                <a:latin typeface="Arial MT"/>
                <a:cs typeface="Arial MT"/>
              </a:rPr>
              <a:t>=</a:t>
            </a:r>
            <a:r>
              <a:rPr sz="2400" spc="-40" dirty="0">
                <a:solidFill>
                  <a:srgbClr val="FFFF00"/>
                </a:solidFill>
                <a:latin typeface="Arial MT"/>
                <a:cs typeface="Arial MT"/>
              </a:rPr>
              <a:t> </a:t>
            </a:r>
            <a:r>
              <a:rPr sz="2400" i="1" dirty="0">
                <a:solidFill>
                  <a:srgbClr val="FFFF00"/>
                </a:solidFill>
                <a:latin typeface="Arial"/>
                <a:cs typeface="Arial"/>
              </a:rPr>
              <a:t>P</a:t>
            </a:r>
            <a:r>
              <a:rPr sz="2400" i="1" spc="-3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(</a:t>
            </a:r>
            <a:r>
              <a:rPr sz="2400" i="1" spc="-10" dirty="0">
                <a:solidFill>
                  <a:srgbClr val="FFFF00"/>
                </a:solidFill>
                <a:latin typeface="Arial"/>
                <a:cs typeface="Arial"/>
              </a:rPr>
              <a:t>BP</a:t>
            </a:r>
            <a:r>
              <a:rPr sz="2400" spc="-10" dirty="0">
                <a:solidFill>
                  <a:srgbClr val="FFFF00"/>
                </a:solidFill>
                <a:latin typeface="Arial MT"/>
                <a:cs typeface="Arial MT"/>
              </a:rPr>
              <a:t>|HD)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35" dirty="0">
                <a:solidFill>
                  <a:srgbClr val="FFFF00"/>
                </a:solidFill>
                <a:latin typeface="Calibri"/>
                <a:cs typeface="Calibri"/>
              </a:rPr>
              <a:t>However,</a:t>
            </a:r>
            <a:r>
              <a:rPr sz="2400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Calibri"/>
                <a:cs typeface="Calibri"/>
              </a:rPr>
              <a:t>P</a:t>
            </a:r>
            <a:r>
              <a:rPr sz="2400" i="1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(HD|E,D)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cannot</a:t>
            </a:r>
            <a:r>
              <a:rPr sz="2400" spc="-4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be</a:t>
            </a:r>
            <a:r>
              <a:rPr sz="2400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implified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304800"/>
            <a:ext cx="5029200" cy="35509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90143" y="3814952"/>
            <a:ext cx="3519804" cy="854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-10" dirty="0">
                <a:solidFill>
                  <a:srgbClr val="FFF41D"/>
                </a:solidFill>
                <a:latin typeface="Calibri"/>
                <a:cs typeface="Calibri"/>
              </a:rPr>
              <a:t>Exercise: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P</a:t>
            </a:r>
            <a:r>
              <a:rPr sz="2400" i="1" spc="-125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(CP|HD,</a:t>
            </a:r>
            <a:r>
              <a:rPr sz="2400" i="1" spc="-35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i="1" spc="-85" dirty="0">
                <a:solidFill>
                  <a:srgbClr val="FFF41D"/>
                </a:solidFill>
                <a:latin typeface="Arial"/>
                <a:cs typeface="Arial"/>
              </a:rPr>
              <a:t>BP,</a:t>
            </a:r>
            <a:r>
              <a:rPr sz="2400" i="1" spc="-40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E,</a:t>
            </a:r>
            <a:r>
              <a:rPr sz="2400" i="1" spc="-40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D)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=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FFF41D"/>
                </a:solidFill>
                <a:latin typeface="Arial MT"/>
                <a:cs typeface="Arial MT"/>
              </a:rPr>
              <a:t>?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066800"/>
            <a:ext cx="3587496" cy="253441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90143" y="3814952"/>
            <a:ext cx="5572760" cy="854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400" spc="-10" dirty="0">
                <a:solidFill>
                  <a:srgbClr val="FFF41D"/>
                </a:solidFill>
                <a:latin typeface="Calibri"/>
                <a:cs typeface="Calibri"/>
              </a:rPr>
              <a:t>Exercise: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8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P</a:t>
            </a:r>
            <a:r>
              <a:rPr sz="2400" i="1" spc="-125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(CP|HD,</a:t>
            </a:r>
            <a:r>
              <a:rPr sz="2400" i="1" spc="-30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i="1" spc="-85" dirty="0">
                <a:solidFill>
                  <a:srgbClr val="FFF41D"/>
                </a:solidFill>
                <a:latin typeface="Arial"/>
                <a:cs typeface="Arial"/>
              </a:rPr>
              <a:t>BP,</a:t>
            </a:r>
            <a:r>
              <a:rPr sz="2400" i="1" spc="-40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E,</a:t>
            </a:r>
            <a:r>
              <a:rPr sz="2400" i="1" spc="-40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D)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=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No</a:t>
            </a:r>
            <a:r>
              <a:rPr sz="2400" spc="-3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41D"/>
                </a:solidFill>
                <a:latin typeface="Arial MT"/>
                <a:cs typeface="Arial MT"/>
              </a:rPr>
              <a:t>simplification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2594" y="5363667"/>
            <a:ext cx="40506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41D"/>
                </a:solidFill>
                <a:latin typeface="Calibri"/>
                <a:cs typeface="Calibri"/>
              </a:rPr>
              <a:t>Calculate</a:t>
            </a:r>
            <a:r>
              <a:rPr sz="3600" spc="-140" dirty="0">
                <a:solidFill>
                  <a:srgbClr val="FFF41D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41D"/>
                </a:solidFill>
                <a:latin typeface="Calibri"/>
                <a:cs typeface="Calibri"/>
              </a:rPr>
              <a:t>P(HD=yes)</a:t>
            </a:r>
            <a:r>
              <a:rPr sz="3600" spc="-135" dirty="0">
                <a:solidFill>
                  <a:srgbClr val="FFF41D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FFF41D"/>
                </a:solidFill>
                <a:latin typeface="Calibri"/>
                <a:cs typeface="Calibri"/>
              </a:rPr>
              <a:t>?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81000"/>
            <a:ext cx="7281672" cy="4800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454533"/>
            <a:ext cx="2710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Calculate</a:t>
            </a:r>
            <a:r>
              <a:rPr sz="2400" spc="-8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P(HD=yes)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3962400"/>
            <a:ext cx="6269990" cy="546100"/>
          </a:xfrm>
          <a:custGeom>
            <a:avLst/>
            <a:gdLst/>
            <a:ahLst/>
            <a:cxnLst/>
            <a:rect l="l" t="t" r="r" b="b"/>
            <a:pathLst>
              <a:path w="6269990" h="546100">
                <a:moveTo>
                  <a:pt x="6269736" y="0"/>
                </a:moveTo>
                <a:lnTo>
                  <a:pt x="0" y="0"/>
                </a:lnTo>
                <a:lnTo>
                  <a:pt x="0" y="545592"/>
                </a:lnTo>
                <a:lnTo>
                  <a:pt x="6269736" y="545592"/>
                </a:lnTo>
                <a:lnTo>
                  <a:pt x="62697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66045" y="3862089"/>
            <a:ext cx="6256655" cy="6108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850" i="1" spc="65" dirty="0">
                <a:latin typeface="Times New Roman"/>
                <a:cs typeface="Times New Roman"/>
              </a:rPr>
              <a:t>P</a:t>
            </a:r>
            <a:r>
              <a:rPr sz="1850" spc="65" dirty="0">
                <a:latin typeface="Times New Roman"/>
                <a:cs typeface="Times New Roman"/>
              </a:rPr>
              <a:t>(</a:t>
            </a:r>
            <a:r>
              <a:rPr sz="1850" i="1" spc="65" dirty="0">
                <a:latin typeface="Times New Roman"/>
                <a:cs typeface="Times New Roman"/>
              </a:rPr>
              <a:t>HD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Yes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3825" spc="202" baseline="-7625" dirty="0">
                <a:latin typeface="Symbol"/>
                <a:cs typeface="Symbol"/>
              </a:rPr>
              <a:t></a:t>
            </a:r>
            <a:r>
              <a:rPr sz="3825" spc="-517" baseline="-7625" dirty="0">
                <a:latin typeface="Times New Roman"/>
                <a:cs typeface="Times New Roman"/>
              </a:rPr>
              <a:t> </a:t>
            </a:r>
            <a:r>
              <a:rPr sz="1850" i="1" spc="65" dirty="0">
                <a:latin typeface="Times New Roman"/>
                <a:cs typeface="Times New Roman"/>
              </a:rPr>
              <a:t>P</a:t>
            </a:r>
            <a:r>
              <a:rPr sz="1850" spc="65" dirty="0">
                <a:latin typeface="Times New Roman"/>
                <a:cs typeface="Times New Roman"/>
              </a:rPr>
              <a:t>(</a:t>
            </a:r>
            <a:r>
              <a:rPr sz="1850" i="1" spc="65" dirty="0">
                <a:latin typeface="Times New Roman"/>
                <a:cs typeface="Times New Roman"/>
              </a:rPr>
              <a:t>HD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17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yes</a:t>
            </a:r>
            <a:r>
              <a:rPr sz="1850" i="1" spc="-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</a:t>
            </a:r>
            <a:r>
              <a:rPr sz="1950" spc="-2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</a:t>
            </a:r>
            <a:r>
              <a:rPr sz="1850" i="1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Symbol"/>
                <a:cs typeface="Symbol"/>
              </a:rPr>
              <a:t></a:t>
            </a:r>
            <a:r>
              <a:rPr sz="1950" spc="-20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i="1" dirty="0">
                <a:latin typeface="Times New Roman"/>
                <a:cs typeface="Times New Roman"/>
              </a:rPr>
              <a:t>P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</a:t>
            </a:r>
            <a:r>
              <a:rPr sz="1950" spc="-2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</a:t>
            </a:r>
            <a:r>
              <a:rPr sz="1850" i="1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Symbol"/>
                <a:cs typeface="Symbol"/>
              </a:rPr>
              <a:t></a:t>
            </a:r>
            <a:r>
              <a:rPr sz="1950" spc="-21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1565275">
              <a:lnSpc>
                <a:spcPct val="100000"/>
              </a:lnSpc>
              <a:spcBef>
                <a:spcPts val="30"/>
              </a:spcBef>
              <a:tabLst>
                <a:tab pos="1838960" algn="l"/>
              </a:tabLst>
            </a:pPr>
            <a:r>
              <a:rPr sz="1250" spc="-50" dirty="0">
                <a:latin typeface="Symbol"/>
                <a:cs typeface="Symbol"/>
              </a:rPr>
              <a:t></a:t>
            </a:r>
            <a:r>
              <a:rPr sz="1250" dirty="0">
                <a:latin typeface="Times New Roman"/>
                <a:cs typeface="Times New Roman"/>
              </a:rPr>
              <a:t>	</a:t>
            </a:r>
            <a:r>
              <a:rPr sz="1250" spc="-50" dirty="0">
                <a:latin typeface="Symbol"/>
                <a:cs typeface="Symbol"/>
              </a:rPr>
              <a:t></a:t>
            </a:r>
            <a:endParaRPr sz="1250">
              <a:latin typeface="Symbol"/>
              <a:cs typeface="Symbo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0311" y="507491"/>
            <a:ext cx="5123688" cy="33787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7244" y="4922266"/>
            <a:ext cx="7045959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41D"/>
                </a:solidFill>
                <a:latin typeface="Arial MT"/>
                <a:cs typeface="Arial MT"/>
              </a:rPr>
              <a:t>where,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4490085" algn="l"/>
              </a:tabLst>
            </a:pP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α</a:t>
            </a:r>
            <a:r>
              <a:rPr sz="2400" i="1" spc="-30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=</a:t>
            </a:r>
            <a:r>
              <a:rPr sz="2400" spc="-3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Set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41D"/>
                </a:solidFill>
                <a:latin typeface="Arial MT"/>
                <a:cs typeface="Arial MT"/>
              </a:rPr>
              <a:t>Values</a:t>
            </a:r>
            <a:r>
              <a:rPr sz="2400" spc="-5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of</a:t>
            </a:r>
            <a:r>
              <a:rPr sz="2400" spc="-35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41D"/>
                </a:solidFill>
                <a:latin typeface="Arial MT"/>
                <a:cs typeface="Arial MT"/>
              </a:rPr>
              <a:t>Exercise(</a:t>
            </a:r>
            <a:r>
              <a:rPr sz="2400" i="1" spc="-10" dirty="0">
                <a:solidFill>
                  <a:srgbClr val="FFF41D"/>
                </a:solidFill>
                <a:latin typeface="Arial"/>
                <a:cs typeface="Arial"/>
              </a:rPr>
              <a:t>E</a:t>
            </a:r>
            <a:r>
              <a:rPr sz="2400" spc="-10" dirty="0">
                <a:solidFill>
                  <a:srgbClr val="FFF41D"/>
                </a:solidFill>
                <a:latin typeface="Arial MT"/>
                <a:cs typeface="Arial MT"/>
              </a:rPr>
              <a:t>)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	=</a:t>
            </a:r>
            <a:r>
              <a:rPr sz="2400" spc="-6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41D"/>
                </a:solidFill>
                <a:latin typeface="Arial MT"/>
                <a:cs typeface="Arial MT"/>
              </a:rPr>
              <a:t>{Yes,</a:t>
            </a:r>
            <a:r>
              <a:rPr sz="2400" spc="-7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41D"/>
                </a:solidFill>
                <a:latin typeface="Arial MT"/>
                <a:cs typeface="Arial MT"/>
              </a:rPr>
              <a:t>No}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β</a:t>
            </a:r>
            <a:r>
              <a:rPr sz="2400" i="1" spc="-45" dirty="0">
                <a:solidFill>
                  <a:srgbClr val="FFF41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=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Set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41D"/>
                </a:solidFill>
                <a:latin typeface="Arial MT"/>
                <a:cs typeface="Arial MT"/>
              </a:rPr>
              <a:t>Values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of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Diet(</a:t>
            </a:r>
            <a:r>
              <a:rPr sz="2400" i="1" dirty="0">
                <a:solidFill>
                  <a:srgbClr val="FFF41D"/>
                </a:solidFill>
                <a:latin typeface="Arial"/>
                <a:cs typeface="Arial"/>
              </a:rPr>
              <a:t>D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)</a:t>
            </a:r>
            <a:r>
              <a:rPr sz="2400" spc="-35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=</a:t>
            </a:r>
            <a:r>
              <a:rPr sz="2400" spc="-40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41D"/>
                </a:solidFill>
                <a:latin typeface="Arial MT"/>
                <a:cs typeface="Arial MT"/>
              </a:rPr>
              <a:t>{Healthy,</a:t>
            </a:r>
            <a:r>
              <a:rPr sz="2400" spc="-35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41D"/>
                </a:solidFill>
                <a:latin typeface="Arial MT"/>
                <a:cs typeface="Arial MT"/>
              </a:rPr>
              <a:t>Not</a:t>
            </a:r>
            <a:r>
              <a:rPr sz="2400" spc="-35" dirty="0">
                <a:solidFill>
                  <a:srgbClr val="FFF41D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41D"/>
                </a:solidFill>
                <a:latin typeface="Arial MT"/>
                <a:cs typeface="Arial MT"/>
              </a:rPr>
              <a:t>Healthy}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851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0"/>
              </a:spcBef>
            </a:pPr>
            <a:r>
              <a:rPr dirty="0"/>
              <a:t>Calculate</a:t>
            </a:r>
            <a:r>
              <a:rPr spc="-85" dirty="0"/>
              <a:t> </a:t>
            </a:r>
            <a:r>
              <a:rPr spc="-10" dirty="0"/>
              <a:t>P(HD=yes)</a:t>
            </a:r>
            <a:r>
              <a:rPr spc="-75" dirty="0"/>
              <a:t> </a:t>
            </a:r>
            <a:r>
              <a:rPr spc="-50" dirty="0"/>
              <a:t>?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3962400"/>
            <a:ext cx="6269990" cy="546100"/>
          </a:xfrm>
          <a:custGeom>
            <a:avLst/>
            <a:gdLst/>
            <a:ahLst/>
            <a:cxnLst/>
            <a:rect l="l" t="t" r="r" b="b"/>
            <a:pathLst>
              <a:path w="6269990" h="546100">
                <a:moveTo>
                  <a:pt x="6269736" y="0"/>
                </a:moveTo>
                <a:lnTo>
                  <a:pt x="0" y="0"/>
                </a:lnTo>
                <a:lnTo>
                  <a:pt x="0" y="545592"/>
                </a:lnTo>
                <a:lnTo>
                  <a:pt x="6269736" y="545592"/>
                </a:lnTo>
                <a:lnTo>
                  <a:pt x="62697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95272" y="4636008"/>
            <a:ext cx="5219700" cy="546100"/>
          </a:xfrm>
          <a:custGeom>
            <a:avLst/>
            <a:gdLst/>
            <a:ahLst/>
            <a:cxnLst/>
            <a:rect l="l" t="t" r="r" b="b"/>
            <a:pathLst>
              <a:path w="5219700" h="546100">
                <a:moveTo>
                  <a:pt x="5219700" y="0"/>
                </a:moveTo>
                <a:lnTo>
                  <a:pt x="0" y="0"/>
                </a:lnTo>
                <a:lnTo>
                  <a:pt x="0" y="545592"/>
                </a:lnTo>
                <a:lnTo>
                  <a:pt x="5219700" y="545592"/>
                </a:lnTo>
                <a:lnTo>
                  <a:pt x="5219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345" y="3862089"/>
            <a:ext cx="6578600" cy="12846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</a:pPr>
            <a:r>
              <a:rPr sz="1850" i="1" spc="65" dirty="0">
                <a:latin typeface="Times New Roman"/>
                <a:cs typeface="Times New Roman"/>
              </a:rPr>
              <a:t>P</a:t>
            </a:r>
            <a:r>
              <a:rPr sz="1850" spc="65" dirty="0">
                <a:latin typeface="Times New Roman"/>
                <a:cs typeface="Times New Roman"/>
              </a:rPr>
              <a:t>(</a:t>
            </a:r>
            <a:r>
              <a:rPr sz="1850" i="1" spc="65" dirty="0">
                <a:latin typeface="Times New Roman"/>
                <a:cs typeface="Times New Roman"/>
              </a:rPr>
              <a:t>HD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Yes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3825" spc="202" baseline="-7625" dirty="0">
                <a:latin typeface="Symbol"/>
                <a:cs typeface="Symbol"/>
              </a:rPr>
              <a:t></a:t>
            </a:r>
            <a:r>
              <a:rPr sz="3825" spc="-517" baseline="-7625" dirty="0">
                <a:latin typeface="Times New Roman"/>
                <a:cs typeface="Times New Roman"/>
              </a:rPr>
              <a:t> </a:t>
            </a:r>
            <a:r>
              <a:rPr sz="1850" i="1" spc="65" dirty="0">
                <a:latin typeface="Times New Roman"/>
                <a:cs typeface="Times New Roman"/>
              </a:rPr>
              <a:t>P</a:t>
            </a:r>
            <a:r>
              <a:rPr sz="1850" spc="65" dirty="0">
                <a:latin typeface="Times New Roman"/>
                <a:cs typeface="Times New Roman"/>
              </a:rPr>
              <a:t>(</a:t>
            </a:r>
            <a:r>
              <a:rPr sz="1850" i="1" spc="65" dirty="0">
                <a:latin typeface="Times New Roman"/>
                <a:cs typeface="Times New Roman"/>
              </a:rPr>
              <a:t>HD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17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yes</a:t>
            </a:r>
            <a:r>
              <a:rPr sz="1850" i="1" spc="-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</a:t>
            </a:r>
            <a:r>
              <a:rPr sz="1950" spc="-2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</a:t>
            </a:r>
            <a:r>
              <a:rPr sz="1850" i="1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Symbol"/>
                <a:cs typeface="Symbol"/>
              </a:rPr>
              <a:t></a:t>
            </a:r>
            <a:r>
              <a:rPr sz="1950" spc="-20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i="1" dirty="0">
                <a:latin typeface="Times New Roman"/>
                <a:cs typeface="Times New Roman"/>
              </a:rPr>
              <a:t>P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</a:t>
            </a:r>
            <a:r>
              <a:rPr sz="1950" spc="-2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</a:t>
            </a:r>
            <a:r>
              <a:rPr sz="1850" i="1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Symbol"/>
                <a:cs typeface="Symbol"/>
              </a:rPr>
              <a:t></a:t>
            </a:r>
            <a:r>
              <a:rPr sz="1950" spc="-21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1577975">
              <a:lnSpc>
                <a:spcPct val="100000"/>
              </a:lnSpc>
              <a:spcBef>
                <a:spcPts val="30"/>
              </a:spcBef>
              <a:tabLst>
                <a:tab pos="1851660" algn="l"/>
              </a:tabLst>
            </a:pPr>
            <a:r>
              <a:rPr sz="1250" spc="-50" dirty="0">
                <a:latin typeface="Symbol"/>
                <a:cs typeface="Symbol"/>
              </a:rPr>
              <a:t></a:t>
            </a:r>
            <a:r>
              <a:rPr sz="1250" dirty="0">
                <a:latin typeface="Times New Roman"/>
                <a:cs typeface="Times New Roman"/>
              </a:rPr>
              <a:t>	</a:t>
            </a:r>
            <a:r>
              <a:rPr sz="1250" spc="-50" dirty="0">
                <a:latin typeface="Symbol"/>
                <a:cs typeface="Symbol"/>
              </a:rPr>
              <a:t></a:t>
            </a:r>
            <a:endParaRPr sz="1250">
              <a:latin typeface="Symbol"/>
              <a:cs typeface="Symbol"/>
            </a:endParaRPr>
          </a:p>
          <a:p>
            <a:pPr marL="1382395">
              <a:lnSpc>
                <a:spcPct val="100000"/>
              </a:lnSpc>
              <a:spcBef>
                <a:spcPts val="715"/>
              </a:spcBef>
            </a:pPr>
            <a:r>
              <a:rPr sz="1850" dirty="0">
                <a:latin typeface="Symbol"/>
                <a:cs typeface="Symbol"/>
              </a:rPr>
              <a:t>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3825" spc="209" baseline="-7625" dirty="0">
                <a:latin typeface="Symbol"/>
                <a:cs typeface="Symbol"/>
              </a:rPr>
              <a:t></a:t>
            </a:r>
            <a:r>
              <a:rPr sz="3825" spc="-517" baseline="-7625" dirty="0">
                <a:latin typeface="Times New Roman"/>
                <a:cs typeface="Times New Roman"/>
              </a:rPr>
              <a:t> </a:t>
            </a:r>
            <a:r>
              <a:rPr sz="1850" i="1" spc="65" dirty="0">
                <a:latin typeface="Times New Roman"/>
                <a:cs typeface="Times New Roman"/>
              </a:rPr>
              <a:t>P</a:t>
            </a:r>
            <a:r>
              <a:rPr sz="1850" spc="65" dirty="0">
                <a:latin typeface="Times New Roman"/>
                <a:cs typeface="Times New Roman"/>
              </a:rPr>
              <a:t>(</a:t>
            </a:r>
            <a:r>
              <a:rPr sz="1850" i="1" spc="65" dirty="0">
                <a:latin typeface="Times New Roman"/>
                <a:cs typeface="Times New Roman"/>
              </a:rPr>
              <a:t>HD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16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yes</a:t>
            </a:r>
            <a:r>
              <a:rPr sz="1850" i="1" spc="-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</a:t>
            </a:r>
            <a:r>
              <a:rPr sz="1950" spc="-2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9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Symbol"/>
                <a:cs typeface="Symbol"/>
              </a:rPr>
              <a:t></a:t>
            </a:r>
            <a:r>
              <a:rPr sz="1950" spc="-220" dirty="0">
                <a:latin typeface="Times New Roman"/>
                <a:cs typeface="Times New Roman"/>
              </a:rPr>
              <a:t> </a:t>
            </a:r>
            <a:r>
              <a:rPr sz="1850" spc="50" dirty="0">
                <a:latin typeface="Times New Roman"/>
                <a:cs typeface="Times New Roman"/>
              </a:rPr>
              <a:t>)</a:t>
            </a:r>
            <a:r>
              <a:rPr sz="1850" i="1" spc="50" dirty="0">
                <a:latin typeface="Times New Roman"/>
                <a:cs typeface="Times New Roman"/>
              </a:rPr>
              <a:t>P</a:t>
            </a:r>
            <a:r>
              <a:rPr sz="1850" spc="50" dirty="0">
                <a:latin typeface="Times New Roman"/>
                <a:cs typeface="Times New Roman"/>
              </a:rPr>
              <a:t>(</a:t>
            </a:r>
            <a:r>
              <a:rPr sz="1850" i="1" spc="50" dirty="0">
                <a:latin typeface="Times New Roman"/>
                <a:cs typeface="Times New Roman"/>
              </a:rPr>
              <a:t>E</a:t>
            </a:r>
            <a:r>
              <a:rPr sz="1850" i="1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75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</a:t>
            </a:r>
            <a:r>
              <a:rPr sz="1950" spc="-265" dirty="0">
                <a:latin typeface="Times New Roman"/>
                <a:cs typeface="Times New Roman"/>
              </a:rPr>
              <a:t> </a:t>
            </a:r>
            <a:r>
              <a:rPr sz="1850" spc="85" dirty="0">
                <a:latin typeface="Times New Roman"/>
                <a:cs typeface="Times New Roman"/>
              </a:rPr>
              <a:t>)</a:t>
            </a:r>
            <a:r>
              <a:rPr sz="1850" i="1" spc="85" dirty="0">
                <a:latin typeface="Times New Roman"/>
                <a:cs typeface="Times New Roman"/>
              </a:rPr>
              <a:t>P</a:t>
            </a:r>
            <a:r>
              <a:rPr sz="1850" spc="85" dirty="0">
                <a:latin typeface="Times New Roman"/>
                <a:cs typeface="Times New Roman"/>
              </a:rPr>
              <a:t>(</a:t>
            </a:r>
            <a:r>
              <a:rPr sz="1850" i="1" spc="85" dirty="0">
                <a:latin typeface="Times New Roman"/>
                <a:cs typeface="Times New Roman"/>
              </a:rPr>
              <a:t>D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950" spc="-40" dirty="0">
                <a:latin typeface="Symbol"/>
                <a:cs typeface="Symbol"/>
              </a:rPr>
              <a:t></a:t>
            </a:r>
            <a:r>
              <a:rPr sz="1950" spc="-21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1619885">
              <a:lnSpc>
                <a:spcPct val="100000"/>
              </a:lnSpc>
              <a:spcBef>
                <a:spcPts val="30"/>
              </a:spcBef>
              <a:tabLst>
                <a:tab pos="1894205" algn="l"/>
              </a:tabLst>
            </a:pPr>
            <a:r>
              <a:rPr sz="1250" spc="-50" dirty="0">
                <a:latin typeface="Symbol"/>
                <a:cs typeface="Symbol"/>
              </a:rPr>
              <a:t></a:t>
            </a:r>
            <a:r>
              <a:rPr sz="1250" dirty="0">
                <a:latin typeface="Times New Roman"/>
                <a:cs typeface="Times New Roman"/>
              </a:rPr>
              <a:t>	</a:t>
            </a:r>
            <a:r>
              <a:rPr sz="1250" spc="-50" dirty="0">
                <a:latin typeface="Symbol"/>
                <a:cs typeface="Symbol"/>
              </a:rPr>
              <a:t>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2600" y="5257800"/>
            <a:ext cx="5262880" cy="1004569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2190"/>
              </a:lnSpc>
            </a:pPr>
            <a:r>
              <a:rPr sz="1900" dirty="0">
                <a:latin typeface="Symbol"/>
                <a:cs typeface="Symbol"/>
              </a:rPr>
              <a:t>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0.25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0.7</a:t>
            </a:r>
            <a:r>
              <a:rPr sz="1900" spc="-1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0.25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0.45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0.7</a:t>
            </a:r>
            <a:r>
              <a:rPr sz="1900" spc="-1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7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0.75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0.55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0.3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0.25</a:t>
            </a:r>
            <a:endParaRPr sz="19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565"/>
              </a:spcBef>
            </a:pPr>
            <a:r>
              <a:rPr sz="1900" dirty="0">
                <a:latin typeface="Symbol"/>
                <a:cs typeface="Symbol"/>
              </a:rPr>
              <a:t>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0.75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0.3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0.75</a:t>
            </a:r>
            <a:endParaRPr sz="1900">
              <a:latin typeface="Times New Roman"/>
              <a:cs typeface="Times New Roman"/>
            </a:endParaRPr>
          </a:p>
          <a:p>
            <a:pPr marL="40005">
              <a:lnSpc>
                <a:spcPct val="100000"/>
              </a:lnSpc>
              <a:spcBef>
                <a:spcPts val="565"/>
              </a:spcBef>
            </a:pPr>
            <a:r>
              <a:rPr sz="1900" dirty="0">
                <a:latin typeface="Symbol"/>
                <a:cs typeface="Symbol"/>
              </a:rPr>
              <a:t></a:t>
            </a:r>
            <a:r>
              <a:rPr sz="1900" spc="-9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0.49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0311" y="507491"/>
            <a:ext cx="5123688" cy="337870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5354523"/>
            <a:ext cx="63455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F41D"/>
                </a:solidFill>
                <a:latin typeface="Calibri"/>
                <a:cs typeface="Calibri"/>
              </a:rPr>
              <a:t>Calculate</a:t>
            </a:r>
            <a:r>
              <a:rPr sz="4000" spc="-150" dirty="0">
                <a:solidFill>
                  <a:srgbClr val="FFF41D"/>
                </a:solidFill>
                <a:latin typeface="Calibri"/>
                <a:cs typeface="Calibri"/>
              </a:rPr>
              <a:t> </a:t>
            </a:r>
            <a:r>
              <a:rPr sz="4000" spc="-10" dirty="0">
                <a:solidFill>
                  <a:srgbClr val="FFF41D"/>
                </a:solidFill>
                <a:latin typeface="Calibri"/>
                <a:cs typeface="Calibri"/>
              </a:rPr>
              <a:t>P(HD=yes|BP=High)?</a:t>
            </a:r>
            <a:endParaRPr sz="4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81000"/>
            <a:ext cx="7281672" cy="4800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8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Calculate</a:t>
            </a:r>
            <a:r>
              <a:rPr spc="-85" dirty="0"/>
              <a:t> </a:t>
            </a:r>
            <a:r>
              <a:rPr spc="-10" dirty="0"/>
              <a:t>P(HD=yes|BP=High)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0311" y="507491"/>
            <a:ext cx="5123688" cy="33787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045964" y="4709159"/>
            <a:ext cx="3823970" cy="696595"/>
            <a:chOff x="5045964" y="4709159"/>
            <a:chExt cx="3823970" cy="696595"/>
          </a:xfrm>
        </p:grpSpPr>
        <p:sp>
          <p:nvSpPr>
            <p:cNvPr id="5" name="object 5"/>
            <p:cNvSpPr/>
            <p:nvPr/>
          </p:nvSpPr>
          <p:spPr>
            <a:xfrm>
              <a:off x="5045964" y="4709159"/>
              <a:ext cx="3823970" cy="696595"/>
            </a:xfrm>
            <a:custGeom>
              <a:avLst/>
              <a:gdLst/>
              <a:ahLst/>
              <a:cxnLst/>
              <a:rect l="l" t="t" r="r" b="b"/>
              <a:pathLst>
                <a:path w="3823970" h="696595">
                  <a:moveTo>
                    <a:pt x="3823716" y="0"/>
                  </a:moveTo>
                  <a:lnTo>
                    <a:pt x="0" y="0"/>
                  </a:lnTo>
                  <a:lnTo>
                    <a:pt x="0" y="696467"/>
                  </a:lnTo>
                  <a:lnTo>
                    <a:pt x="3823716" y="696467"/>
                  </a:lnTo>
                  <a:lnTo>
                    <a:pt x="38237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89642" y="5040284"/>
              <a:ext cx="3721735" cy="0"/>
            </a:xfrm>
            <a:custGeom>
              <a:avLst/>
              <a:gdLst/>
              <a:ahLst/>
              <a:cxnLst/>
              <a:rect l="l" t="t" r="r" b="b"/>
              <a:pathLst>
                <a:path w="3721734">
                  <a:moveTo>
                    <a:pt x="0" y="0"/>
                  </a:moveTo>
                  <a:lnTo>
                    <a:pt x="3721632" y="0"/>
                  </a:lnTo>
                </a:path>
              </a:pathLst>
            </a:custGeom>
            <a:ln w="109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45964" y="4709159"/>
            <a:ext cx="3823970" cy="6965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BP</a:t>
            </a:r>
            <a:r>
              <a:rPr sz="1850" i="1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High</a:t>
            </a:r>
            <a:r>
              <a:rPr sz="1850" i="1" spc="-1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i="1" spc="50" dirty="0">
                <a:latin typeface="Times New Roman"/>
                <a:cs typeface="Times New Roman"/>
              </a:rPr>
              <a:t>HD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165" dirty="0">
                <a:latin typeface="Times New Roman"/>
                <a:cs typeface="Times New Roman"/>
              </a:rPr>
              <a:t> </a:t>
            </a:r>
            <a:r>
              <a:rPr sz="1850" i="1" spc="55" dirty="0">
                <a:latin typeface="Times New Roman"/>
                <a:cs typeface="Times New Roman"/>
              </a:rPr>
              <a:t>yes</a:t>
            </a:r>
            <a:r>
              <a:rPr sz="1850" spc="55" dirty="0">
                <a:latin typeface="Times New Roman"/>
                <a:cs typeface="Times New Roman"/>
              </a:rPr>
              <a:t>)</a:t>
            </a: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HD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165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Times New Roman"/>
                <a:cs typeface="Times New Roman"/>
              </a:rPr>
              <a:t>yes</a:t>
            </a:r>
            <a:r>
              <a:rPr sz="1850" spc="-2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BP</a:t>
            </a:r>
            <a:r>
              <a:rPr sz="1850" i="1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Times New Roman"/>
                <a:cs typeface="Times New Roman"/>
              </a:rPr>
              <a:t>High</a:t>
            </a:r>
            <a:r>
              <a:rPr sz="1850" spc="-2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77723" y="4853940"/>
            <a:ext cx="2513330" cy="32766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2130"/>
              </a:lnSpc>
            </a:pPr>
            <a:r>
              <a:rPr sz="1900" i="1" spc="50" dirty="0">
                <a:latin typeface="Times New Roman"/>
                <a:cs typeface="Times New Roman"/>
              </a:rPr>
              <a:t>P</a:t>
            </a:r>
            <a:r>
              <a:rPr sz="1900" spc="50" dirty="0">
                <a:latin typeface="Times New Roman"/>
                <a:cs typeface="Times New Roman"/>
              </a:rPr>
              <a:t>(</a:t>
            </a:r>
            <a:r>
              <a:rPr sz="1900" i="1" spc="50" dirty="0">
                <a:latin typeface="Times New Roman"/>
                <a:cs typeface="Times New Roman"/>
              </a:rPr>
              <a:t>HD</a:t>
            </a:r>
            <a:r>
              <a:rPr sz="1900" i="1" spc="-14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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yes</a:t>
            </a:r>
            <a:r>
              <a:rPr sz="1900" i="1" spc="-2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-5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Symbol"/>
                <a:cs typeface="Symbol"/>
              </a:rPr>
              <a:t>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High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3598" y="4797044"/>
            <a:ext cx="2329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4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written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8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Calculate</a:t>
            </a:r>
            <a:r>
              <a:rPr spc="-85" dirty="0"/>
              <a:t> </a:t>
            </a:r>
            <a:r>
              <a:rPr spc="-10" dirty="0"/>
              <a:t>P(HD=yes|BP=High)</a:t>
            </a:r>
          </a:p>
        </p:txBody>
      </p:sp>
      <p:sp>
        <p:nvSpPr>
          <p:cNvPr id="3" name="object 3"/>
          <p:cNvSpPr/>
          <p:nvPr/>
        </p:nvSpPr>
        <p:spPr>
          <a:xfrm>
            <a:off x="990600" y="4648200"/>
            <a:ext cx="5177155" cy="544195"/>
          </a:xfrm>
          <a:custGeom>
            <a:avLst/>
            <a:gdLst/>
            <a:ahLst/>
            <a:cxnLst/>
            <a:rect l="l" t="t" r="r" b="b"/>
            <a:pathLst>
              <a:path w="5177155" h="544195">
                <a:moveTo>
                  <a:pt x="5177028" y="0"/>
                </a:moveTo>
                <a:lnTo>
                  <a:pt x="0" y="0"/>
                </a:lnTo>
                <a:lnTo>
                  <a:pt x="0" y="544068"/>
                </a:lnTo>
                <a:lnTo>
                  <a:pt x="5177028" y="544068"/>
                </a:lnTo>
                <a:lnTo>
                  <a:pt x="517702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0311" y="507491"/>
            <a:ext cx="5123688" cy="337870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80744" y="4548137"/>
            <a:ext cx="7080884" cy="1444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10"/>
              </a:spcBef>
            </a:pP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BP</a:t>
            </a:r>
            <a:r>
              <a:rPr sz="1850" i="1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High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3825" baseline="-7625" dirty="0">
                <a:latin typeface="Symbol"/>
                <a:cs typeface="Symbol"/>
              </a:rPr>
              <a:t></a:t>
            </a:r>
            <a:r>
              <a:rPr sz="3825" spc="-509" baseline="-7625" dirty="0">
                <a:latin typeface="Times New Roman"/>
                <a:cs typeface="Times New Roman"/>
              </a:rPr>
              <a:t> </a:t>
            </a: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BP</a:t>
            </a:r>
            <a:r>
              <a:rPr sz="1850" i="1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high</a:t>
            </a:r>
            <a:r>
              <a:rPr sz="1850" i="1" spc="-1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HD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</a:t>
            </a:r>
            <a:r>
              <a:rPr sz="1950" spc="-120" dirty="0">
                <a:latin typeface="Times New Roman"/>
                <a:cs typeface="Times New Roman"/>
              </a:rPr>
              <a:t> </a:t>
            </a:r>
            <a:r>
              <a:rPr sz="1850" spc="80" dirty="0">
                <a:latin typeface="Times New Roman"/>
                <a:cs typeface="Times New Roman"/>
              </a:rPr>
              <a:t>)</a:t>
            </a:r>
            <a:r>
              <a:rPr sz="1850" i="1" spc="80" dirty="0">
                <a:latin typeface="Times New Roman"/>
                <a:cs typeface="Times New Roman"/>
              </a:rPr>
              <a:t>P</a:t>
            </a:r>
            <a:r>
              <a:rPr sz="1850" spc="80" dirty="0">
                <a:latin typeface="Times New Roman"/>
                <a:cs typeface="Times New Roman"/>
              </a:rPr>
              <a:t>(</a:t>
            </a:r>
            <a:r>
              <a:rPr sz="1850" i="1" spc="80" dirty="0">
                <a:latin typeface="Times New Roman"/>
                <a:cs typeface="Times New Roman"/>
              </a:rPr>
              <a:t>HD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</a:t>
            </a:r>
            <a:r>
              <a:rPr sz="1950" spc="-12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1719580">
              <a:lnSpc>
                <a:spcPct val="100000"/>
              </a:lnSpc>
              <a:spcBef>
                <a:spcPts val="20"/>
              </a:spcBef>
            </a:pPr>
            <a:r>
              <a:rPr sz="1250" spc="-50" dirty="0">
                <a:latin typeface="Symbol"/>
                <a:cs typeface="Symbol"/>
              </a:rPr>
              <a:t></a:t>
            </a:r>
            <a:endParaRPr sz="1250">
              <a:latin typeface="Symbol"/>
              <a:cs typeface="Symbol"/>
            </a:endParaRPr>
          </a:p>
          <a:p>
            <a:pPr marL="25400">
              <a:lnSpc>
                <a:spcPts val="2870"/>
              </a:lnSpc>
              <a:spcBef>
                <a:spcPts val="845"/>
              </a:spcBef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where,</a:t>
            </a:r>
            <a:endParaRPr sz="2400">
              <a:latin typeface="Arial MT"/>
              <a:cs typeface="Arial MT"/>
            </a:endParaRPr>
          </a:p>
          <a:p>
            <a:pPr marL="25400">
              <a:lnSpc>
                <a:spcPts val="2870"/>
              </a:lnSpc>
              <a:tabLst>
                <a:tab pos="5534025" algn="l"/>
              </a:tabLst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γ</a:t>
            </a:r>
            <a:r>
              <a:rPr sz="2400" i="1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Heart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Disease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(HD)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	=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{Yes,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No}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8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Calculate</a:t>
            </a:r>
            <a:r>
              <a:rPr spc="-85" dirty="0"/>
              <a:t> </a:t>
            </a:r>
            <a:r>
              <a:rPr spc="-10" dirty="0"/>
              <a:t>P(HD=yes|BP=High)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0600" y="4267200"/>
            <a:ext cx="5177155" cy="91630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ts val="2495"/>
              </a:lnSpc>
            </a:pP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High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3825" baseline="-7625" dirty="0">
                <a:latin typeface="Symbol"/>
                <a:cs typeface="Symbol"/>
              </a:rPr>
              <a:t></a:t>
            </a:r>
            <a:r>
              <a:rPr sz="3825" spc="-547" baseline="-762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BP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high</a:t>
            </a:r>
            <a:r>
              <a:rPr sz="1900" i="1" spc="-1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HD</a:t>
            </a:r>
            <a:r>
              <a:rPr sz="1900" i="1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Symbol"/>
                <a:cs typeface="Symbol"/>
              </a:rPr>
              <a:t>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1900" spc="45" dirty="0">
                <a:latin typeface="Times New Roman"/>
                <a:cs typeface="Times New Roman"/>
              </a:rPr>
              <a:t>)</a:t>
            </a:r>
            <a:r>
              <a:rPr sz="1900" i="1" spc="45" dirty="0">
                <a:latin typeface="Times New Roman"/>
                <a:cs typeface="Times New Roman"/>
              </a:rPr>
              <a:t>P</a:t>
            </a:r>
            <a:r>
              <a:rPr sz="1900" spc="45" dirty="0">
                <a:latin typeface="Times New Roman"/>
                <a:cs typeface="Times New Roman"/>
              </a:rPr>
              <a:t>(</a:t>
            </a:r>
            <a:r>
              <a:rPr sz="1900" i="1" spc="45" dirty="0">
                <a:latin typeface="Times New Roman"/>
                <a:cs typeface="Times New Roman"/>
              </a:rPr>
              <a:t>HD</a:t>
            </a:r>
            <a:r>
              <a:rPr sz="1900" i="1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Symbol"/>
                <a:cs typeface="Symbol"/>
              </a:rPr>
              <a:t>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1709420">
              <a:lnSpc>
                <a:spcPct val="100000"/>
              </a:lnSpc>
              <a:spcBef>
                <a:spcPts val="40"/>
              </a:spcBef>
            </a:pPr>
            <a:r>
              <a:rPr sz="1250" spc="-50" dirty="0">
                <a:latin typeface="Symbol"/>
                <a:cs typeface="Symbol"/>
              </a:rPr>
              <a:t></a:t>
            </a:r>
            <a:endParaRPr sz="1250">
              <a:latin typeface="Symbol"/>
              <a:cs typeface="Symbol"/>
            </a:endParaRPr>
          </a:p>
          <a:p>
            <a:pPr marL="597535">
              <a:lnSpc>
                <a:spcPct val="100000"/>
              </a:lnSpc>
              <a:spcBef>
                <a:spcPts val="490"/>
              </a:spcBef>
            </a:pPr>
            <a:r>
              <a:rPr sz="1900" dirty="0">
                <a:latin typeface="Symbol"/>
                <a:cs typeface="Symbol"/>
              </a:rPr>
              <a:t>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0.85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2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0.49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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0.2</a:t>
            </a:r>
            <a:r>
              <a:rPr sz="1900" spc="-2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2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0.51</a:t>
            </a:r>
            <a:r>
              <a:rPr sz="1900" spc="-2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0.5185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0311" y="507491"/>
            <a:ext cx="5123688" cy="33787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185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Calculate</a:t>
            </a:r>
            <a:r>
              <a:rPr spc="-85" dirty="0"/>
              <a:t> </a:t>
            </a:r>
            <a:r>
              <a:rPr spc="-10" dirty="0"/>
              <a:t>P(HD=yes|BP=High)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0311" y="507491"/>
            <a:ext cx="5123688" cy="33787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82267" y="4613147"/>
            <a:ext cx="6466840" cy="1330960"/>
            <a:chOff x="1382267" y="4613147"/>
            <a:chExt cx="6466840" cy="1330960"/>
          </a:xfrm>
        </p:grpSpPr>
        <p:sp>
          <p:nvSpPr>
            <p:cNvPr id="5" name="object 5"/>
            <p:cNvSpPr/>
            <p:nvPr/>
          </p:nvSpPr>
          <p:spPr>
            <a:xfrm>
              <a:off x="1382267" y="4613147"/>
              <a:ext cx="6466840" cy="1330960"/>
            </a:xfrm>
            <a:custGeom>
              <a:avLst/>
              <a:gdLst/>
              <a:ahLst/>
              <a:cxnLst/>
              <a:rect l="l" t="t" r="r" b="b"/>
              <a:pathLst>
                <a:path w="6466840" h="1330960">
                  <a:moveTo>
                    <a:pt x="6466332" y="0"/>
                  </a:moveTo>
                  <a:lnTo>
                    <a:pt x="0" y="0"/>
                  </a:lnTo>
                  <a:lnTo>
                    <a:pt x="0" y="1330452"/>
                  </a:lnTo>
                  <a:lnTo>
                    <a:pt x="6466332" y="1330452"/>
                  </a:lnTo>
                  <a:lnTo>
                    <a:pt x="64663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086092" y="4935649"/>
              <a:ext cx="3716654" cy="695325"/>
            </a:xfrm>
            <a:custGeom>
              <a:avLst/>
              <a:gdLst/>
              <a:ahLst/>
              <a:cxnLst/>
              <a:rect l="l" t="t" r="r" b="b"/>
              <a:pathLst>
                <a:path w="3716654" h="695325">
                  <a:moveTo>
                    <a:pt x="0" y="0"/>
                  </a:moveTo>
                  <a:lnTo>
                    <a:pt x="3716505" y="0"/>
                  </a:lnTo>
                </a:path>
                <a:path w="3716654" h="695325">
                  <a:moveTo>
                    <a:pt x="229788" y="694831"/>
                  </a:moveTo>
                  <a:lnTo>
                    <a:pt x="1285853" y="694831"/>
                  </a:lnTo>
                </a:path>
              </a:pathLst>
            </a:custGeom>
            <a:ln w="11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91093" y="4540008"/>
            <a:ext cx="6450330" cy="139890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40"/>
              </a:spcBef>
            </a:pPr>
            <a:r>
              <a:rPr sz="2775" i="1" spc="104" baseline="-36036" dirty="0">
                <a:latin typeface="Times New Roman"/>
                <a:cs typeface="Times New Roman"/>
              </a:rPr>
              <a:t>P</a:t>
            </a:r>
            <a:r>
              <a:rPr sz="2775" spc="104" baseline="-36036" dirty="0">
                <a:latin typeface="Times New Roman"/>
                <a:cs typeface="Times New Roman"/>
              </a:rPr>
              <a:t>(</a:t>
            </a:r>
            <a:r>
              <a:rPr sz="2775" i="1" spc="104" baseline="-36036" dirty="0">
                <a:latin typeface="Times New Roman"/>
                <a:cs typeface="Times New Roman"/>
              </a:rPr>
              <a:t>HD</a:t>
            </a:r>
            <a:r>
              <a:rPr sz="2775" i="1" spc="-44" baseline="-36036" dirty="0">
                <a:latin typeface="Times New Roman"/>
                <a:cs typeface="Times New Roman"/>
              </a:rPr>
              <a:t> </a:t>
            </a:r>
            <a:r>
              <a:rPr sz="2775" baseline="-36036" dirty="0">
                <a:latin typeface="Symbol"/>
                <a:cs typeface="Symbol"/>
              </a:rPr>
              <a:t></a:t>
            </a:r>
            <a:r>
              <a:rPr sz="2775" spc="270" baseline="-36036" dirty="0">
                <a:latin typeface="Times New Roman"/>
                <a:cs typeface="Times New Roman"/>
              </a:rPr>
              <a:t> </a:t>
            </a:r>
            <a:r>
              <a:rPr sz="2775" i="1" baseline="-36036" dirty="0">
                <a:latin typeface="Times New Roman"/>
                <a:cs typeface="Times New Roman"/>
              </a:rPr>
              <a:t>yes</a:t>
            </a:r>
            <a:r>
              <a:rPr sz="2775" i="1" spc="-284" baseline="-36036" dirty="0">
                <a:latin typeface="Times New Roman"/>
                <a:cs typeface="Times New Roman"/>
              </a:rPr>
              <a:t> </a:t>
            </a:r>
            <a:r>
              <a:rPr sz="2775" baseline="-36036" dirty="0">
                <a:latin typeface="Times New Roman"/>
                <a:cs typeface="Times New Roman"/>
              </a:rPr>
              <a:t>|</a:t>
            </a:r>
            <a:r>
              <a:rPr sz="2775" spc="-44" baseline="-36036" dirty="0">
                <a:latin typeface="Times New Roman"/>
                <a:cs typeface="Times New Roman"/>
              </a:rPr>
              <a:t> </a:t>
            </a:r>
            <a:r>
              <a:rPr sz="2775" i="1" baseline="-36036" dirty="0">
                <a:latin typeface="Times New Roman"/>
                <a:cs typeface="Times New Roman"/>
              </a:rPr>
              <a:t>BP</a:t>
            </a:r>
            <a:r>
              <a:rPr sz="2775" i="1" spc="67" baseline="-36036" dirty="0">
                <a:latin typeface="Times New Roman"/>
                <a:cs typeface="Times New Roman"/>
              </a:rPr>
              <a:t> </a:t>
            </a:r>
            <a:r>
              <a:rPr sz="2775" baseline="-36036" dirty="0">
                <a:latin typeface="Symbol"/>
                <a:cs typeface="Symbol"/>
              </a:rPr>
              <a:t></a:t>
            </a:r>
            <a:r>
              <a:rPr sz="2775" spc="75" baseline="-36036" dirty="0">
                <a:latin typeface="Times New Roman"/>
                <a:cs typeface="Times New Roman"/>
              </a:rPr>
              <a:t> </a:t>
            </a:r>
            <a:r>
              <a:rPr sz="2775" i="1" baseline="-36036" dirty="0">
                <a:latin typeface="Times New Roman"/>
                <a:cs typeface="Times New Roman"/>
              </a:rPr>
              <a:t>High</a:t>
            </a:r>
            <a:r>
              <a:rPr sz="2775" baseline="-36036" dirty="0">
                <a:latin typeface="Times New Roman"/>
                <a:cs typeface="Times New Roman"/>
              </a:rPr>
              <a:t>)</a:t>
            </a:r>
            <a:r>
              <a:rPr sz="2775" spc="-15" baseline="-36036" dirty="0">
                <a:latin typeface="Times New Roman"/>
                <a:cs typeface="Times New Roman"/>
              </a:rPr>
              <a:t> </a:t>
            </a:r>
            <a:r>
              <a:rPr sz="2775" baseline="-36036" dirty="0">
                <a:latin typeface="Symbol"/>
                <a:cs typeface="Symbol"/>
              </a:rPr>
              <a:t></a:t>
            </a:r>
            <a:r>
              <a:rPr sz="2775" spc="359" baseline="-36036" dirty="0">
                <a:latin typeface="Times New Roman"/>
                <a:cs typeface="Times New Roman"/>
              </a:rPr>
              <a:t> </a:t>
            </a:r>
            <a:r>
              <a:rPr sz="1850" i="1" spc="60" dirty="0">
                <a:latin typeface="Times New Roman"/>
                <a:cs typeface="Times New Roman"/>
              </a:rPr>
              <a:t>P</a:t>
            </a:r>
            <a:r>
              <a:rPr sz="1850" spc="60" dirty="0">
                <a:latin typeface="Times New Roman"/>
                <a:cs typeface="Times New Roman"/>
              </a:rPr>
              <a:t>(</a:t>
            </a:r>
            <a:r>
              <a:rPr sz="1850" i="1" spc="60" dirty="0">
                <a:latin typeface="Times New Roman"/>
                <a:cs typeface="Times New Roman"/>
              </a:rPr>
              <a:t>BP</a:t>
            </a:r>
            <a:r>
              <a:rPr sz="1850" i="1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High</a:t>
            </a:r>
            <a:r>
              <a:rPr sz="1850" i="1" spc="-1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HD</a:t>
            </a:r>
            <a:r>
              <a:rPr sz="1850" i="1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175" dirty="0">
                <a:latin typeface="Times New Roman"/>
                <a:cs typeface="Times New Roman"/>
              </a:rPr>
              <a:t> </a:t>
            </a:r>
            <a:r>
              <a:rPr sz="1850" i="1" spc="55" dirty="0">
                <a:latin typeface="Times New Roman"/>
                <a:cs typeface="Times New Roman"/>
              </a:rPr>
              <a:t>yes</a:t>
            </a:r>
            <a:r>
              <a:rPr sz="1850" spc="55" dirty="0">
                <a:latin typeface="Times New Roman"/>
                <a:cs typeface="Times New Roman"/>
              </a:rPr>
              <a:t>)</a:t>
            </a: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HD</a:t>
            </a:r>
            <a:r>
              <a:rPr sz="1850" i="1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175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Times New Roman"/>
                <a:cs typeface="Times New Roman"/>
              </a:rPr>
              <a:t>yes</a:t>
            </a:r>
            <a:r>
              <a:rPr sz="1850" spc="-2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3880485">
              <a:lnSpc>
                <a:spcPct val="100000"/>
              </a:lnSpc>
              <a:spcBef>
                <a:spcPts val="455"/>
              </a:spcBef>
            </a:pPr>
            <a:r>
              <a:rPr sz="1850" i="1" spc="60" dirty="0">
                <a:latin typeface="Times New Roman"/>
                <a:cs typeface="Times New Roman"/>
              </a:rPr>
              <a:t>P</a:t>
            </a:r>
            <a:r>
              <a:rPr sz="1850" spc="60" dirty="0">
                <a:latin typeface="Times New Roman"/>
                <a:cs typeface="Times New Roman"/>
              </a:rPr>
              <a:t>(</a:t>
            </a:r>
            <a:r>
              <a:rPr sz="1850" i="1" spc="60" dirty="0">
                <a:latin typeface="Times New Roman"/>
                <a:cs typeface="Times New Roman"/>
              </a:rPr>
              <a:t>BP</a:t>
            </a:r>
            <a:r>
              <a:rPr sz="1850" i="1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Times New Roman"/>
                <a:cs typeface="Times New Roman"/>
              </a:rPr>
              <a:t>High</a:t>
            </a:r>
            <a:r>
              <a:rPr sz="1850" spc="-2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2734945">
              <a:lnSpc>
                <a:spcPct val="100000"/>
              </a:lnSpc>
              <a:spcBef>
                <a:spcPts val="580"/>
              </a:spcBef>
            </a:pPr>
            <a:r>
              <a:rPr sz="2775" baseline="-36036" dirty="0">
                <a:latin typeface="Symbol"/>
                <a:cs typeface="Symbol"/>
              </a:rPr>
              <a:t></a:t>
            </a:r>
            <a:r>
              <a:rPr sz="2775" spc="195" baseline="-36036" dirty="0">
                <a:latin typeface="Times New Roman"/>
                <a:cs typeface="Times New Roman"/>
              </a:rPr>
              <a:t> </a:t>
            </a:r>
            <a:r>
              <a:rPr sz="1850" spc="50" dirty="0">
                <a:latin typeface="Times New Roman"/>
                <a:cs typeface="Times New Roman"/>
              </a:rPr>
              <a:t>0.85</a:t>
            </a:r>
            <a:r>
              <a:rPr sz="1850" spc="50" dirty="0">
                <a:latin typeface="Symbol"/>
                <a:cs typeface="Symbol"/>
              </a:rPr>
              <a:t></a:t>
            </a:r>
            <a:r>
              <a:rPr sz="1850" spc="-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0.49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2775" baseline="-36036" dirty="0">
                <a:latin typeface="Symbol"/>
                <a:cs typeface="Symbol"/>
              </a:rPr>
              <a:t></a:t>
            </a:r>
            <a:r>
              <a:rPr sz="2775" spc="-75" baseline="-36036" dirty="0">
                <a:latin typeface="Times New Roman"/>
                <a:cs typeface="Times New Roman"/>
              </a:rPr>
              <a:t> </a:t>
            </a:r>
            <a:r>
              <a:rPr sz="2775" spc="-15" baseline="-36036" dirty="0">
                <a:latin typeface="Times New Roman"/>
                <a:cs typeface="Times New Roman"/>
              </a:rPr>
              <a:t>0.8033</a:t>
            </a:r>
            <a:endParaRPr sz="2775" baseline="-36036">
              <a:latin typeface="Times New Roman"/>
              <a:cs typeface="Times New Roman"/>
            </a:endParaRPr>
          </a:p>
          <a:p>
            <a:pPr marL="468630" algn="ctr">
              <a:lnSpc>
                <a:spcPct val="100000"/>
              </a:lnSpc>
              <a:spcBef>
                <a:spcPts val="445"/>
              </a:spcBef>
            </a:pPr>
            <a:r>
              <a:rPr sz="1850" spc="-10" dirty="0">
                <a:latin typeface="Times New Roman"/>
                <a:cs typeface="Times New Roman"/>
              </a:rPr>
              <a:t>0.5185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1674" y="5381955"/>
            <a:ext cx="7064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41D"/>
                </a:solidFill>
                <a:latin typeface="Calibri"/>
                <a:cs typeface="Calibri"/>
              </a:rPr>
              <a:t>Calculate</a:t>
            </a:r>
            <a:r>
              <a:rPr sz="2800" spc="-114" dirty="0">
                <a:solidFill>
                  <a:srgbClr val="FFF41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41D"/>
                </a:solidFill>
                <a:latin typeface="Calibri"/>
                <a:cs typeface="Calibri"/>
              </a:rPr>
              <a:t>P(HD=yes|BP=high,</a:t>
            </a:r>
            <a:r>
              <a:rPr sz="2800" spc="-65" dirty="0">
                <a:solidFill>
                  <a:srgbClr val="FFF41D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41D"/>
                </a:solidFill>
                <a:latin typeface="Calibri"/>
                <a:cs typeface="Calibri"/>
              </a:rPr>
              <a:t>D=Healthy,</a:t>
            </a:r>
            <a:r>
              <a:rPr sz="2800" spc="-70" dirty="0">
                <a:solidFill>
                  <a:srgbClr val="FFF41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41D"/>
                </a:solidFill>
                <a:latin typeface="Calibri"/>
                <a:cs typeface="Calibri"/>
              </a:rPr>
              <a:t>E=yes)?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81000"/>
            <a:ext cx="7281672" cy="4800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54355"/>
            <a:ext cx="6126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Calculate</a:t>
            </a:r>
            <a:r>
              <a:rPr spc="-65" dirty="0"/>
              <a:t> </a:t>
            </a:r>
            <a:r>
              <a:rPr spc="-10" dirty="0"/>
              <a:t>P(HD=yes|BP=high,</a:t>
            </a:r>
            <a:r>
              <a:rPr spc="-70" dirty="0"/>
              <a:t> </a:t>
            </a:r>
            <a:r>
              <a:rPr spc="-25" dirty="0"/>
              <a:t>D=Healthy,</a:t>
            </a:r>
            <a:r>
              <a:rPr spc="-55" dirty="0"/>
              <a:t> </a:t>
            </a:r>
            <a:r>
              <a:rPr dirty="0"/>
              <a:t>E=yes)</a:t>
            </a:r>
            <a:r>
              <a:rPr spc="-45" dirty="0"/>
              <a:t> </a:t>
            </a:r>
            <a:r>
              <a:rPr spc="-50" dirty="0"/>
              <a:t>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3400" y="4191000"/>
            <a:ext cx="8365490" cy="1026160"/>
            <a:chOff x="533400" y="4191000"/>
            <a:chExt cx="8365490" cy="1026160"/>
          </a:xfrm>
        </p:grpSpPr>
        <p:sp>
          <p:nvSpPr>
            <p:cNvPr id="4" name="object 4"/>
            <p:cNvSpPr/>
            <p:nvPr/>
          </p:nvSpPr>
          <p:spPr>
            <a:xfrm>
              <a:off x="533400" y="4191000"/>
              <a:ext cx="8365490" cy="1026160"/>
            </a:xfrm>
            <a:custGeom>
              <a:avLst/>
              <a:gdLst/>
              <a:ahLst/>
              <a:cxnLst/>
              <a:rect l="l" t="t" r="r" b="b"/>
              <a:pathLst>
                <a:path w="8365490" h="1026160">
                  <a:moveTo>
                    <a:pt x="8365235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365235" y="1025651"/>
                  </a:lnTo>
                  <a:lnTo>
                    <a:pt x="8365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901" y="4860195"/>
              <a:ext cx="4479925" cy="0"/>
            </a:xfrm>
            <a:custGeom>
              <a:avLst/>
              <a:gdLst/>
              <a:ahLst/>
              <a:cxnLst/>
              <a:rect l="l" t="t" r="r" b="b"/>
              <a:pathLst>
                <a:path w="4479925">
                  <a:moveTo>
                    <a:pt x="0" y="0"/>
                  </a:moveTo>
                  <a:lnTo>
                    <a:pt x="4479865" y="0"/>
                  </a:lnTo>
                </a:path>
              </a:pathLst>
            </a:custGeom>
            <a:ln w="109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22697" y="4082031"/>
            <a:ext cx="8385175" cy="108839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660"/>
              </a:spcBef>
            </a:pP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HD</a:t>
            </a:r>
            <a:r>
              <a:rPr sz="1900" i="1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yes</a:t>
            </a:r>
            <a:r>
              <a:rPr sz="1900" i="1" spc="-2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high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D</a:t>
            </a:r>
            <a:r>
              <a:rPr sz="1900" i="1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Healthy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770890" marR="55880" indent="-720725">
              <a:lnSpc>
                <a:spcPct val="117900"/>
              </a:lnSpc>
              <a:spcBef>
                <a:spcPts val="150"/>
              </a:spcBef>
            </a:pP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300" baseline="-35087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high</a:t>
            </a:r>
            <a:r>
              <a:rPr sz="1900" i="1" spc="-1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HD</a:t>
            </a:r>
            <a:r>
              <a:rPr sz="1900" i="1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yes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D</a:t>
            </a:r>
            <a:r>
              <a:rPr sz="1900" i="1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Healthy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Yes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</a:t>
            </a:r>
            <a:r>
              <a:rPr sz="2850" spc="-172" baseline="-35087" dirty="0">
                <a:latin typeface="Times New Roman"/>
                <a:cs typeface="Times New Roman"/>
              </a:rPr>
              <a:t> </a:t>
            </a:r>
            <a:r>
              <a:rPr sz="2850" i="1" baseline="-35087" dirty="0">
                <a:latin typeface="Times New Roman"/>
                <a:cs typeface="Times New Roman"/>
              </a:rPr>
              <a:t>P</a:t>
            </a:r>
            <a:r>
              <a:rPr sz="2850" baseline="-35087" dirty="0">
                <a:latin typeface="Times New Roman"/>
                <a:cs typeface="Times New Roman"/>
              </a:rPr>
              <a:t>(</a:t>
            </a:r>
            <a:r>
              <a:rPr sz="2850" i="1" baseline="-35087" dirty="0">
                <a:latin typeface="Times New Roman"/>
                <a:cs typeface="Times New Roman"/>
              </a:rPr>
              <a:t>HD</a:t>
            </a:r>
            <a:r>
              <a:rPr sz="2850" i="1" spc="-89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217" baseline="-35087" dirty="0">
                <a:latin typeface="Times New Roman"/>
                <a:cs typeface="Times New Roman"/>
              </a:rPr>
              <a:t> </a:t>
            </a:r>
            <a:r>
              <a:rPr sz="2850" i="1" baseline="-35087" dirty="0">
                <a:latin typeface="Times New Roman"/>
                <a:cs typeface="Times New Roman"/>
              </a:rPr>
              <a:t>yes</a:t>
            </a:r>
            <a:r>
              <a:rPr sz="2850" i="1" spc="-330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Times New Roman"/>
                <a:cs typeface="Times New Roman"/>
              </a:rPr>
              <a:t>|</a:t>
            </a:r>
            <a:r>
              <a:rPr sz="2850" spc="-82" baseline="-35087" dirty="0">
                <a:latin typeface="Times New Roman"/>
                <a:cs typeface="Times New Roman"/>
              </a:rPr>
              <a:t> </a:t>
            </a:r>
            <a:r>
              <a:rPr sz="2850" i="1" baseline="-35087" dirty="0">
                <a:latin typeface="Times New Roman"/>
                <a:cs typeface="Times New Roman"/>
              </a:rPr>
              <a:t>D</a:t>
            </a:r>
            <a:r>
              <a:rPr sz="2850" i="1" spc="-22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30" baseline="-35087" dirty="0">
                <a:latin typeface="Times New Roman"/>
                <a:cs typeface="Times New Roman"/>
              </a:rPr>
              <a:t> </a:t>
            </a:r>
            <a:r>
              <a:rPr sz="2850" i="1" spc="-15" baseline="-35087" dirty="0">
                <a:latin typeface="Times New Roman"/>
                <a:cs typeface="Times New Roman"/>
              </a:rPr>
              <a:t>Healthy</a:t>
            </a:r>
            <a:r>
              <a:rPr sz="2850" spc="-15" baseline="-35087" dirty="0">
                <a:latin typeface="Times New Roman"/>
                <a:cs typeface="Times New Roman"/>
              </a:rPr>
              <a:t>,</a:t>
            </a:r>
            <a:r>
              <a:rPr sz="2850" spc="-322" baseline="-35087" dirty="0">
                <a:latin typeface="Times New Roman"/>
                <a:cs typeface="Times New Roman"/>
              </a:rPr>
              <a:t> </a:t>
            </a:r>
            <a:r>
              <a:rPr sz="2850" i="1" baseline="-35087" dirty="0">
                <a:latin typeface="Times New Roman"/>
                <a:cs typeface="Times New Roman"/>
              </a:rPr>
              <a:t>E</a:t>
            </a:r>
            <a:r>
              <a:rPr sz="2850" i="1" spc="82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-254" baseline="-35087" dirty="0">
                <a:latin typeface="Times New Roman"/>
                <a:cs typeface="Times New Roman"/>
              </a:rPr>
              <a:t> </a:t>
            </a:r>
            <a:r>
              <a:rPr sz="2850" i="1" spc="-30" baseline="-35087" dirty="0">
                <a:latin typeface="Times New Roman"/>
                <a:cs typeface="Times New Roman"/>
              </a:rPr>
              <a:t>Yes</a:t>
            </a:r>
            <a:r>
              <a:rPr sz="2850" spc="-30" baseline="-35087" dirty="0">
                <a:latin typeface="Times New Roman"/>
                <a:cs typeface="Times New Roman"/>
              </a:rPr>
              <a:t>)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high</a:t>
            </a:r>
            <a:r>
              <a:rPr sz="1900" i="1" spc="-1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D</a:t>
            </a:r>
            <a:r>
              <a:rPr sz="1900" i="1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Healthy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0311" y="507491"/>
            <a:ext cx="5123688" cy="337870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54355"/>
            <a:ext cx="32086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32380" algn="l"/>
              </a:tabLst>
            </a:pPr>
            <a:r>
              <a:rPr dirty="0"/>
              <a:t>How</a:t>
            </a:r>
            <a:r>
              <a:rPr spc="-2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this</a:t>
            </a:r>
            <a:r>
              <a:rPr spc="-40" dirty="0"/>
              <a:t> </a:t>
            </a:r>
            <a:r>
              <a:rPr spc="-10" dirty="0"/>
              <a:t>formula</a:t>
            </a:r>
            <a:r>
              <a:rPr dirty="0"/>
              <a:t>	</a:t>
            </a:r>
            <a:r>
              <a:rPr spc="-20" dirty="0"/>
              <a:t>true?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78763" y="609600"/>
            <a:ext cx="8365490" cy="1026160"/>
            <a:chOff x="778763" y="609600"/>
            <a:chExt cx="8365490" cy="1026160"/>
          </a:xfrm>
        </p:grpSpPr>
        <p:sp>
          <p:nvSpPr>
            <p:cNvPr id="4" name="object 4"/>
            <p:cNvSpPr/>
            <p:nvPr/>
          </p:nvSpPr>
          <p:spPr>
            <a:xfrm>
              <a:off x="778763" y="609600"/>
              <a:ext cx="8365490" cy="1026160"/>
            </a:xfrm>
            <a:custGeom>
              <a:avLst/>
              <a:gdLst/>
              <a:ahLst/>
              <a:cxnLst/>
              <a:rect l="l" t="t" r="r" b="b"/>
              <a:pathLst>
                <a:path w="8365490" h="1026160">
                  <a:moveTo>
                    <a:pt x="8365235" y="0"/>
                  </a:moveTo>
                  <a:lnTo>
                    <a:pt x="0" y="0"/>
                  </a:lnTo>
                  <a:lnTo>
                    <a:pt x="0" y="1025651"/>
                  </a:lnTo>
                  <a:lnTo>
                    <a:pt x="8365235" y="1025651"/>
                  </a:lnTo>
                  <a:lnTo>
                    <a:pt x="8365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8265" y="1278795"/>
              <a:ext cx="4479925" cy="0"/>
            </a:xfrm>
            <a:custGeom>
              <a:avLst/>
              <a:gdLst/>
              <a:ahLst/>
              <a:cxnLst/>
              <a:rect l="l" t="t" r="r" b="b"/>
              <a:pathLst>
                <a:path w="4479925">
                  <a:moveTo>
                    <a:pt x="0" y="0"/>
                  </a:moveTo>
                  <a:lnTo>
                    <a:pt x="4479865" y="0"/>
                  </a:lnTo>
                </a:path>
              </a:pathLst>
            </a:custGeom>
            <a:ln w="109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8061" y="500632"/>
            <a:ext cx="8385175" cy="108839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660"/>
              </a:spcBef>
            </a:pP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HD</a:t>
            </a:r>
            <a:r>
              <a:rPr sz="1900" i="1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yes</a:t>
            </a:r>
            <a:r>
              <a:rPr sz="1900" i="1" spc="-2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high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D</a:t>
            </a:r>
            <a:r>
              <a:rPr sz="1900" i="1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Healthy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770890" marR="55880" indent="-720725">
              <a:lnSpc>
                <a:spcPct val="117900"/>
              </a:lnSpc>
              <a:spcBef>
                <a:spcPts val="150"/>
              </a:spcBef>
            </a:pP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300" baseline="-35087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high</a:t>
            </a:r>
            <a:r>
              <a:rPr sz="1900" i="1" spc="-1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HD</a:t>
            </a:r>
            <a:r>
              <a:rPr sz="1900" i="1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yes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D</a:t>
            </a:r>
            <a:r>
              <a:rPr sz="1900" i="1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Healthy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Yes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</a:t>
            </a:r>
            <a:r>
              <a:rPr sz="2850" spc="-172" baseline="-35087" dirty="0">
                <a:latin typeface="Times New Roman"/>
                <a:cs typeface="Times New Roman"/>
              </a:rPr>
              <a:t> </a:t>
            </a:r>
            <a:r>
              <a:rPr sz="2850" i="1" baseline="-35087" dirty="0">
                <a:latin typeface="Times New Roman"/>
                <a:cs typeface="Times New Roman"/>
              </a:rPr>
              <a:t>P</a:t>
            </a:r>
            <a:r>
              <a:rPr sz="2850" baseline="-35087" dirty="0">
                <a:latin typeface="Times New Roman"/>
                <a:cs typeface="Times New Roman"/>
              </a:rPr>
              <a:t>(</a:t>
            </a:r>
            <a:r>
              <a:rPr sz="2850" i="1" baseline="-35087" dirty="0">
                <a:latin typeface="Times New Roman"/>
                <a:cs typeface="Times New Roman"/>
              </a:rPr>
              <a:t>HD</a:t>
            </a:r>
            <a:r>
              <a:rPr sz="2850" i="1" spc="-89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217" baseline="-35087" dirty="0">
                <a:latin typeface="Times New Roman"/>
                <a:cs typeface="Times New Roman"/>
              </a:rPr>
              <a:t> </a:t>
            </a:r>
            <a:r>
              <a:rPr sz="2850" i="1" baseline="-35087" dirty="0">
                <a:latin typeface="Times New Roman"/>
                <a:cs typeface="Times New Roman"/>
              </a:rPr>
              <a:t>yes</a:t>
            </a:r>
            <a:r>
              <a:rPr sz="2850" i="1" spc="-330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Times New Roman"/>
                <a:cs typeface="Times New Roman"/>
              </a:rPr>
              <a:t>|</a:t>
            </a:r>
            <a:r>
              <a:rPr sz="2850" spc="-82" baseline="-35087" dirty="0">
                <a:latin typeface="Times New Roman"/>
                <a:cs typeface="Times New Roman"/>
              </a:rPr>
              <a:t> </a:t>
            </a:r>
            <a:r>
              <a:rPr sz="2850" i="1" baseline="-35087" dirty="0">
                <a:latin typeface="Times New Roman"/>
                <a:cs typeface="Times New Roman"/>
              </a:rPr>
              <a:t>D</a:t>
            </a:r>
            <a:r>
              <a:rPr sz="2850" i="1" spc="-22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30" baseline="-35087" dirty="0">
                <a:latin typeface="Times New Roman"/>
                <a:cs typeface="Times New Roman"/>
              </a:rPr>
              <a:t> </a:t>
            </a:r>
            <a:r>
              <a:rPr sz="2850" i="1" spc="-15" baseline="-35087" dirty="0">
                <a:latin typeface="Times New Roman"/>
                <a:cs typeface="Times New Roman"/>
              </a:rPr>
              <a:t>Healthy</a:t>
            </a:r>
            <a:r>
              <a:rPr sz="2850" spc="-15" baseline="-35087" dirty="0">
                <a:latin typeface="Times New Roman"/>
                <a:cs typeface="Times New Roman"/>
              </a:rPr>
              <a:t>,</a:t>
            </a:r>
            <a:r>
              <a:rPr sz="2850" spc="-322" baseline="-35087" dirty="0">
                <a:latin typeface="Times New Roman"/>
                <a:cs typeface="Times New Roman"/>
              </a:rPr>
              <a:t> </a:t>
            </a:r>
            <a:r>
              <a:rPr sz="2850" i="1" baseline="-35087" dirty="0">
                <a:latin typeface="Times New Roman"/>
                <a:cs typeface="Times New Roman"/>
              </a:rPr>
              <a:t>E</a:t>
            </a:r>
            <a:r>
              <a:rPr sz="2850" i="1" spc="82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-254" baseline="-35087" dirty="0">
                <a:latin typeface="Times New Roman"/>
                <a:cs typeface="Times New Roman"/>
              </a:rPr>
              <a:t> </a:t>
            </a:r>
            <a:r>
              <a:rPr sz="2850" i="1" spc="-30" baseline="-35087" dirty="0">
                <a:latin typeface="Times New Roman"/>
                <a:cs typeface="Times New Roman"/>
              </a:rPr>
              <a:t>Yes</a:t>
            </a:r>
            <a:r>
              <a:rPr sz="2850" spc="-30" baseline="-35087" dirty="0">
                <a:latin typeface="Times New Roman"/>
                <a:cs typeface="Times New Roman"/>
              </a:rPr>
              <a:t>)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high</a:t>
            </a:r>
            <a:r>
              <a:rPr sz="1900" i="1" spc="-1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D</a:t>
            </a:r>
            <a:r>
              <a:rPr sz="1900" i="1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Healthy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6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2055114"/>
            <a:ext cx="40703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00"/>
                </a:solidFill>
                <a:latin typeface="Calibri"/>
                <a:cs typeface="Calibri"/>
              </a:rPr>
              <a:t>Let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00200" y="1981200"/>
            <a:ext cx="2729865" cy="698500"/>
            <a:chOff x="1600200" y="1981200"/>
            <a:chExt cx="2729865" cy="698500"/>
          </a:xfrm>
        </p:grpSpPr>
        <p:sp>
          <p:nvSpPr>
            <p:cNvPr id="9" name="object 9"/>
            <p:cNvSpPr/>
            <p:nvPr/>
          </p:nvSpPr>
          <p:spPr>
            <a:xfrm>
              <a:off x="1600200" y="1981200"/>
              <a:ext cx="2729865" cy="698500"/>
            </a:xfrm>
            <a:custGeom>
              <a:avLst/>
              <a:gdLst/>
              <a:ahLst/>
              <a:cxnLst/>
              <a:rect l="l" t="t" r="r" b="b"/>
              <a:pathLst>
                <a:path w="2729865" h="698500">
                  <a:moveTo>
                    <a:pt x="2729483" y="0"/>
                  </a:moveTo>
                  <a:lnTo>
                    <a:pt x="0" y="0"/>
                  </a:lnTo>
                  <a:lnTo>
                    <a:pt x="0" y="697991"/>
                  </a:lnTo>
                  <a:lnTo>
                    <a:pt x="2729483" y="697991"/>
                  </a:lnTo>
                  <a:lnTo>
                    <a:pt x="27294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94219" y="2313051"/>
              <a:ext cx="843280" cy="0"/>
            </a:xfrm>
            <a:custGeom>
              <a:avLst/>
              <a:gdLst/>
              <a:ahLst/>
              <a:cxnLst/>
              <a:rect l="l" t="t" r="r" b="b"/>
              <a:pathLst>
                <a:path w="843279">
                  <a:moveTo>
                    <a:pt x="0" y="0"/>
                  </a:moveTo>
                  <a:lnTo>
                    <a:pt x="842991" y="0"/>
                  </a:lnTo>
                </a:path>
              </a:pathLst>
            </a:custGeom>
            <a:ln w="10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600200" y="1981200"/>
            <a:ext cx="2729865" cy="69850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46990">
              <a:lnSpc>
                <a:spcPts val="1880"/>
              </a:lnSpc>
              <a:spcBef>
                <a:spcPts val="1185"/>
              </a:spcBef>
            </a:pP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-29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X</a:t>
            </a:r>
            <a:r>
              <a:rPr sz="1900" i="1" spc="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24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</a:t>
            </a:r>
            <a:r>
              <a:rPr sz="1900" i="1" spc="-2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65" dirty="0">
                <a:latin typeface="Times New Roman"/>
                <a:cs typeface="Times New Roman"/>
              </a:rPr>
              <a:t> </a:t>
            </a:r>
            <a:r>
              <a:rPr sz="2850" i="1" baseline="35087" dirty="0">
                <a:latin typeface="Times New Roman"/>
                <a:cs typeface="Times New Roman"/>
              </a:rPr>
              <a:t>P</a:t>
            </a:r>
            <a:r>
              <a:rPr sz="2850" baseline="35087" dirty="0">
                <a:latin typeface="Times New Roman"/>
                <a:cs typeface="Times New Roman"/>
              </a:rPr>
              <a:t>(</a:t>
            </a:r>
            <a:r>
              <a:rPr sz="2850" i="1" baseline="35087" dirty="0">
                <a:latin typeface="Times New Roman"/>
                <a:cs typeface="Times New Roman"/>
              </a:rPr>
              <a:t>Y</a:t>
            </a:r>
            <a:r>
              <a:rPr sz="2850" i="1" spc="75" baseline="35087" dirty="0">
                <a:latin typeface="Times New Roman"/>
                <a:cs typeface="Times New Roman"/>
              </a:rPr>
              <a:t> </a:t>
            </a:r>
            <a:r>
              <a:rPr sz="2850" baseline="35087" dirty="0">
                <a:latin typeface="Times New Roman"/>
                <a:cs typeface="Times New Roman"/>
              </a:rPr>
              <a:t>|</a:t>
            </a:r>
            <a:r>
              <a:rPr sz="2850" spc="30" baseline="35087" dirty="0">
                <a:latin typeface="Times New Roman"/>
                <a:cs typeface="Times New Roman"/>
              </a:rPr>
              <a:t> </a:t>
            </a:r>
            <a:r>
              <a:rPr sz="2850" i="1" baseline="35087" dirty="0">
                <a:latin typeface="Times New Roman"/>
                <a:cs typeface="Times New Roman"/>
              </a:rPr>
              <a:t>X</a:t>
            </a:r>
            <a:r>
              <a:rPr sz="2850" i="1" spc="-254" baseline="35087" dirty="0">
                <a:latin typeface="Times New Roman"/>
                <a:cs typeface="Times New Roman"/>
              </a:rPr>
              <a:t> </a:t>
            </a:r>
            <a:r>
              <a:rPr sz="2850" baseline="35087" dirty="0">
                <a:latin typeface="Times New Roman"/>
                <a:cs typeface="Times New Roman"/>
              </a:rPr>
              <a:t>)</a:t>
            </a:r>
            <a:r>
              <a:rPr sz="2850" spc="-104" baseline="35087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-28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X</a:t>
            </a:r>
            <a:r>
              <a:rPr sz="1900" i="1" spc="-16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313690" algn="ctr">
              <a:lnSpc>
                <a:spcPts val="1880"/>
              </a:lnSpc>
            </a:pPr>
            <a:r>
              <a:rPr sz="1900" i="1" spc="-20" dirty="0">
                <a:latin typeface="Times New Roman"/>
                <a:cs typeface="Times New Roman"/>
              </a:rPr>
              <a:t>P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Y</a:t>
            </a:r>
            <a:r>
              <a:rPr sz="1900" i="1" spc="-225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3540" y="2950590"/>
            <a:ext cx="3793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Now</a:t>
            </a:r>
            <a:r>
              <a:rPr sz="24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add</a:t>
            </a:r>
            <a:r>
              <a:rPr sz="2400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Calibri"/>
                <a:cs typeface="Calibri"/>
              </a:rPr>
              <a:t>Z</a:t>
            </a:r>
            <a:r>
              <a:rPr sz="2400" i="1" spc="-2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and</a:t>
            </a:r>
            <a:r>
              <a:rPr sz="24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FF00"/>
                </a:solidFill>
                <a:latin typeface="Calibri"/>
                <a:cs typeface="Calibri"/>
              </a:rPr>
              <a:t>W</a:t>
            </a:r>
            <a:r>
              <a:rPr sz="2400" i="1" spc="-3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as</a:t>
            </a:r>
            <a:r>
              <a:rPr sz="2400" spc="-3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condition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419600" y="2895600"/>
            <a:ext cx="4410710" cy="698500"/>
            <a:chOff x="4419600" y="2895600"/>
            <a:chExt cx="4410710" cy="698500"/>
          </a:xfrm>
        </p:grpSpPr>
        <p:sp>
          <p:nvSpPr>
            <p:cNvPr id="14" name="object 14"/>
            <p:cNvSpPr/>
            <p:nvPr/>
          </p:nvSpPr>
          <p:spPr>
            <a:xfrm>
              <a:off x="4419600" y="2895600"/>
              <a:ext cx="4410710" cy="698500"/>
            </a:xfrm>
            <a:custGeom>
              <a:avLst/>
              <a:gdLst/>
              <a:ahLst/>
              <a:cxnLst/>
              <a:rect l="l" t="t" r="r" b="b"/>
              <a:pathLst>
                <a:path w="4410709" h="698500">
                  <a:moveTo>
                    <a:pt x="4410456" y="0"/>
                  </a:moveTo>
                  <a:lnTo>
                    <a:pt x="0" y="0"/>
                  </a:lnTo>
                  <a:lnTo>
                    <a:pt x="0" y="697991"/>
                  </a:lnTo>
                  <a:lnTo>
                    <a:pt x="4410456" y="697991"/>
                  </a:lnTo>
                  <a:lnTo>
                    <a:pt x="44104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58709" y="3227451"/>
              <a:ext cx="1388745" cy="0"/>
            </a:xfrm>
            <a:custGeom>
              <a:avLst/>
              <a:gdLst/>
              <a:ahLst/>
              <a:cxnLst/>
              <a:rect l="l" t="t" r="r" b="b"/>
              <a:pathLst>
                <a:path w="1388745">
                  <a:moveTo>
                    <a:pt x="0" y="0"/>
                  </a:moveTo>
                  <a:lnTo>
                    <a:pt x="1388596" y="0"/>
                  </a:lnTo>
                </a:path>
              </a:pathLst>
            </a:custGeom>
            <a:ln w="10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419600" y="2895600"/>
            <a:ext cx="4410710" cy="69850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46990">
              <a:lnSpc>
                <a:spcPts val="1880"/>
              </a:lnSpc>
              <a:spcBef>
                <a:spcPts val="1185"/>
              </a:spcBef>
            </a:pP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-29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X</a:t>
            </a:r>
            <a:r>
              <a:rPr sz="1900" i="1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254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Y</a:t>
            </a:r>
            <a:r>
              <a:rPr sz="1900" i="1" spc="-2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-24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Z</a:t>
            </a:r>
            <a:r>
              <a:rPr sz="1900" i="1" spc="-2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i="1" dirty="0">
                <a:latin typeface="Times New Roman"/>
                <a:cs typeface="Times New Roman"/>
              </a:rPr>
              <a:t>W</a:t>
            </a:r>
            <a:r>
              <a:rPr sz="1900" i="1" spc="-2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75" dirty="0">
                <a:latin typeface="Times New Roman"/>
                <a:cs typeface="Times New Roman"/>
              </a:rPr>
              <a:t> </a:t>
            </a:r>
            <a:r>
              <a:rPr sz="2850" i="1" baseline="35087" dirty="0">
                <a:latin typeface="Times New Roman"/>
                <a:cs typeface="Times New Roman"/>
              </a:rPr>
              <a:t>P</a:t>
            </a:r>
            <a:r>
              <a:rPr sz="2850" baseline="35087" dirty="0">
                <a:latin typeface="Times New Roman"/>
                <a:cs typeface="Times New Roman"/>
              </a:rPr>
              <a:t>(</a:t>
            </a:r>
            <a:r>
              <a:rPr sz="2850" i="1" baseline="35087" dirty="0">
                <a:latin typeface="Times New Roman"/>
                <a:cs typeface="Times New Roman"/>
              </a:rPr>
              <a:t>Y</a:t>
            </a:r>
            <a:r>
              <a:rPr sz="2850" i="1" spc="75" baseline="35087" dirty="0">
                <a:latin typeface="Times New Roman"/>
                <a:cs typeface="Times New Roman"/>
              </a:rPr>
              <a:t> </a:t>
            </a:r>
            <a:r>
              <a:rPr sz="2850" baseline="35087" dirty="0">
                <a:latin typeface="Times New Roman"/>
                <a:cs typeface="Times New Roman"/>
              </a:rPr>
              <a:t>|</a:t>
            </a:r>
            <a:r>
              <a:rPr sz="2850" spc="30" baseline="35087" dirty="0">
                <a:latin typeface="Times New Roman"/>
                <a:cs typeface="Times New Roman"/>
              </a:rPr>
              <a:t> </a:t>
            </a:r>
            <a:r>
              <a:rPr sz="2850" i="1" baseline="35087" dirty="0">
                <a:latin typeface="Times New Roman"/>
                <a:cs typeface="Times New Roman"/>
              </a:rPr>
              <a:t>X</a:t>
            </a:r>
            <a:r>
              <a:rPr sz="2850" i="1" spc="-277" baseline="35087" dirty="0">
                <a:latin typeface="Times New Roman"/>
                <a:cs typeface="Times New Roman"/>
              </a:rPr>
              <a:t> </a:t>
            </a:r>
            <a:r>
              <a:rPr sz="2850" baseline="35087" dirty="0">
                <a:latin typeface="Times New Roman"/>
                <a:cs typeface="Times New Roman"/>
              </a:rPr>
              <a:t>,</a:t>
            </a:r>
            <a:r>
              <a:rPr sz="2850" spc="-375" baseline="35087" dirty="0">
                <a:latin typeface="Times New Roman"/>
                <a:cs typeface="Times New Roman"/>
              </a:rPr>
              <a:t> </a:t>
            </a:r>
            <a:r>
              <a:rPr sz="2850" i="1" baseline="35087" dirty="0">
                <a:latin typeface="Times New Roman"/>
                <a:cs typeface="Times New Roman"/>
              </a:rPr>
              <a:t>Z</a:t>
            </a:r>
            <a:r>
              <a:rPr sz="2850" i="1" spc="-427" baseline="35087" dirty="0">
                <a:latin typeface="Times New Roman"/>
                <a:cs typeface="Times New Roman"/>
              </a:rPr>
              <a:t> </a:t>
            </a:r>
            <a:r>
              <a:rPr sz="2850" baseline="35087" dirty="0">
                <a:latin typeface="Times New Roman"/>
                <a:cs typeface="Times New Roman"/>
              </a:rPr>
              <a:t>,</a:t>
            </a:r>
            <a:r>
              <a:rPr sz="2850" i="1" baseline="35087" dirty="0">
                <a:latin typeface="Times New Roman"/>
                <a:cs typeface="Times New Roman"/>
              </a:rPr>
              <a:t>W</a:t>
            </a:r>
            <a:r>
              <a:rPr sz="2850" i="1" spc="-300" baseline="35087" dirty="0">
                <a:latin typeface="Times New Roman"/>
                <a:cs typeface="Times New Roman"/>
              </a:rPr>
              <a:t> </a:t>
            </a:r>
            <a:r>
              <a:rPr sz="2850" baseline="35087" dirty="0">
                <a:latin typeface="Times New Roman"/>
                <a:cs typeface="Times New Roman"/>
              </a:rPr>
              <a:t>)</a:t>
            </a:r>
            <a:r>
              <a:rPr sz="2850" spc="-112" baseline="35087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2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spc="-29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X</a:t>
            </a:r>
            <a:r>
              <a:rPr sz="1900" i="1" spc="1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Z</a:t>
            </a:r>
            <a:r>
              <a:rPr sz="1900" i="1" spc="-2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i="1" dirty="0">
                <a:latin typeface="Times New Roman"/>
                <a:cs typeface="Times New Roman"/>
              </a:rPr>
              <a:t>W</a:t>
            </a:r>
            <a:r>
              <a:rPr sz="1900" i="1" spc="-20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268605" algn="ctr">
              <a:lnSpc>
                <a:spcPts val="1880"/>
              </a:lnSpc>
            </a:pP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Y</a:t>
            </a:r>
            <a:r>
              <a:rPr sz="1900" i="1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Z</a:t>
            </a:r>
            <a:r>
              <a:rPr sz="1900" i="1" spc="-2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i="1" dirty="0">
                <a:latin typeface="Times New Roman"/>
                <a:cs typeface="Times New Roman"/>
              </a:rPr>
              <a:t>W</a:t>
            </a:r>
            <a:r>
              <a:rPr sz="1900" i="1" spc="-204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3540" y="3712845"/>
            <a:ext cx="1136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Similarly,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37944" y="4178808"/>
            <a:ext cx="6551930" cy="698500"/>
            <a:chOff x="1837944" y="4178808"/>
            <a:chExt cx="6551930" cy="698500"/>
          </a:xfrm>
        </p:grpSpPr>
        <p:sp>
          <p:nvSpPr>
            <p:cNvPr id="19" name="object 19"/>
            <p:cNvSpPr/>
            <p:nvPr/>
          </p:nvSpPr>
          <p:spPr>
            <a:xfrm>
              <a:off x="1837944" y="4178808"/>
              <a:ext cx="6551930" cy="698500"/>
            </a:xfrm>
            <a:custGeom>
              <a:avLst/>
              <a:gdLst/>
              <a:ahLst/>
              <a:cxnLst/>
              <a:rect l="l" t="t" r="r" b="b"/>
              <a:pathLst>
                <a:path w="6551930" h="698500">
                  <a:moveTo>
                    <a:pt x="6551676" y="0"/>
                  </a:moveTo>
                  <a:lnTo>
                    <a:pt x="0" y="0"/>
                  </a:lnTo>
                  <a:lnTo>
                    <a:pt x="0" y="697992"/>
                  </a:lnTo>
                  <a:lnTo>
                    <a:pt x="6551676" y="697992"/>
                  </a:lnTo>
                  <a:lnTo>
                    <a:pt x="65516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81808" y="4510660"/>
              <a:ext cx="2392680" cy="0"/>
            </a:xfrm>
            <a:custGeom>
              <a:avLst/>
              <a:gdLst/>
              <a:ahLst/>
              <a:cxnLst/>
              <a:rect l="l" t="t" r="r" b="b"/>
              <a:pathLst>
                <a:path w="2392679">
                  <a:moveTo>
                    <a:pt x="0" y="0"/>
                  </a:moveTo>
                  <a:lnTo>
                    <a:pt x="2392618" y="0"/>
                  </a:lnTo>
                </a:path>
              </a:pathLst>
            </a:custGeom>
            <a:ln w="109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036381" y="4505650"/>
            <a:ext cx="131064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high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1859446" y="4318162"/>
            <a:ext cx="6521450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HD</a:t>
            </a:r>
            <a:r>
              <a:rPr sz="1900" i="1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4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yes</a:t>
            </a:r>
            <a:r>
              <a:rPr sz="1900" i="1" spc="-20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high</a:t>
            </a:r>
            <a:r>
              <a:rPr sz="1900" dirty="0">
                <a:latin typeface="Times New Roman"/>
                <a:cs typeface="Times New Roman"/>
              </a:rPr>
              <a:t>)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204" dirty="0">
                <a:latin typeface="Times New Roman"/>
                <a:cs typeface="Times New Roman"/>
              </a:rPr>
              <a:t> </a:t>
            </a:r>
            <a:r>
              <a:rPr sz="2850" i="1" baseline="35087" dirty="0">
                <a:latin typeface="Times New Roman"/>
                <a:cs typeface="Times New Roman"/>
              </a:rPr>
              <a:t>P</a:t>
            </a:r>
            <a:r>
              <a:rPr sz="2850" baseline="35087" dirty="0">
                <a:latin typeface="Times New Roman"/>
                <a:cs typeface="Times New Roman"/>
              </a:rPr>
              <a:t>(</a:t>
            </a:r>
            <a:r>
              <a:rPr sz="2850" i="1" baseline="35087" dirty="0">
                <a:latin typeface="Times New Roman"/>
                <a:cs typeface="Times New Roman"/>
              </a:rPr>
              <a:t>BP</a:t>
            </a:r>
            <a:r>
              <a:rPr sz="2850" i="1" spc="22" baseline="35087" dirty="0">
                <a:latin typeface="Times New Roman"/>
                <a:cs typeface="Times New Roman"/>
              </a:rPr>
              <a:t> </a:t>
            </a:r>
            <a:r>
              <a:rPr sz="2850" baseline="35087" dirty="0">
                <a:latin typeface="Symbol"/>
                <a:cs typeface="Symbol"/>
              </a:rPr>
              <a:t></a:t>
            </a:r>
            <a:r>
              <a:rPr sz="2850" spc="-44" baseline="35087" dirty="0">
                <a:latin typeface="Times New Roman"/>
                <a:cs typeface="Times New Roman"/>
              </a:rPr>
              <a:t> </a:t>
            </a:r>
            <a:r>
              <a:rPr sz="2850" i="1" spc="-15" baseline="35087" dirty="0">
                <a:latin typeface="Times New Roman"/>
                <a:cs typeface="Times New Roman"/>
              </a:rPr>
              <a:t>high</a:t>
            </a:r>
            <a:r>
              <a:rPr sz="2850" i="1" spc="-262" baseline="35087" dirty="0">
                <a:latin typeface="Times New Roman"/>
                <a:cs typeface="Times New Roman"/>
              </a:rPr>
              <a:t> </a:t>
            </a:r>
            <a:r>
              <a:rPr sz="2850" baseline="35087" dirty="0">
                <a:latin typeface="Times New Roman"/>
                <a:cs typeface="Times New Roman"/>
              </a:rPr>
              <a:t>|</a:t>
            </a:r>
            <a:r>
              <a:rPr sz="2850" spc="-75" baseline="35087" dirty="0">
                <a:latin typeface="Times New Roman"/>
                <a:cs typeface="Times New Roman"/>
              </a:rPr>
              <a:t> </a:t>
            </a:r>
            <a:r>
              <a:rPr sz="2850" i="1" baseline="35087" dirty="0">
                <a:latin typeface="Times New Roman"/>
                <a:cs typeface="Times New Roman"/>
              </a:rPr>
              <a:t>HD</a:t>
            </a:r>
            <a:r>
              <a:rPr sz="2850" i="1" spc="-75" baseline="35087" dirty="0">
                <a:latin typeface="Times New Roman"/>
                <a:cs typeface="Times New Roman"/>
              </a:rPr>
              <a:t> </a:t>
            </a:r>
            <a:r>
              <a:rPr sz="2850" baseline="35087" dirty="0">
                <a:latin typeface="Symbol"/>
                <a:cs typeface="Symbol"/>
              </a:rPr>
              <a:t></a:t>
            </a:r>
            <a:r>
              <a:rPr sz="2850" spc="225" baseline="35087" dirty="0">
                <a:latin typeface="Times New Roman"/>
                <a:cs typeface="Times New Roman"/>
              </a:rPr>
              <a:t> </a:t>
            </a:r>
            <a:r>
              <a:rPr sz="2850" i="1" baseline="35087" dirty="0">
                <a:latin typeface="Times New Roman"/>
                <a:cs typeface="Times New Roman"/>
              </a:rPr>
              <a:t>yes</a:t>
            </a:r>
            <a:r>
              <a:rPr sz="2850" baseline="35087" dirty="0">
                <a:latin typeface="Times New Roman"/>
                <a:cs typeface="Times New Roman"/>
              </a:rPr>
              <a:t>)</a:t>
            </a:r>
            <a:r>
              <a:rPr sz="2850" spc="-67" baseline="35087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HD</a:t>
            </a:r>
            <a:r>
              <a:rPr sz="1900" i="1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5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5940" y="5408167"/>
            <a:ext cx="747775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Now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add</a:t>
            </a:r>
            <a:r>
              <a:rPr sz="2400" spc="-6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conditions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D=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Healthy</a:t>
            </a:r>
            <a:r>
              <a:rPr sz="2400" i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E=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Yes</a:t>
            </a:r>
            <a:r>
              <a:rPr sz="24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to</a:t>
            </a:r>
            <a:r>
              <a:rPr sz="2400" spc="-7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above</a:t>
            </a:r>
            <a:r>
              <a:rPr sz="24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formula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00" y="685800"/>
            <a:ext cx="8167370" cy="91313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2200"/>
              </a:lnSpc>
            </a:pP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BP</a:t>
            </a:r>
            <a:r>
              <a:rPr sz="1900" i="1" spc="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high</a:t>
            </a:r>
            <a:r>
              <a:rPr sz="1900" i="1" spc="-1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D</a:t>
            </a:r>
            <a:r>
              <a:rPr sz="1900" i="1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Healthy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40005">
              <a:lnSpc>
                <a:spcPts val="3055"/>
              </a:lnSpc>
            </a:pPr>
            <a:r>
              <a:rPr sz="1900" dirty="0">
                <a:latin typeface="Symbol"/>
                <a:cs typeface="Symbol"/>
              </a:rPr>
              <a:t>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3825" spc="75" baseline="-7625" dirty="0">
                <a:latin typeface="Symbol"/>
                <a:cs typeface="Symbol"/>
              </a:rPr>
              <a:t></a:t>
            </a:r>
            <a:r>
              <a:rPr sz="3825" spc="-555" baseline="-762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BP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high</a:t>
            </a:r>
            <a:r>
              <a:rPr sz="1900" i="1" spc="-1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HD</a:t>
            </a:r>
            <a:r>
              <a:rPr sz="1900" i="1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Symbol"/>
                <a:cs typeface="Symbol"/>
              </a:rPr>
              <a:t></a:t>
            </a:r>
            <a:r>
              <a:rPr sz="2000" spc="-17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,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D</a:t>
            </a:r>
            <a:r>
              <a:rPr sz="1900" i="1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Healthy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Yes</a:t>
            </a:r>
            <a:r>
              <a:rPr sz="1900" spc="-10" dirty="0">
                <a:latin typeface="Times New Roman"/>
                <a:cs typeface="Times New Roman"/>
              </a:rPr>
              <a:t>)</a:t>
            </a:r>
            <a:r>
              <a:rPr sz="1900" spc="-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P</a:t>
            </a:r>
            <a:r>
              <a:rPr sz="1900" dirty="0">
                <a:latin typeface="Times New Roman"/>
                <a:cs typeface="Times New Roman"/>
              </a:rPr>
              <a:t>(</a:t>
            </a:r>
            <a:r>
              <a:rPr sz="1900" i="1" dirty="0">
                <a:latin typeface="Times New Roman"/>
                <a:cs typeface="Times New Roman"/>
              </a:rPr>
              <a:t>HD</a:t>
            </a:r>
            <a:r>
              <a:rPr sz="1900" i="1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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D</a:t>
            </a:r>
            <a:r>
              <a:rPr sz="1900" i="1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10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imes New Roman"/>
                <a:cs typeface="Times New Roman"/>
              </a:rPr>
              <a:t>Healthy</a:t>
            </a:r>
            <a:r>
              <a:rPr sz="1900" spc="-10" dirty="0">
                <a:latin typeface="Times New Roman"/>
                <a:cs typeface="Times New Roman"/>
              </a:rPr>
              <a:t>,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30"/>
              </a:spcBef>
            </a:pPr>
            <a:r>
              <a:rPr sz="1250" spc="-50" dirty="0">
                <a:latin typeface="Symbol"/>
                <a:cs typeface="Symbol"/>
              </a:rPr>
              <a:t>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1140" y="206451"/>
            <a:ext cx="11372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Similarly,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4463796"/>
            <a:ext cx="8167370" cy="148018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46355">
              <a:lnSpc>
                <a:spcPts val="2075"/>
              </a:lnSpc>
            </a:pP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BP</a:t>
            </a:r>
            <a:r>
              <a:rPr sz="1850" i="1" spc="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high</a:t>
            </a:r>
            <a:r>
              <a:rPr sz="1850" i="1" spc="-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</a:t>
            </a:r>
            <a:r>
              <a:rPr sz="1850" i="1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Healthy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Times New Roman"/>
                <a:cs typeface="Times New Roman"/>
              </a:rPr>
              <a:t>Yes</a:t>
            </a:r>
            <a:r>
              <a:rPr sz="1850" spc="-2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40005">
              <a:lnSpc>
                <a:spcPts val="3055"/>
              </a:lnSpc>
            </a:pPr>
            <a:r>
              <a:rPr sz="1850" dirty="0">
                <a:latin typeface="Symbol"/>
                <a:cs typeface="Symbol"/>
              </a:rPr>
              <a:t>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3825" baseline="-7625" dirty="0">
                <a:latin typeface="Symbol"/>
                <a:cs typeface="Symbol"/>
              </a:rPr>
              <a:t></a:t>
            </a:r>
            <a:r>
              <a:rPr sz="3825" spc="-517" baseline="-7625" dirty="0">
                <a:latin typeface="Times New Roman"/>
                <a:cs typeface="Times New Roman"/>
              </a:rPr>
              <a:t> </a:t>
            </a: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BP</a:t>
            </a:r>
            <a:r>
              <a:rPr sz="1850" i="1" spc="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high</a:t>
            </a:r>
            <a:r>
              <a:rPr sz="1850" i="1" spc="-1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HD</a:t>
            </a:r>
            <a:r>
              <a:rPr sz="1850" i="1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Symbol"/>
                <a:cs typeface="Symbol"/>
              </a:rPr>
              <a:t></a:t>
            </a:r>
            <a:r>
              <a:rPr sz="2000" spc="-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9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</a:t>
            </a:r>
            <a:r>
              <a:rPr sz="1850" i="1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Healthy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Yes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-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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i="1" spc="65" dirty="0">
                <a:latin typeface="Times New Roman"/>
                <a:cs typeface="Times New Roman"/>
              </a:rPr>
              <a:t>P</a:t>
            </a:r>
            <a:r>
              <a:rPr sz="1850" spc="65" dirty="0">
                <a:latin typeface="Times New Roman"/>
                <a:cs typeface="Times New Roman"/>
              </a:rPr>
              <a:t>(</a:t>
            </a:r>
            <a:r>
              <a:rPr sz="1850" i="1" spc="65" dirty="0">
                <a:latin typeface="Times New Roman"/>
                <a:cs typeface="Times New Roman"/>
              </a:rPr>
              <a:t>HD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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</a:t>
            </a:r>
            <a:r>
              <a:rPr sz="1850" i="1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Healthy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8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Times New Roman"/>
                <a:cs typeface="Times New Roman"/>
              </a:rPr>
              <a:t>Yes</a:t>
            </a:r>
            <a:r>
              <a:rPr sz="1850" spc="-2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292735">
              <a:lnSpc>
                <a:spcPts val="1460"/>
              </a:lnSpc>
              <a:spcBef>
                <a:spcPts val="30"/>
              </a:spcBef>
            </a:pPr>
            <a:r>
              <a:rPr sz="1250" spc="-50" dirty="0">
                <a:latin typeface="Symbol"/>
                <a:cs typeface="Symbol"/>
              </a:rPr>
              <a:t></a:t>
            </a:r>
            <a:endParaRPr sz="1250">
              <a:latin typeface="Symbol"/>
              <a:cs typeface="Symbol"/>
            </a:endParaRPr>
          </a:p>
          <a:p>
            <a:pPr marL="40005">
              <a:lnSpc>
                <a:spcPts val="3020"/>
              </a:lnSpc>
            </a:pPr>
            <a:r>
              <a:rPr sz="1850" dirty="0">
                <a:latin typeface="Symbol"/>
                <a:cs typeface="Symbol"/>
              </a:rPr>
              <a:t>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3825" baseline="-7625" dirty="0">
                <a:latin typeface="Symbol"/>
                <a:cs typeface="Symbol"/>
              </a:rPr>
              <a:t></a:t>
            </a:r>
            <a:r>
              <a:rPr sz="3825" spc="-525" baseline="-7625" dirty="0">
                <a:latin typeface="Times New Roman"/>
                <a:cs typeface="Times New Roman"/>
              </a:rPr>
              <a:t> </a:t>
            </a: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BP</a:t>
            </a:r>
            <a:r>
              <a:rPr sz="1850" i="1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high</a:t>
            </a:r>
            <a:r>
              <a:rPr sz="1850" i="1" spc="-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HD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2000" spc="-55" dirty="0">
                <a:latin typeface="Symbol"/>
                <a:cs typeface="Symbol"/>
              </a:rPr>
              <a:t>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-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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i="1" spc="65" dirty="0">
                <a:latin typeface="Times New Roman"/>
                <a:cs typeface="Times New Roman"/>
              </a:rPr>
              <a:t>P</a:t>
            </a:r>
            <a:r>
              <a:rPr sz="1850" spc="65" dirty="0">
                <a:latin typeface="Times New Roman"/>
                <a:cs typeface="Times New Roman"/>
              </a:rPr>
              <a:t>(</a:t>
            </a:r>
            <a:r>
              <a:rPr sz="1850" i="1" spc="65" dirty="0">
                <a:latin typeface="Times New Roman"/>
                <a:cs typeface="Times New Roman"/>
              </a:rPr>
              <a:t>HD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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D</a:t>
            </a:r>
            <a:r>
              <a:rPr sz="1850" i="1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Healthy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-19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i="1" spc="-20" dirty="0">
                <a:latin typeface="Times New Roman"/>
                <a:cs typeface="Times New Roman"/>
              </a:rPr>
              <a:t>Yes</a:t>
            </a:r>
            <a:r>
              <a:rPr sz="1850" spc="-2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  <a:spcBef>
                <a:spcPts val="30"/>
              </a:spcBef>
            </a:pPr>
            <a:r>
              <a:rPr sz="1250" spc="-50" dirty="0">
                <a:latin typeface="Symbol"/>
                <a:cs typeface="Symbol"/>
              </a:rPr>
              <a:t></a:t>
            </a:r>
            <a:endParaRPr sz="1250">
              <a:latin typeface="Symbol"/>
              <a:cs typeface="Symbo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6503" y="1658111"/>
            <a:ext cx="3587496" cy="2532888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52400" y="2286000"/>
            <a:ext cx="5305425" cy="542925"/>
          </a:xfrm>
          <a:custGeom>
            <a:avLst/>
            <a:gdLst/>
            <a:ahLst/>
            <a:cxnLst/>
            <a:rect l="l" t="t" r="r" b="b"/>
            <a:pathLst>
              <a:path w="5305425" h="542925">
                <a:moveTo>
                  <a:pt x="5305044" y="0"/>
                </a:moveTo>
                <a:lnTo>
                  <a:pt x="0" y="0"/>
                </a:lnTo>
                <a:lnTo>
                  <a:pt x="0" y="542544"/>
                </a:lnTo>
                <a:lnTo>
                  <a:pt x="5305044" y="542544"/>
                </a:lnTo>
                <a:lnTo>
                  <a:pt x="53050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86779" y="2576529"/>
            <a:ext cx="88900" cy="217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-50" dirty="0">
                <a:latin typeface="Symbol"/>
                <a:cs typeface="Symbol"/>
              </a:rPr>
              <a:t>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161238" y="1806905"/>
            <a:ext cx="5278755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00"/>
                </a:solidFill>
                <a:latin typeface="Calibri"/>
                <a:cs typeface="Calibri"/>
              </a:rPr>
              <a:t>Proof:</a:t>
            </a:r>
            <a:endParaRPr sz="2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BP</a:t>
            </a:r>
            <a:r>
              <a:rPr sz="1850" i="1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high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3825" baseline="-7625" dirty="0">
                <a:latin typeface="Symbol"/>
                <a:cs typeface="Symbol"/>
              </a:rPr>
              <a:t></a:t>
            </a:r>
            <a:r>
              <a:rPr sz="3825" spc="-517" baseline="-7625" dirty="0">
                <a:latin typeface="Times New Roman"/>
                <a:cs typeface="Times New Roman"/>
              </a:rPr>
              <a:t> </a:t>
            </a:r>
            <a:r>
              <a:rPr sz="1850" i="1" spc="55" dirty="0">
                <a:latin typeface="Times New Roman"/>
                <a:cs typeface="Times New Roman"/>
              </a:rPr>
              <a:t>P</a:t>
            </a:r>
            <a:r>
              <a:rPr sz="1850" spc="55" dirty="0">
                <a:latin typeface="Times New Roman"/>
                <a:cs typeface="Times New Roman"/>
              </a:rPr>
              <a:t>(</a:t>
            </a:r>
            <a:r>
              <a:rPr sz="1850" i="1" spc="55" dirty="0">
                <a:latin typeface="Times New Roman"/>
                <a:cs typeface="Times New Roman"/>
              </a:rPr>
              <a:t>BP</a:t>
            </a:r>
            <a:r>
              <a:rPr sz="1850" i="1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high</a:t>
            </a:r>
            <a:r>
              <a:rPr sz="1850" i="1" spc="-1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HD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</a:t>
            </a:r>
            <a:r>
              <a:rPr sz="1950" spc="-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-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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i="1" spc="65" dirty="0">
                <a:latin typeface="Times New Roman"/>
                <a:cs typeface="Times New Roman"/>
              </a:rPr>
              <a:t>P</a:t>
            </a:r>
            <a:r>
              <a:rPr sz="1850" spc="65" dirty="0">
                <a:latin typeface="Times New Roman"/>
                <a:cs typeface="Times New Roman"/>
              </a:rPr>
              <a:t>(</a:t>
            </a:r>
            <a:r>
              <a:rPr sz="1850" i="1" spc="65" dirty="0">
                <a:latin typeface="Times New Roman"/>
                <a:cs typeface="Times New Roman"/>
              </a:rPr>
              <a:t>HD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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950" spc="-30" dirty="0">
                <a:latin typeface="Symbol"/>
                <a:cs typeface="Symbol"/>
              </a:rPr>
              <a:t></a:t>
            </a:r>
            <a:r>
              <a:rPr sz="1950" spc="-12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939" y="3102686"/>
            <a:ext cx="5046980" cy="1172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Adding</a:t>
            </a:r>
            <a:r>
              <a:rPr sz="2400" spc="-5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conditions</a:t>
            </a:r>
            <a:r>
              <a:rPr sz="2400" spc="-50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D=</a:t>
            </a:r>
            <a:r>
              <a:rPr sz="2400" i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Healthy</a:t>
            </a:r>
            <a:r>
              <a:rPr sz="24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FF0000"/>
                </a:solidFill>
                <a:latin typeface="Calibri"/>
                <a:cs typeface="Calibri"/>
              </a:rPr>
              <a:t>E=</a:t>
            </a:r>
            <a:r>
              <a:rPr sz="24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i="1" spc="-25" dirty="0">
                <a:solidFill>
                  <a:srgbClr val="FF0000"/>
                </a:solidFill>
                <a:latin typeface="Calibri"/>
                <a:cs typeface="Calibri"/>
              </a:rPr>
              <a:t>Yes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00"/>
                </a:solidFill>
                <a:latin typeface="Calibri"/>
                <a:cs typeface="Calibri"/>
              </a:rPr>
              <a:t>we</a:t>
            </a:r>
            <a:r>
              <a:rPr sz="2400" spc="-45" dirty="0">
                <a:solidFill>
                  <a:srgbClr val="FFFF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00"/>
                </a:solidFill>
                <a:latin typeface="Calibri"/>
                <a:cs typeface="Calibri"/>
              </a:rPr>
              <a:t>get,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50292"/>
            <a:ext cx="5125211" cy="33787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6200" y="3486910"/>
            <a:ext cx="8991600" cy="3295015"/>
            <a:chOff x="76200" y="3486910"/>
            <a:chExt cx="8991600" cy="3295015"/>
          </a:xfrm>
        </p:grpSpPr>
        <p:sp>
          <p:nvSpPr>
            <p:cNvPr id="4" name="object 4"/>
            <p:cNvSpPr/>
            <p:nvPr/>
          </p:nvSpPr>
          <p:spPr>
            <a:xfrm>
              <a:off x="76200" y="3486910"/>
              <a:ext cx="8991600" cy="3295015"/>
            </a:xfrm>
            <a:custGeom>
              <a:avLst/>
              <a:gdLst/>
              <a:ahLst/>
              <a:cxnLst/>
              <a:rect l="l" t="t" r="r" b="b"/>
              <a:pathLst>
                <a:path w="8991600" h="3295015">
                  <a:moveTo>
                    <a:pt x="8991600" y="0"/>
                  </a:moveTo>
                  <a:lnTo>
                    <a:pt x="0" y="0"/>
                  </a:lnTo>
                  <a:lnTo>
                    <a:pt x="0" y="3294888"/>
                  </a:lnTo>
                  <a:lnTo>
                    <a:pt x="8991600" y="3294888"/>
                  </a:lnTo>
                  <a:lnTo>
                    <a:pt x="8991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92529" y="4170033"/>
              <a:ext cx="5328285" cy="2297430"/>
            </a:xfrm>
            <a:custGeom>
              <a:avLst/>
              <a:gdLst/>
              <a:ahLst/>
              <a:cxnLst/>
              <a:rect l="l" t="t" r="r" b="b"/>
              <a:pathLst>
                <a:path w="5328285" h="2297429">
                  <a:moveTo>
                    <a:pt x="0" y="0"/>
                  </a:moveTo>
                  <a:lnTo>
                    <a:pt x="4228980" y="0"/>
                  </a:lnTo>
                </a:path>
                <a:path w="5328285" h="2297429">
                  <a:moveTo>
                    <a:pt x="0" y="696971"/>
                  </a:moveTo>
                  <a:lnTo>
                    <a:pt x="3273469" y="696971"/>
                  </a:lnTo>
                </a:path>
                <a:path w="5328285" h="2297429">
                  <a:moveTo>
                    <a:pt x="0" y="1393833"/>
                  </a:moveTo>
                  <a:lnTo>
                    <a:pt x="5327942" y="1393833"/>
                  </a:lnTo>
                </a:path>
                <a:path w="5328285" h="2297429">
                  <a:moveTo>
                    <a:pt x="0" y="2296922"/>
                  </a:moveTo>
                  <a:lnTo>
                    <a:pt x="2059088" y="2296922"/>
                  </a:lnTo>
                </a:path>
              </a:pathLst>
            </a:custGeom>
            <a:ln w="107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97865" y="6274177"/>
            <a:ext cx="82740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-40" dirty="0">
                <a:latin typeface="Times New Roman"/>
                <a:cs typeface="Times New Roman"/>
              </a:rPr>
              <a:t>0.5862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3288" y="6462032"/>
            <a:ext cx="206883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30" dirty="0">
                <a:latin typeface="Times New Roman"/>
                <a:cs typeface="Times New Roman"/>
              </a:rPr>
              <a:t>0.85</a:t>
            </a:r>
            <a:r>
              <a:rPr sz="1900" spc="-30" dirty="0">
                <a:latin typeface="Symbol"/>
                <a:cs typeface="Symbol"/>
              </a:rPr>
              <a:t></a:t>
            </a:r>
            <a:r>
              <a:rPr sz="1900" spc="-210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Times New Roman"/>
                <a:cs typeface="Times New Roman"/>
              </a:rPr>
              <a:t>0.25</a:t>
            </a:r>
            <a:r>
              <a:rPr sz="1900" spc="-18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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spc="-60" dirty="0">
                <a:latin typeface="Times New Roman"/>
                <a:cs typeface="Times New Roman"/>
              </a:rPr>
              <a:t>0.2</a:t>
            </a:r>
            <a:r>
              <a:rPr sz="1900" spc="-260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</a:t>
            </a:r>
            <a:r>
              <a:rPr sz="1900" spc="-204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0.75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6630" y="6121987"/>
            <a:ext cx="100203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30" dirty="0">
                <a:latin typeface="Times New Roman"/>
                <a:cs typeface="Times New Roman"/>
              </a:rPr>
              <a:t>0.85</a:t>
            </a:r>
            <a:r>
              <a:rPr sz="1900" spc="-30" dirty="0">
                <a:latin typeface="Symbol"/>
                <a:cs typeface="Symbol"/>
              </a:rPr>
              <a:t></a:t>
            </a:r>
            <a:r>
              <a:rPr sz="1900" spc="-190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0.25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382" y="6274177"/>
            <a:ext cx="15049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382" y="5370565"/>
            <a:ext cx="15049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382" y="4673703"/>
            <a:ext cx="15049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50" dirty="0">
                <a:latin typeface="Symbol"/>
                <a:cs typeface="Symbol"/>
              </a:rPr>
              <a:t></a:t>
            </a:r>
            <a:endParaRPr sz="19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4664" y="5370565"/>
            <a:ext cx="338772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70" dirty="0">
                <a:latin typeface="Symbol"/>
                <a:cs typeface="Symbol"/>
              </a:rPr>
              <a:t>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1900" i="1" spc="-30" dirty="0">
                <a:latin typeface="Times New Roman"/>
                <a:cs typeface="Times New Roman"/>
              </a:rPr>
              <a:t>P</a:t>
            </a:r>
            <a:r>
              <a:rPr sz="1900" spc="-30" dirty="0">
                <a:latin typeface="Times New Roman"/>
                <a:cs typeface="Times New Roman"/>
              </a:rPr>
              <a:t>(</a:t>
            </a:r>
            <a:r>
              <a:rPr sz="1900" i="1" spc="-30" dirty="0">
                <a:latin typeface="Times New Roman"/>
                <a:cs typeface="Times New Roman"/>
              </a:rPr>
              <a:t>HD</a:t>
            </a:r>
            <a:r>
              <a:rPr sz="1900" i="1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i="1" spc="-35" dirty="0">
                <a:latin typeface="Times New Roman"/>
                <a:cs typeface="Times New Roman"/>
              </a:rPr>
              <a:t>yes</a:t>
            </a:r>
            <a:r>
              <a:rPr sz="1900" i="1" spc="-2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i="1" spc="-90" dirty="0">
                <a:latin typeface="Times New Roman"/>
                <a:cs typeface="Times New Roman"/>
              </a:rPr>
              <a:t>D</a:t>
            </a:r>
            <a:r>
              <a:rPr sz="1900" i="1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i="1" spc="-55" dirty="0">
                <a:latin typeface="Times New Roman"/>
                <a:cs typeface="Times New Roman"/>
              </a:rPr>
              <a:t>Healthy</a:t>
            </a:r>
            <a:r>
              <a:rPr sz="1900" spc="-55" dirty="0">
                <a:latin typeface="Times New Roman"/>
                <a:cs typeface="Times New Roman"/>
              </a:rPr>
              <a:t>,</a:t>
            </a:r>
            <a:r>
              <a:rPr sz="1900" spc="-23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-10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9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0192" y="4673703"/>
            <a:ext cx="338709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spc="-70" dirty="0">
                <a:latin typeface="Symbol"/>
                <a:cs typeface="Symbol"/>
              </a:rPr>
              <a:t>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1900" i="1" spc="-30" dirty="0">
                <a:latin typeface="Times New Roman"/>
                <a:cs typeface="Times New Roman"/>
              </a:rPr>
              <a:t>P</a:t>
            </a:r>
            <a:r>
              <a:rPr sz="1900" spc="-30" dirty="0">
                <a:latin typeface="Times New Roman"/>
                <a:cs typeface="Times New Roman"/>
              </a:rPr>
              <a:t>(</a:t>
            </a:r>
            <a:r>
              <a:rPr sz="1900" i="1" spc="-30" dirty="0">
                <a:latin typeface="Times New Roman"/>
                <a:cs typeface="Times New Roman"/>
              </a:rPr>
              <a:t>HD</a:t>
            </a:r>
            <a:r>
              <a:rPr sz="1900" i="1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25" dirty="0">
                <a:latin typeface="Times New Roman"/>
                <a:cs typeface="Times New Roman"/>
              </a:rPr>
              <a:t> </a:t>
            </a:r>
            <a:r>
              <a:rPr sz="1900" i="1" spc="-35" dirty="0">
                <a:latin typeface="Times New Roman"/>
                <a:cs typeface="Times New Roman"/>
              </a:rPr>
              <a:t>yes</a:t>
            </a:r>
            <a:r>
              <a:rPr sz="1900" i="1" spc="-24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|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i="1" spc="-85" dirty="0">
                <a:latin typeface="Times New Roman"/>
                <a:cs typeface="Times New Roman"/>
              </a:rPr>
              <a:t>D</a:t>
            </a:r>
            <a:r>
              <a:rPr sz="1900" i="1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i="1" spc="-55" dirty="0">
                <a:latin typeface="Times New Roman"/>
                <a:cs typeface="Times New Roman"/>
              </a:rPr>
              <a:t>Healthy</a:t>
            </a:r>
            <a:r>
              <a:rPr sz="1900" spc="-55" dirty="0">
                <a:latin typeface="Times New Roman"/>
                <a:cs typeface="Times New Roman"/>
              </a:rPr>
              <a:t>,</a:t>
            </a:r>
            <a:r>
              <a:rPr sz="1900" spc="-24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9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758" y="4862091"/>
            <a:ext cx="3263900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i="1" spc="-20" dirty="0">
                <a:latin typeface="Times New Roman"/>
                <a:cs typeface="Times New Roman"/>
              </a:rPr>
              <a:t>P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BP</a:t>
            </a:r>
            <a:r>
              <a:rPr sz="1900" i="1" spc="-8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i="1" spc="-60" dirty="0">
                <a:latin typeface="Times New Roman"/>
                <a:cs typeface="Times New Roman"/>
              </a:rPr>
              <a:t>high</a:t>
            </a:r>
            <a:r>
              <a:rPr sz="1900" i="1" spc="-2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i="1" spc="-90" dirty="0">
                <a:latin typeface="Times New Roman"/>
                <a:cs typeface="Times New Roman"/>
              </a:rPr>
              <a:t>D</a:t>
            </a:r>
            <a:r>
              <a:rPr sz="1900" i="1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i="1" spc="-55" dirty="0">
                <a:latin typeface="Times New Roman"/>
                <a:cs typeface="Times New Roman"/>
              </a:rPr>
              <a:t>Healthy</a:t>
            </a:r>
            <a:r>
              <a:rPr sz="1900" spc="-55" dirty="0">
                <a:latin typeface="Times New Roman"/>
                <a:cs typeface="Times New Roman"/>
              </a:rPr>
              <a:t>,</a:t>
            </a:r>
            <a:r>
              <a:rPr sz="1900" spc="-240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-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9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2182" y="4521513"/>
            <a:ext cx="2247265" cy="314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900" i="1" spc="-20" dirty="0">
                <a:latin typeface="Times New Roman"/>
                <a:cs typeface="Times New Roman"/>
              </a:rPr>
              <a:t>P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BP</a:t>
            </a:r>
            <a:r>
              <a:rPr sz="1900" i="1" spc="-90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i="1" spc="-60" dirty="0">
                <a:latin typeface="Times New Roman"/>
                <a:cs typeface="Times New Roman"/>
              </a:rPr>
              <a:t>high</a:t>
            </a:r>
            <a:r>
              <a:rPr sz="1900" i="1" spc="-1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i="1" spc="-80" dirty="0">
                <a:latin typeface="Times New Roman"/>
                <a:cs typeface="Times New Roman"/>
              </a:rPr>
              <a:t>HD</a:t>
            </a:r>
            <a:r>
              <a:rPr sz="1900" i="1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582" y="3392694"/>
            <a:ext cx="7933055" cy="10864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660"/>
              </a:spcBef>
            </a:pPr>
            <a:r>
              <a:rPr sz="1900" i="1" spc="-30" dirty="0">
                <a:latin typeface="Times New Roman"/>
                <a:cs typeface="Times New Roman"/>
              </a:rPr>
              <a:t>P</a:t>
            </a:r>
            <a:r>
              <a:rPr sz="1900" spc="-30" dirty="0">
                <a:latin typeface="Times New Roman"/>
                <a:cs typeface="Times New Roman"/>
              </a:rPr>
              <a:t>(</a:t>
            </a:r>
            <a:r>
              <a:rPr sz="1900" i="1" spc="-30" dirty="0">
                <a:latin typeface="Times New Roman"/>
                <a:cs typeface="Times New Roman"/>
              </a:rPr>
              <a:t>HD</a:t>
            </a:r>
            <a:r>
              <a:rPr sz="1900" i="1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60" dirty="0">
                <a:latin typeface="Times New Roman"/>
                <a:cs typeface="Times New Roman"/>
              </a:rPr>
              <a:t> </a:t>
            </a:r>
            <a:r>
              <a:rPr sz="1900" i="1" spc="-35" dirty="0">
                <a:latin typeface="Times New Roman"/>
                <a:cs typeface="Times New Roman"/>
              </a:rPr>
              <a:t>yes</a:t>
            </a:r>
            <a:r>
              <a:rPr sz="1900" i="1" spc="-23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|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i="1" spc="-90" dirty="0">
                <a:latin typeface="Times New Roman"/>
                <a:cs typeface="Times New Roman"/>
              </a:rPr>
              <a:t>BP</a:t>
            </a:r>
            <a:r>
              <a:rPr sz="1900" i="1" spc="-40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i="1" spc="-55" dirty="0">
                <a:latin typeface="Times New Roman"/>
                <a:cs typeface="Times New Roman"/>
              </a:rPr>
              <a:t>high</a:t>
            </a:r>
            <a:r>
              <a:rPr sz="1900" spc="-55" dirty="0">
                <a:latin typeface="Times New Roman"/>
                <a:cs typeface="Times New Roman"/>
              </a:rPr>
              <a:t>,</a:t>
            </a:r>
            <a:r>
              <a:rPr sz="1900" spc="-235" dirty="0">
                <a:latin typeface="Times New Roman"/>
                <a:cs typeface="Times New Roman"/>
              </a:rPr>
              <a:t> </a:t>
            </a:r>
            <a:r>
              <a:rPr sz="1900" i="1" spc="-85" dirty="0">
                <a:latin typeface="Times New Roman"/>
                <a:cs typeface="Times New Roman"/>
              </a:rPr>
              <a:t>D</a:t>
            </a:r>
            <a:r>
              <a:rPr sz="1900" i="1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i="1" spc="-55" dirty="0">
                <a:latin typeface="Times New Roman"/>
                <a:cs typeface="Times New Roman"/>
              </a:rPr>
              <a:t>Healthy</a:t>
            </a:r>
            <a:r>
              <a:rPr sz="1900" spc="-55" dirty="0">
                <a:latin typeface="Times New Roman"/>
                <a:cs typeface="Times New Roman"/>
              </a:rPr>
              <a:t>,</a:t>
            </a:r>
            <a:r>
              <a:rPr sz="1900" spc="-23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9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marL="742950" marR="55880" indent="-680085">
              <a:lnSpc>
                <a:spcPct val="117400"/>
              </a:lnSpc>
              <a:spcBef>
                <a:spcPts val="160"/>
              </a:spcBef>
            </a:pP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7" baseline="-35087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P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BP</a:t>
            </a:r>
            <a:r>
              <a:rPr sz="1900" i="1" spc="-50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i="1" spc="-60" dirty="0">
                <a:latin typeface="Times New Roman"/>
                <a:cs typeface="Times New Roman"/>
              </a:rPr>
              <a:t>high</a:t>
            </a:r>
            <a:r>
              <a:rPr sz="1900" i="1" spc="-2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i="1" spc="-80" dirty="0">
                <a:latin typeface="Times New Roman"/>
                <a:cs typeface="Times New Roman"/>
              </a:rPr>
              <a:t>HD</a:t>
            </a:r>
            <a:r>
              <a:rPr sz="1900" i="1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70" dirty="0">
                <a:latin typeface="Times New Roman"/>
                <a:cs typeface="Times New Roman"/>
              </a:rPr>
              <a:t> </a:t>
            </a:r>
            <a:r>
              <a:rPr sz="1900" i="1" spc="-50" dirty="0">
                <a:latin typeface="Times New Roman"/>
                <a:cs typeface="Times New Roman"/>
              </a:rPr>
              <a:t>yes</a:t>
            </a:r>
            <a:r>
              <a:rPr sz="1900" spc="-50" dirty="0">
                <a:latin typeface="Times New Roman"/>
                <a:cs typeface="Times New Roman"/>
              </a:rPr>
              <a:t>,</a:t>
            </a:r>
            <a:r>
              <a:rPr sz="1900" spc="-235" dirty="0">
                <a:latin typeface="Times New Roman"/>
                <a:cs typeface="Times New Roman"/>
              </a:rPr>
              <a:t> </a:t>
            </a:r>
            <a:r>
              <a:rPr sz="1900" i="1" spc="-90" dirty="0">
                <a:latin typeface="Times New Roman"/>
                <a:cs typeface="Times New Roman"/>
              </a:rPr>
              <a:t>D</a:t>
            </a:r>
            <a:r>
              <a:rPr sz="1900" i="1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i="1" spc="-55" dirty="0">
                <a:latin typeface="Times New Roman"/>
                <a:cs typeface="Times New Roman"/>
              </a:rPr>
              <a:t>Healthy</a:t>
            </a:r>
            <a:r>
              <a:rPr sz="1900" spc="-55" dirty="0">
                <a:latin typeface="Times New Roman"/>
                <a:cs typeface="Times New Roman"/>
              </a:rPr>
              <a:t>,</a:t>
            </a:r>
            <a:r>
              <a:rPr sz="1900" spc="-23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-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95" dirty="0">
                <a:latin typeface="Times New Roman"/>
                <a:cs typeface="Times New Roman"/>
              </a:rPr>
              <a:t> </a:t>
            </a:r>
            <a:r>
              <a:rPr sz="1900" i="1" spc="-55" dirty="0">
                <a:latin typeface="Times New Roman"/>
                <a:cs typeface="Times New Roman"/>
              </a:rPr>
              <a:t>Yes</a:t>
            </a:r>
            <a:r>
              <a:rPr sz="1900" spc="-55" dirty="0">
                <a:latin typeface="Times New Roman"/>
                <a:cs typeface="Times New Roman"/>
              </a:rPr>
              <a:t>)</a:t>
            </a:r>
            <a:r>
              <a:rPr sz="1900" spc="-100" dirty="0">
                <a:latin typeface="Times New Roman"/>
                <a:cs typeface="Times New Roman"/>
              </a:rPr>
              <a:t> </a:t>
            </a:r>
            <a:r>
              <a:rPr sz="2850" spc="-104" baseline="-35087" dirty="0">
                <a:latin typeface="Symbol"/>
                <a:cs typeface="Symbol"/>
              </a:rPr>
              <a:t></a:t>
            </a:r>
            <a:r>
              <a:rPr sz="2850" spc="-217" baseline="-35087" dirty="0">
                <a:latin typeface="Times New Roman"/>
                <a:cs typeface="Times New Roman"/>
              </a:rPr>
              <a:t> </a:t>
            </a:r>
            <a:r>
              <a:rPr sz="2850" i="1" spc="-44" baseline="-35087" dirty="0">
                <a:latin typeface="Times New Roman"/>
                <a:cs typeface="Times New Roman"/>
              </a:rPr>
              <a:t>P</a:t>
            </a:r>
            <a:r>
              <a:rPr sz="2850" spc="-44" baseline="-35087" dirty="0">
                <a:latin typeface="Times New Roman"/>
                <a:cs typeface="Times New Roman"/>
              </a:rPr>
              <a:t>(</a:t>
            </a:r>
            <a:r>
              <a:rPr sz="2850" i="1" spc="-44" baseline="-35087" dirty="0">
                <a:latin typeface="Times New Roman"/>
                <a:cs typeface="Times New Roman"/>
              </a:rPr>
              <a:t>HD</a:t>
            </a:r>
            <a:r>
              <a:rPr sz="2850" i="1" spc="-142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104" baseline="-35087" dirty="0">
                <a:latin typeface="Times New Roman"/>
                <a:cs typeface="Times New Roman"/>
              </a:rPr>
              <a:t> </a:t>
            </a:r>
            <a:r>
              <a:rPr sz="2850" i="1" spc="-52" baseline="-35087" dirty="0">
                <a:latin typeface="Times New Roman"/>
                <a:cs typeface="Times New Roman"/>
              </a:rPr>
              <a:t>yes</a:t>
            </a:r>
            <a:r>
              <a:rPr sz="2850" i="1" spc="-359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Times New Roman"/>
                <a:cs typeface="Times New Roman"/>
              </a:rPr>
              <a:t>|</a:t>
            </a:r>
            <a:r>
              <a:rPr sz="2850" spc="-165" baseline="-35087" dirty="0">
                <a:latin typeface="Times New Roman"/>
                <a:cs typeface="Times New Roman"/>
              </a:rPr>
              <a:t> </a:t>
            </a:r>
            <a:r>
              <a:rPr sz="2850" i="1" spc="-135" baseline="-35087" dirty="0">
                <a:latin typeface="Times New Roman"/>
                <a:cs typeface="Times New Roman"/>
              </a:rPr>
              <a:t>D</a:t>
            </a:r>
            <a:r>
              <a:rPr sz="2850" i="1" spc="-89" baseline="-35087" dirty="0">
                <a:latin typeface="Times New Roman"/>
                <a:cs typeface="Times New Roman"/>
              </a:rPr>
              <a:t> </a:t>
            </a:r>
            <a:r>
              <a:rPr sz="2850" baseline="-35087" dirty="0">
                <a:latin typeface="Symbol"/>
                <a:cs typeface="Symbol"/>
              </a:rPr>
              <a:t></a:t>
            </a:r>
            <a:r>
              <a:rPr sz="2850" spc="-60" baseline="-35087" dirty="0">
                <a:latin typeface="Times New Roman"/>
                <a:cs typeface="Times New Roman"/>
              </a:rPr>
              <a:t> </a:t>
            </a:r>
            <a:r>
              <a:rPr sz="2850" i="1" spc="-82" baseline="-35087" dirty="0">
                <a:latin typeface="Times New Roman"/>
                <a:cs typeface="Times New Roman"/>
              </a:rPr>
              <a:t>Healthy</a:t>
            </a:r>
            <a:r>
              <a:rPr sz="2850" spc="-82" baseline="-35087" dirty="0">
                <a:latin typeface="Times New Roman"/>
                <a:cs typeface="Times New Roman"/>
              </a:rPr>
              <a:t>,</a:t>
            </a:r>
            <a:r>
              <a:rPr sz="2850" spc="-352" baseline="-35087" dirty="0">
                <a:latin typeface="Times New Roman"/>
                <a:cs typeface="Times New Roman"/>
              </a:rPr>
              <a:t> </a:t>
            </a:r>
            <a:r>
              <a:rPr sz="2850" i="1" baseline="-35087" dirty="0">
                <a:latin typeface="Times New Roman"/>
                <a:cs typeface="Times New Roman"/>
              </a:rPr>
              <a:t>E</a:t>
            </a:r>
            <a:r>
              <a:rPr sz="2850" i="1" spc="-15" baseline="-35087" dirty="0">
                <a:latin typeface="Times New Roman"/>
                <a:cs typeface="Times New Roman"/>
              </a:rPr>
              <a:t> </a:t>
            </a:r>
            <a:r>
              <a:rPr sz="2850" spc="-104" baseline="-35087" dirty="0">
                <a:latin typeface="Symbol"/>
                <a:cs typeface="Symbol"/>
              </a:rPr>
              <a:t></a:t>
            </a:r>
            <a:r>
              <a:rPr sz="2850" spc="-292" baseline="-35087" dirty="0">
                <a:latin typeface="Times New Roman"/>
                <a:cs typeface="Times New Roman"/>
              </a:rPr>
              <a:t> </a:t>
            </a:r>
            <a:r>
              <a:rPr sz="2850" i="1" spc="-30" baseline="-35087" dirty="0">
                <a:latin typeface="Times New Roman"/>
                <a:cs typeface="Times New Roman"/>
              </a:rPr>
              <a:t>Yes</a:t>
            </a:r>
            <a:r>
              <a:rPr sz="2850" spc="-30" baseline="-35087" dirty="0">
                <a:latin typeface="Times New Roman"/>
                <a:cs typeface="Times New Roman"/>
              </a:rPr>
              <a:t>) </a:t>
            </a:r>
            <a:r>
              <a:rPr sz="1900" i="1" spc="-20" dirty="0">
                <a:latin typeface="Times New Roman"/>
                <a:cs typeface="Times New Roman"/>
              </a:rPr>
              <a:t>P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BP</a:t>
            </a:r>
            <a:r>
              <a:rPr sz="1900" i="1" spc="-8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i="1" spc="-60" dirty="0">
                <a:latin typeface="Times New Roman"/>
                <a:cs typeface="Times New Roman"/>
              </a:rPr>
              <a:t>high</a:t>
            </a:r>
            <a:r>
              <a:rPr sz="1900" i="1" spc="-2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i="1" spc="-90" dirty="0">
                <a:latin typeface="Times New Roman"/>
                <a:cs typeface="Times New Roman"/>
              </a:rPr>
              <a:t>D</a:t>
            </a:r>
            <a:r>
              <a:rPr sz="1900" i="1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i="1" spc="-55" dirty="0">
                <a:latin typeface="Times New Roman"/>
                <a:cs typeface="Times New Roman"/>
              </a:rPr>
              <a:t>Healthy</a:t>
            </a:r>
            <a:r>
              <a:rPr sz="1900" spc="-55" dirty="0">
                <a:latin typeface="Times New Roman"/>
                <a:cs typeface="Times New Roman"/>
              </a:rPr>
              <a:t>,</a:t>
            </a:r>
            <a:r>
              <a:rPr sz="1900" spc="-23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-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9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0582" y="5867091"/>
            <a:ext cx="85090" cy="2184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250" spc="-50" dirty="0">
                <a:latin typeface="Symbol"/>
                <a:cs typeface="Symbol"/>
              </a:rPr>
              <a:t></a:t>
            </a:r>
            <a:endParaRPr sz="12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0876" y="5218376"/>
            <a:ext cx="5376545" cy="672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985" algn="ctr">
              <a:lnSpc>
                <a:spcPts val="2155"/>
              </a:lnSpc>
              <a:spcBef>
                <a:spcPts val="90"/>
              </a:spcBef>
            </a:pPr>
            <a:r>
              <a:rPr sz="1900" i="1" spc="-20" dirty="0">
                <a:latin typeface="Times New Roman"/>
                <a:cs typeface="Times New Roman"/>
              </a:rPr>
              <a:t>P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BP</a:t>
            </a:r>
            <a:r>
              <a:rPr sz="1900" i="1" spc="-8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85" dirty="0">
                <a:latin typeface="Times New Roman"/>
                <a:cs typeface="Times New Roman"/>
              </a:rPr>
              <a:t> </a:t>
            </a:r>
            <a:r>
              <a:rPr sz="1900" i="1" spc="-60" dirty="0">
                <a:latin typeface="Times New Roman"/>
                <a:cs typeface="Times New Roman"/>
              </a:rPr>
              <a:t>high</a:t>
            </a:r>
            <a:r>
              <a:rPr sz="1900" i="1" spc="-19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|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i="1" spc="-80" dirty="0">
                <a:latin typeface="Times New Roman"/>
                <a:cs typeface="Times New Roman"/>
              </a:rPr>
              <a:t>HD</a:t>
            </a:r>
            <a:r>
              <a:rPr sz="1900" i="1" spc="-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7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ts val="2935"/>
              </a:lnSpc>
            </a:pPr>
            <a:r>
              <a:rPr sz="3825" spc="-120" baseline="-7625" dirty="0">
                <a:latin typeface="Symbol"/>
                <a:cs typeface="Symbol"/>
              </a:rPr>
              <a:t></a:t>
            </a:r>
            <a:r>
              <a:rPr sz="3825" spc="-577" baseline="-7625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P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BP</a:t>
            </a:r>
            <a:r>
              <a:rPr sz="1900" i="1" spc="-8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i="1" spc="-60" dirty="0">
                <a:latin typeface="Times New Roman"/>
                <a:cs typeface="Times New Roman"/>
              </a:rPr>
              <a:t>high</a:t>
            </a:r>
            <a:r>
              <a:rPr sz="1900" i="1" spc="-2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i="1" spc="-80" dirty="0">
                <a:latin typeface="Times New Roman"/>
                <a:cs typeface="Times New Roman"/>
              </a:rPr>
              <a:t>HD</a:t>
            </a:r>
            <a:r>
              <a:rPr sz="1900" i="1" spc="-9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70" dirty="0">
                <a:latin typeface="Times New Roman"/>
                <a:cs typeface="Times New Roman"/>
              </a:rPr>
              <a:t> </a:t>
            </a:r>
            <a:r>
              <a:rPr sz="1950" spc="-70" dirty="0">
                <a:latin typeface="Symbol"/>
                <a:cs typeface="Symbol"/>
              </a:rPr>
              <a:t></a:t>
            </a:r>
            <a:r>
              <a:rPr sz="1950" spc="-16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r>
              <a:rPr sz="1900" i="1" spc="-20" dirty="0">
                <a:latin typeface="Times New Roman"/>
                <a:cs typeface="Times New Roman"/>
              </a:rPr>
              <a:t>P</a:t>
            </a:r>
            <a:r>
              <a:rPr sz="1900" spc="-20" dirty="0">
                <a:latin typeface="Times New Roman"/>
                <a:cs typeface="Times New Roman"/>
              </a:rPr>
              <a:t>(</a:t>
            </a:r>
            <a:r>
              <a:rPr sz="1900" i="1" spc="-20" dirty="0">
                <a:latin typeface="Times New Roman"/>
                <a:cs typeface="Times New Roman"/>
              </a:rPr>
              <a:t>HD</a:t>
            </a:r>
            <a:r>
              <a:rPr sz="1900" i="1" spc="-100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Symbol"/>
                <a:cs typeface="Symbol"/>
              </a:rPr>
              <a:t></a:t>
            </a:r>
            <a:r>
              <a:rPr sz="195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|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i="1" spc="-90" dirty="0">
                <a:latin typeface="Times New Roman"/>
                <a:cs typeface="Times New Roman"/>
              </a:rPr>
              <a:t>D</a:t>
            </a:r>
            <a:r>
              <a:rPr sz="1900" i="1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Symbol"/>
                <a:cs typeface="Symbol"/>
              </a:rPr>
              <a:t>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i="1" spc="-55" dirty="0">
                <a:latin typeface="Times New Roman"/>
                <a:cs typeface="Times New Roman"/>
              </a:rPr>
              <a:t>Healthy</a:t>
            </a:r>
            <a:r>
              <a:rPr sz="1900" spc="-55" dirty="0">
                <a:latin typeface="Times New Roman"/>
                <a:cs typeface="Times New Roman"/>
              </a:rPr>
              <a:t>,</a:t>
            </a:r>
            <a:r>
              <a:rPr sz="1900" spc="-235" dirty="0">
                <a:latin typeface="Times New Roman"/>
                <a:cs typeface="Times New Roman"/>
              </a:rPr>
              <a:t> </a:t>
            </a:r>
            <a:r>
              <a:rPr sz="1900" i="1" dirty="0">
                <a:latin typeface="Times New Roman"/>
                <a:cs typeface="Times New Roman"/>
              </a:rPr>
              <a:t>E</a:t>
            </a:r>
            <a:r>
              <a:rPr sz="1900" i="1" spc="-5" dirty="0">
                <a:latin typeface="Times New Roman"/>
                <a:cs typeface="Times New Roman"/>
              </a:rPr>
              <a:t> </a:t>
            </a:r>
            <a:r>
              <a:rPr sz="1900" spc="-70" dirty="0">
                <a:latin typeface="Symbol"/>
                <a:cs typeface="Symbol"/>
              </a:rPr>
              <a:t></a:t>
            </a:r>
            <a:r>
              <a:rPr sz="1900" spc="-190" dirty="0">
                <a:latin typeface="Times New Roman"/>
                <a:cs typeface="Times New Roman"/>
              </a:rPr>
              <a:t> </a:t>
            </a:r>
            <a:r>
              <a:rPr sz="1900" i="1" spc="-20" dirty="0">
                <a:latin typeface="Times New Roman"/>
                <a:cs typeface="Times New Roman"/>
              </a:rPr>
              <a:t>Yes</a:t>
            </a:r>
            <a:r>
              <a:rPr sz="1900" spc="-20" dirty="0">
                <a:latin typeface="Times New Roman"/>
                <a:cs typeface="Times New Roman"/>
              </a:rPr>
              <a:t>)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83371" y="6369811"/>
            <a:ext cx="19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0000"/>
                </a:solidFill>
                <a:latin typeface="Arial MT"/>
                <a:cs typeface="Arial MT"/>
              </a:rPr>
              <a:t>56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</TotalTime>
  <Words>1934</Words>
  <Application>Microsoft Macintosh PowerPoint</Application>
  <PresentationFormat>On-screen Show (4:3)</PresentationFormat>
  <Paragraphs>231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Aptos</vt:lpstr>
      <vt:lpstr>Arial</vt:lpstr>
      <vt:lpstr>Arial MT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a) If x is measured to be x=1 (x1), compute P(z1|x1) and P(w0|x1).</vt:lpstr>
      <vt:lpstr>a) If x is measured to be x=1 (x1), compute P(z1|x1) and P(w0|x1).</vt:lpstr>
      <vt:lpstr>b) If w is measured to be w=1 (w1) compute P(z1|w1|)].</vt:lpstr>
      <vt:lpstr>What’s about more complex networks?</vt:lpstr>
      <vt:lpstr>What’s about more complex networks?</vt:lpstr>
      <vt:lpstr>We will study this graph</vt:lpstr>
      <vt:lpstr>PowerPoint Presentation</vt:lpstr>
      <vt:lpstr>PowerPoint Presentation</vt:lpstr>
      <vt:lpstr>PowerPoint Presentation</vt:lpstr>
      <vt:lpstr>PowerPoint Presentation</vt:lpstr>
      <vt:lpstr>Calculate P(HD=yes) ?</vt:lpstr>
      <vt:lpstr>PowerPoint Presentation</vt:lpstr>
      <vt:lpstr>Calculate P(HD=yes|BP=High)</vt:lpstr>
      <vt:lpstr>Calculate P(HD=yes|BP=High)</vt:lpstr>
      <vt:lpstr>Calculate P(HD=yes|BP=High)</vt:lpstr>
      <vt:lpstr>Calculate P(HD=yes|BP=High)</vt:lpstr>
      <vt:lpstr>PowerPoint Presentation</vt:lpstr>
      <vt:lpstr>Calculate P(HD=yes|BP=high, D=Healthy, E=yes) ?</vt:lpstr>
      <vt:lpstr>How is this formula true?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473: Pattern Recognition</dc:title>
  <dc:creator>Faisal shah</dc:creator>
  <cp:lastModifiedBy>Rakib Mahmud</cp:lastModifiedBy>
  <cp:revision>5</cp:revision>
  <dcterms:created xsi:type="dcterms:W3CDTF">2025-08-18T15:35:45Z</dcterms:created>
  <dcterms:modified xsi:type="dcterms:W3CDTF">2025-08-19T06:02:32Z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2020-07-30T00:00:00Z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2025-08-18T00:00:00Z</vt:filetime>
  </property>
  <property fmtid="{D5CDD505-2E9C-101B-9397-08002B2CF9AE}" pid="5" name="Producer">
    <vt:lpwstr>Microsoft® PowerPoint® 2016</vt:lpwstr>
  </property>
</Properties>
</file>