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2" r:id="rId17"/>
    <p:sldId id="275" r:id="rId18"/>
    <p:sldId id="276" r:id="rId19"/>
    <p:sldId id="277" r:id="rId20"/>
    <p:sldId id="273" r:id="rId21"/>
    <p:sldId id="274" r:id="rId22"/>
    <p:sldId id="271" r:id="rId23"/>
    <p:sldId id="278" r:id="rId24"/>
    <p:sldId id="279" r:id="rId25"/>
    <p:sldId id="281" r:id="rId26"/>
    <p:sldId id="285" r:id="rId27"/>
    <p:sldId id="286" r:id="rId28"/>
    <p:sldId id="287" r:id="rId29"/>
    <p:sldId id="282" r:id="rId30"/>
    <p:sldId id="283" r:id="rId31"/>
    <p:sldId id="284" r:id="rId32"/>
    <p:sldId id="280" r:id="rId33"/>
  </p:sldIdLst>
  <p:sldSz cx="12192000" cy="685800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64591"/>
  </p:normalViewPr>
  <p:slideViewPr>
    <p:cSldViewPr snapToGrid="0">
      <p:cViewPr varScale="1">
        <p:scale>
          <a:sx n="84" d="100"/>
          <a:sy n="84" d="100"/>
        </p:scale>
        <p:origin x="1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DE2B9-0291-0940-B8FD-19D757B2E826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F11CC-268B-A942-804B-3DADC570A1D9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273976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Viterbi-</a:t>
            </a:r>
            <a:r>
              <a:rPr lang="bn-BD" b="1" dirty="0"/>
              <a:t>তে </a:t>
            </a:r>
            <a:r>
              <a:rPr lang="en-GB" b="1" dirty="0"/>
              <a:t>breadcrumb </a:t>
            </a:r>
            <a:r>
              <a:rPr lang="bn-BD" b="1" dirty="0"/>
              <a:t>মানে:</a:t>
            </a:r>
            <a:endParaRPr lang="bn-BD" dirty="0"/>
          </a:p>
          <a:p>
            <a:r>
              <a:rPr lang="bn-BD" dirty="0"/>
              <a:t>প্রতিটি </a:t>
            </a:r>
            <a:r>
              <a:rPr lang="en-GB" dirty="0"/>
              <a:t>state-</a:t>
            </a:r>
            <a:r>
              <a:rPr lang="bn-BD" dirty="0"/>
              <a:t>এ পৌঁছানোর সময় মনে রাখা যে </a:t>
            </a:r>
            <a:r>
              <a:rPr lang="bn-BD" b="1" dirty="0"/>
              <a:t>আগের কোন </a:t>
            </a:r>
            <a:r>
              <a:rPr lang="en-GB" b="1" dirty="0"/>
              <a:t>state </a:t>
            </a:r>
            <a:r>
              <a:rPr lang="bn-BD" b="1" dirty="0"/>
              <a:t>থেকে এসেছি</a:t>
            </a:r>
            <a:endParaRPr lang="bn-BD" dirty="0"/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F11CC-268B-A942-804B-3DADC570A1D9}" type="slidenum">
              <a:rPr lang="en-BD" smtClean="0"/>
              <a:t>27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196142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F11CC-268B-A942-804B-3DADC570A1D9}" type="slidenum">
              <a:rPr lang="en-BD" smtClean="0"/>
              <a:t>31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058716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have </a:t>
            </a:r>
            <a:r>
              <a:rPr lang="en-GB" b="1" dirty="0"/>
              <a:t>N possible current states (j)</a:t>
            </a:r>
            <a:endParaRPr lang="en-GB" dirty="0"/>
          </a:p>
          <a:p>
            <a:r>
              <a:rPr lang="en-GB" dirty="0"/>
              <a:t>For each one, you compare </a:t>
            </a:r>
            <a:r>
              <a:rPr lang="en-GB" b="1" dirty="0"/>
              <a:t>N previous states (</a:t>
            </a:r>
            <a:r>
              <a:rPr lang="en-GB" b="1" dirty="0" err="1"/>
              <a:t>i</a:t>
            </a:r>
            <a:r>
              <a:rPr lang="en-GB" b="1" dirty="0"/>
              <a:t>)</a:t>
            </a:r>
            <a:endParaRPr lang="en-GB" dirty="0"/>
          </a:p>
          <a:p>
            <a:r>
              <a:rPr lang="en-GB" dirty="0"/>
              <a:t>That’s </a:t>
            </a:r>
            <a:r>
              <a:rPr lang="en-GB" b="1" dirty="0"/>
              <a:t>N × N = N²</a:t>
            </a:r>
            <a:r>
              <a:rPr lang="en-GB" dirty="0"/>
              <a:t> comparisons per time step.</a:t>
            </a:r>
          </a:p>
          <a:p>
            <a:r>
              <a:rPr lang="en-GB" dirty="0"/>
              <a:t>And since this happens for </a:t>
            </a:r>
            <a:r>
              <a:rPr lang="en-GB" b="1" dirty="0"/>
              <a:t>T time steps</a:t>
            </a:r>
            <a:r>
              <a:rPr lang="en-GB" dirty="0"/>
              <a:t>,</a:t>
            </a:r>
            <a:br>
              <a:rPr lang="en-GB" dirty="0"/>
            </a:br>
            <a:r>
              <a:rPr lang="en-GB" dirty="0"/>
              <a:t>the total number of computations ≈ </a:t>
            </a:r>
            <a:r>
              <a:rPr lang="en-GB" b="1" dirty="0"/>
              <a:t>N² × T</a:t>
            </a:r>
            <a:endParaRPr lang="en-GB" dirty="0"/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F11CC-268B-A942-804B-3DADC570A1D9}" type="slidenum">
              <a:rPr lang="en-BD" smtClean="0"/>
              <a:t>32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119332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E2E8-3B20-CC2B-2B35-3962F3DD9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2BC98-13A5-5819-29A7-F5A23962E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97DD6-026F-0D35-1F6C-1132CAE1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63EE5-B03E-0D04-C452-701DF424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C5B0B-E502-E0A8-3AD4-7DA98F16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03908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063BD-96DF-0410-BA2B-58B12718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521C5-12D2-B8C7-926A-4C72F5586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D8675-B517-47F7-573C-07E577A3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A594A-0BCB-30A3-94F3-3C7E8BD22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96CB7-D32C-86BC-67B4-E6CEE733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88854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FCDD-8E68-B56D-0F70-05DE6BDC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8EFCF-F1C0-CD44-3F08-6FE97C8FF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88E23-F7A5-B014-9FA0-24F63E65B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765DA-55C9-0693-B6E5-49153C89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7B308-8971-E86D-F0E4-A153AFD9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3242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19EB-A5F8-778E-C382-A67C4A6A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D70F5-2721-353E-365A-5A4BBEA5B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3A33A-254A-F030-57C9-8C2D8740F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626F7-D33B-E71A-22B4-B7B5DBBF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80DA4-ADD3-A20E-0905-13F13ADB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B1503-8123-E1C3-1C8A-0B11C237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620159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F481-3E8E-EA28-9808-19BD99CA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055A1-926E-8663-58F3-F051166E7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677C7-D451-8DE4-9E80-BDB9E6364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898DEE-5D29-4A7B-B7EB-2F759A133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F769F-DE80-FAB9-99A9-F46147CF7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2B4FB0-1476-047B-88F8-20629B08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C4D6F0-B6D3-B280-F392-C7338E9C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B3A66-20E9-A066-DF87-EEF02199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282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3B2B-CC65-0710-391C-0BAEE393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DB829-C453-8941-B12F-BA473AAF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16961-6CC6-9A15-914A-E01A20E3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06CB5-ABCB-DAF8-7D19-C971AFF3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29104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A609B-141B-2A47-2C34-973666B2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9CF35-CAE3-6DFB-0B7D-B80D57F1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8BA17-A224-2F67-51EA-CFA0E8A1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68557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CE02-1D1A-0FC7-2A23-73396EF94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73559-FAC0-3D05-9886-721E8878B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0C588-CB32-8D06-E576-AF5DC968F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7912A-B8A3-3312-27F4-3ACCB9F1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D6694-FBD7-9F1A-5297-98481509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651B8-7DEA-F882-AFE2-6CC9AD7E9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1312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3B72-5710-F71E-E621-042C5025B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09C64D-A918-6C8D-24F8-FA9D7C7E9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2ACAE-AA09-72D1-7BA4-04D52CB9D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AFCDE-9468-FC94-317B-EDECA01D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0E5B6-A3A6-FDA4-2797-5787355F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80F7A-5DE1-1398-C9C4-1EF57E42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1612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D3DDF-EB69-377A-6595-26BDDE6B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741C1-7975-9CC2-22BF-5F4251A7F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1AB83-FB5E-F673-D916-1FF5DC07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74D15-80D8-198C-14A4-6CE17E54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4A27A-3CDC-A963-F626-9D5BE93BA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60969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D60A57-4C43-F427-B906-A46F584AC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1B054-AD85-1B49-0BF8-C2766603D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622FC-815B-BDDC-6F29-4552797C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4F4FF-1468-8B8F-2F35-465F96B6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405C5-84EA-2F62-3F0D-F4790AFE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34873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3ED7B-9338-5758-698C-E1AAA4EF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6367D-8000-7B53-F0ED-8712ECC6C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DF5A6-BC53-7CA9-34EA-D3B96A095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41874-EC58-9546-994E-24017EB498C8}" type="datetimeFigureOut">
              <a:rPr lang="en-BD" smtClean="0"/>
              <a:t>11/11/25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BD543-F24D-873D-CB0E-0363DE515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34209-F67F-C34B-1ABC-8078C479B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24000-6438-1149-A980-89EF4DD8CC8C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10298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difference-between-statistical-model-and-machine-learnin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F6F36-6844-B7C8-E28F-673D367B0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D" dirty="0"/>
              <a:t>Markov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B0455-7CDE-A8A6-BB5B-BC4AEF9850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814656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8A09-5A76-2830-5AB0-F5013AF8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6B7AB-83B3-03E6-E0BF-BC9E057D1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A markov model is a stochastic model used to model randomly changing system.</a:t>
            </a:r>
          </a:p>
          <a:p>
            <a:r>
              <a:rPr lang="en-BD" dirty="0"/>
              <a:t>It is assumed that future state depends on the current state, not on the events that occur</a:t>
            </a:r>
            <a:r>
              <a:rPr lang="en-GB" dirty="0"/>
              <a:t>r</a:t>
            </a:r>
            <a:r>
              <a:rPr lang="en-BD" dirty="0"/>
              <a:t>ed before.</a:t>
            </a:r>
          </a:p>
          <a:p>
            <a:r>
              <a:rPr lang="en-BD" dirty="0"/>
              <a:t>It is used for sequential data prediction.</a:t>
            </a:r>
          </a:p>
        </p:txBody>
      </p:sp>
    </p:spTree>
    <p:extLst>
      <p:ext uri="{BB962C8B-B14F-4D97-AF65-F5344CB8AC3E}">
        <p14:creationId xmlns:p14="http://schemas.microsoft.com/office/powerpoint/2010/main" val="535446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notebook with a graph on it&#10;&#10;AI-generated content may be incorrect.">
            <a:extLst>
              <a:ext uri="{FF2B5EF4-FFF2-40B4-BE49-F238E27FC236}">
                <a16:creationId xmlns:a16="http://schemas.microsoft.com/office/drawing/2014/main" id="{E0DC06FA-1A2D-3067-C70E-7723BB04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44" t="22370" r="4766" b="33482"/>
          <a:stretch>
            <a:fillRect/>
          </a:stretch>
        </p:blipFill>
        <p:spPr>
          <a:xfrm>
            <a:off x="1559560" y="407114"/>
            <a:ext cx="9072880" cy="604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36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weather forecast&#10;&#10;AI-generated content may be incorrect.">
            <a:extLst>
              <a:ext uri="{FF2B5EF4-FFF2-40B4-BE49-F238E27FC236}">
                <a16:creationId xmlns:a16="http://schemas.microsoft.com/office/drawing/2014/main" id="{DF688D82-C893-12BC-5236-F23EDFD3C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360" y="1076960"/>
            <a:ext cx="8219440" cy="4419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938ED47-5616-91BB-BAC3-258A70F73900}"/>
              </a:ext>
            </a:extLst>
          </p:cNvPr>
          <p:cNvSpPr/>
          <p:nvPr/>
        </p:nvSpPr>
        <p:spPr>
          <a:xfrm>
            <a:off x="5134535" y="1361440"/>
            <a:ext cx="1922929" cy="5244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dirty="0"/>
              <a:t>Initially weather</a:t>
            </a:r>
          </a:p>
        </p:txBody>
      </p:sp>
    </p:spTree>
    <p:extLst>
      <p:ext uri="{BB962C8B-B14F-4D97-AF65-F5344CB8AC3E}">
        <p14:creationId xmlns:p14="http://schemas.microsoft.com/office/powerpoint/2010/main" val="3897607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9ABE-0304-A483-BD6C-D6E4C5E19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Markov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5172A-9D6F-E0F1-ECD1-314C3ED8A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Any chain of event that follow the markov property that chain is called markov chain.</a:t>
            </a:r>
          </a:p>
        </p:txBody>
      </p:sp>
      <p:pic>
        <p:nvPicPr>
          <p:cNvPr id="4" name="Picture 3" descr="A white paper with black text on it&#10;&#10;AI-generated content may be incorrect.">
            <a:extLst>
              <a:ext uri="{FF2B5EF4-FFF2-40B4-BE49-F238E27FC236}">
                <a16:creationId xmlns:a16="http://schemas.microsoft.com/office/drawing/2014/main" id="{41AF1F2C-93A3-4B90-E00F-90E783C4D1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58" t="17342" r="16078" b="26013"/>
          <a:stretch>
            <a:fillRect/>
          </a:stretch>
        </p:blipFill>
        <p:spPr>
          <a:xfrm>
            <a:off x="2895600" y="2874963"/>
            <a:ext cx="58420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84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CB5E-595C-869B-E3FC-2B9C68CAB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Mathematical Definition</a:t>
            </a:r>
            <a:endParaRPr lang="en-B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6FC92-178D-CACD-1AC1-FEB936BEE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20120" cy="4667250"/>
              </a:xfrm>
            </p:spPr>
            <p:txBody>
              <a:bodyPr/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be the set of possible states.</a:t>
                </a:r>
              </a:p>
              <a:p>
                <a:r>
                  <a:rPr lang="en-GB" dirty="0"/>
                  <a:t>Then, for any time step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:</a:t>
                </a:r>
              </a:p>
              <a:p>
                <a:pPr lvl="1"/>
                <a:endParaRPr lang="ar-AE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This means:</a:t>
                </a:r>
                <a:br>
                  <a:rPr lang="en-GB" dirty="0"/>
                </a:br>
                <a:r>
                  <a:rPr lang="en-GB" dirty="0"/>
                  <a:t>	The probability of going to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at time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depends only on the current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  <a:endParaRPr lang="en-US" dirty="0"/>
              </a:p>
              <a:p>
                <a:r>
                  <a:rPr lang="en-US" dirty="0"/>
                  <a:t>This is called first order </a:t>
                </a:r>
                <a:r>
                  <a:rPr lang="en-US" dirty="0" err="1"/>
                  <a:t>markov</a:t>
                </a:r>
                <a:r>
                  <a:rPr lang="en-US" dirty="0"/>
                  <a:t> model.</a:t>
                </a:r>
                <a:endParaRPr lang="ar-AE" dirty="0"/>
              </a:p>
              <a:p>
                <a:endParaRPr lang="en-BD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6FC92-178D-CACD-1AC1-FEB936BEE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20120" cy="4667250"/>
              </a:xfrm>
              <a:blipFill>
                <a:blip r:embed="rId2"/>
                <a:stretch>
                  <a:fillRect l="-1027" t="-2168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DABF99A-4DA7-FB6A-2B60-DB8BE1A1C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880" y="3123724"/>
            <a:ext cx="9672320" cy="87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2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DAC7-5EC4-08BE-DFC0-B3239B47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Transition Matrix Example</a:t>
            </a:r>
          </a:p>
        </p:txBody>
      </p:sp>
      <p:pic>
        <p:nvPicPr>
          <p:cNvPr id="12" name="Picture 11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B8CFC0CA-A710-C4EF-6672-1D9DEF217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621"/>
          <a:stretch>
            <a:fillRect/>
          </a:stretch>
        </p:blipFill>
        <p:spPr>
          <a:xfrm>
            <a:off x="1596633" y="2498578"/>
            <a:ext cx="4390390" cy="12049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462778-1BDB-ED9E-2D8F-87D99902B397}"/>
                  </a:ext>
                </a:extLst>
              </p:cNvPr>
              <p:cNvSpPr txBox="1"/>
              <p:nvPr/>
            </p:nvSpPr>
            <p:spPr>
              <a:xfrm>
                <a:off x="1596633" y="1738852"/>
                <a:ext cx="43903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BD" dirty="0"/>
                  <a:t>State Space = { Sunny, Rainy, Cloudy }</a:t>
                </a:r>
              </a:p>
              <a:p>
                <a:r>
                  <a:rPr lang="en-BD" dirty="0"/>
                  <a:t>Initial state distribution   </a:t>
                </a:r>
                <a14:m>
                  <m:oMath xmlns:m="http://schemas.openxmlformats.org/officeDocument/2006/math">
                    <m:r>
                      <a:rPr lang="en-B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BD" dirty="0"/>
                  <a:t> = { 0.3, 0.5, 0.2 }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462778-1BDB-ED9E-2D8F-87D99902B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633" y="1738852"/>
                <a:ext cx="4390390" cy="646331"/>
              </a:xfrm>
              <a:prstGeom prst="rect">
                <a:avLst/>
              </a:prstGeom>
              <a:blipFill>
                <a:blip r:embed="rId3"/>
                <a:stretch>
                  <a:fillRect l="-1153" t="-3846" b="-13462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EF7777E5-981A-91A5-0690-5634FF0C81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777" b="-832"/>
          <a:stretch>
            <a:fillRect/>
          </a:stretch>
        </p:blipFill>
        <p:spPr>
          <a:xfrm>
            <a:off x="1449705" y="4557007"/>
            <a:ext cx="4390390" cy="19358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A3D992-9906-76EE-FE60-4DD08C633285}"/>
              </a:ext>
            </a:extLst>
          </p:cNvPr>
          <p:cNvSpPr txBox="1"/>
          <p:nvPr/>
        </p:nvSpPr>
        <p:spPr>
          <a:xfrm>
            <a:off x="2682681" y="3945583"/>
            <a:ext cx="192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b="1" u="sng" dirty="0"/>
              <a:t>Transition Matrix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4B0F21-463A-B82F-E47C-EEADD10260E5}"/>
              </a:ext>
            </a:extLst>
          </p:cNvPr>
          <p:cNvSpPr txBox="1"/>
          <p:nvPr/>
        </p:nvSpPr>
        <p:spPr>
          <a:xfrm rot="16200000">
            <a:off x="516886" y="5560055"/>
            <a:ext cx="1496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</a:t>
            </a:r>
            <a:r>
              <a:rPr lang="en-BD" dirty="0"/>
              <a:t>resent state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075A06-3849-041A-FD58-B3802EC7BB9C}"/>
              </a:ext>
            </a:extLst>
          </p:cNvPr>
          <p:cNvSpPr txBox="1"/>
          <p:nvPr/>
        </p:nvSpPr>
        <p:spPr>
          <a:xfrm>
            <a:off x="2936408" y="4251295"/>
            <a:ext cx="140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Future State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0562B8B-4A6C-41B0-7CE0-0E3633585FAF}"/>
              </a:ext>
            </a:extLst>
          </p:cNvPr>
          <p:cNvSpPr/>
          <p:nvPr/>
        </p:nvSpPr>
        <p:spPr>
          <a:xfrm>
            <a:off x="4866640" y="5913120"/>
            <a:ext cx="589280" cy="4470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5E70B0-B22F-6393-DB44-2BCF8D188C97}"/>
              </a:ext>
            </a:extLst>
          </p:cNvPr>
          <p:cNvCxnSpPr>
            <a:cxnSpLocks/>
          </p:cNvCxnSpPr>
          <p:nvPr/>
        </p:nvCxnSpPr>
        <p:spPr>
          <a:xfrm>
            <a:off x="5401776" y="6182715"/>
            <a:ext cx="950131" cy="188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25B87F9-80FC-4F09-82F2-A1DF9E1ECD47}"/>
              </a:ext>
            </a:extLst>
          </p:cNvPr>
          <p:cNvSpPr txBox="1"/>
          <p:nvPr/>
        </p:nvSpPr>
        <p:spPr>
          <a:xfrm>
            <a:off x="6375231" y="6323446"/>
            <a:ext cx="2445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Transitional probability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585EB-4027-A854-72A3-0AA9140FB074}"/>
              </a:ext>
            </a:extLst>
          </p:cNvPr>
          <p:cNvSpPr txBox="1"/>
          <p:nvPr/>
        </p:nvSpPr>
        <p:spPr>
          <a:xfrm>
            <a:off x="7953156" y="5524941"/>
            <a:ext cx="2609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State Transition Diagram</a:t>
            </a:r>
          </a:p>
        </p:txBody>
      </p:sp>
      <p:pic>
        <p:nvPicPr>
          <p:cNvPr id="25" name="Picture 24" descr="A diagram of a weather diagram&#10;&#10;AI-generated content may be incorrect.">
            <a:extLst>
              <a:ext uri="{FF2B5EF4-FFF2-40B4-BE49-F238E27FC236}">
                <a16:creationId xmlns:a16="http://schemas.microsoft.com/office/drawing/2014/main" id="{3CDF8707-7B50-0374-58DF-FD92B2148E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85" t="16862" r="22796" b="24949"/>
          <a:stretch>
            <a:fillRect/>
          </a:stretch>
        </p:blipFill>
        <p:spPr>
          <a:xfrm rot="16200000">
            <a:off x="7037098" y="703734"/>
            <a:ext cx="3959699" cy="555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51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6D13-FD1A-B3BD-BD4B-C4836DF5C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28A60-9AAF-E6EA-ED7E-2E6BFAA0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Given that today the weather is sunny, what is the probability that tomorrow is sunny and day after is raning?</a:t>
            </a:r>
          </a:p>
          <a:p>
            <a:r>
              <a:rPr lang="en-BD" dirty="0"/>
              <a:t>Solution:</a:t>
            </a:r>
          </a:p>
          <a:p>
            <a:endParaRPr lang="en-BD" dirty="0"/>
          </a:p>
        </p:txBody>
      </p:sp>
      <p:pic>
        <p:nvPicPr>
          <p:cNvPr id="5" name="Picture 4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282E1218-0653-128A-4E41-06152CF0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92" t="32438" r="12963" b="24952"/>
          <a:stretch>
            <a:fillRect/>
          </a:stretch>
        </p:blipFill>
        <p:spPr>
          <a:xfrm>
            <a:off x="2810434" y="2756646"/>
            <a:ext cx="8848165" cy="410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60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56BF-F5AF-19FC-14E2-7046062F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D3BFF-0E25-7B5E-C8D2-DA8EB61A8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Given that today the weather is cloudy and yesterday was rainy, what is the probability that tomorrow would be sunny?</a:t>
            </a:r>
          </a:p>
        </p:txBody>
      </p:sp>
    </p:spTree>
    <p:extLst>
      <p:ext uri="{BB962C8B-B14F-4D97-AF65-F5344CB8AC3E}">
        <p14:creationId xmlns:p14="http://schemas.microsoft.com/office/powerpoint/2010/main" val="2811171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AD9E3-3D80-1796-4239-0EF9D55D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CD628-AC1B-0191-57D5-D21D824EB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What is the probability of given series?</a:t>
            </a:r>
          </a:p>
          <a:p>
            <a:pPr lvl="1"/>
            <a:r>
              <a:rPr lang="en-BD" dirty="0"/>
              <a:t>Sunny -&gt; Rainy -&gt; Rainy -&gt; Rainy -&gt; Cloudy -&gt; Cloudy</a:t>
            </a:r>
          </a:p>
          <a:p>
            <a:r>
              <a:rPr lang="en-BD" dirty="0"/>
              <a:t>Solution:</a:t>
            </a:r>
          </a:p>
          <a:p>
            <a:pPr lvl="1"/>
            <a:r>
              <a:rPr lang="en-BD" dirty="0"/>
              <a:t>P(S) * P(R | S) * P (R | R) * P (R | R) * P ( C | R) * P ( C | C )</a:t>
            </a:r>
          </a:p>
          <a:p>
            <a:pPr marL="457200" lvl="1" indent="0">
              <a:buNone/>
            </a:pPr>
            <a:r>
              <a:rPr lang="en-BD" dirty="0"/>
              <a:t>= 0.3×0.1×0.5×0.5×0.4×0.5 = 0.0015 </a:t>
            </a:r>
          </a:p>
          <a:p>
            <a:pPr lvl="1"/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52069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95CB-86CD-000B-E699-48857C29D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Hidden Markov Model</a:t>
            </a:r>
          </a:p>
        </p:txBody>
      </p:sp>
      <p:pic>
        <p:nvPicPr>
          <p:cNvPr id="5" name="Content Placeholder 4" descr="A diagram of weather forecast&#10;&#10;AI-generated content may be incorrect.">
            <a:extLst>
              <a:ext uri="{FF2B5EF4-FFF2-40B4-BE49-F238E27FC236}">
                <a16:creationId xmlns:a16="http://schemas.microsoft.com/office/drawing/2014/main" id="{AB8C9232-1E95-93EA-0C99-CD3FFA79D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0205" y="1690688"/>
            <a:ext cx="8193741" cy="4667250"/>
          </a:xfr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7ADB9038-DE59-AC13-4FF8-4A3818BC24E3}"/>
              </a:ext>
            </a:extLst>
          </p:cNvPr>
          <p:cNvSpPr/>
          <p:nvPr/>
        </p:nvSpPr>
        <p:spPr>
          <a:xfrm>
            <a:off x="3065929" y="3267635"/>
            <a:ext cx="443753" cy="110265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F0D0B-A933-0F50-AE5E-7BAE3FB6925E}"/>
              </a:ext>
            </a:extLst>
          </p:cNvPr>
          <p:cNvSpPr txBox="1"/>
          <p:nvPr/>
        </p:nvSpPr>
        <p:spPr>
          <a:xfrm>
            <a:off x="2151529" y="3429000"/>
            <a:ext cx="957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</a:t>
            </a:r>
            <a:r>
              <a:rPr lang="en-BD" dirty="0"/>
              <a:t>idden </a:t>
            </a:r>
          </a:p>
          <a:p>
            <a:r>
              <a:rPr lang="en-BD" dirty="0"/>
              <a:t>layer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713C25B5-92FA-1E8F-A7EE-336C36A5AA89}"/>
              </a:ext>
            </a:extLst>
          </p:cNvPr>
          <p:cNvSpPr/>
          <p:nvPr/>
        </p:nvSpPr>
        <p:spPr>
          <a:xfrm>
            <a:off x="3218329" y="4697505"/>
            <a:ext cx="546847" cy="144780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4B0533-EC6D-076D-913F-37BAE893A44F}"/>
              </a:ext>
            </a:extLst>
          </p:cNvPr>
          <p:cNvSpPr txBox="1"/>
          <p:nvPr/>
        </p:nvSpPr>
        <p:spPr>
          <a:xfrm>
            <a:off x="1813136" y="5098239"/>
            <a:ext cx="1405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</a:t>
            </a:r>
            <a:r>
              <a:rPr lang="en-BD" dirty="0"/>
              <a:t>bservation</a:t>
            </a:r>
          </a:p>
          <a:p>
            <a:r>
              <a:rPr lang="en-BD" dirty="0"/>
              <a:t>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F118D2-C4D2-5E82-6067-134E876D69E2}"/>
              </a:ext>
            </a:extLst>
          </p:cNvPr>
          <p:cNvSpPr/>
          <p:nvPr/>
        </p:nvSpPr>
        <p:spPr>
          <a:xfrm>
            <a:off x="6589057" y="1842246"/>
            <a:ext cx="2097743" cy="361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dirty="0"/>
              <a:t>Initially weather</a:t>
            </a:r>
          </a:p>
        </p:txBody>
      </p:sp>
    </p:spTree>
    <p:extLst>
      <p:ext uri="{BB962C8B-B14F-4D97-AF65-F5344CB8AC3E}">
        <p14:creationId xmlns:p14="http://schemas.microsoft.com/office/powerpoint/2010/main" val="1155957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5D9B-C753-DC8E-526A-B95791E05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Hidden Markov Model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CF3D7-C790-7CDD-47F8-0D2DBC75B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It is a </a:t>
            </a:r>
            <a:r>
              <a:rPr lang="en-GB" dirty="0">
                <a:hlinkClick r:id="rId2"/>
              </a:rPr>
              <a:t>statistical model</a:t>
            </a:r>
            <a:r>
              <a:rPr lang="en-GB" dirty="0"/>
              <a:t> that is used to describe the probabilistic relationship between a sequence of observations and a sequence of hidden states.</a:t>
            </a:r>
          </a:p>
          <a:p>
            <a:pPr fontAlgn="base"/>
            <a:r>
              <a:rPr lang="en-GB" dirty="0"/>
              <a:t>An HMM consists of two types of variables:</a:t>
            </a:r>
          </a:p>
          <a:p>
            <a:pPr lvl="1" fontAlgn="base"/>
            <a:r>
              <a:rPr lang="en-GB" dirty="0"/>
              <a:t>The </a:t>
            </a:r>
            <a:r>
              <a:rPr lang="en-GB" b="1" dirty="0"/>
              <a:t>hidden states</a:t>
            </a:r>
            <a:r>
              <a:rPr lang="en-GB" dirty="0"/>
              <a:t> are the underlying variables that generate the observed data, but they are not directly observable.</a:t>
            </a:r>
          </a:p>
          <a:p>
            <a:pPr lvl="1" fontAlgn="base"/>
            <a:r>
              <a:rPr lang="en-GB" dirty="0"/>
              <a:t>The </a:t>
            </a:r>
            <a:r>
              <a:rPr lang="en-GB" b="1" dirty="0"/>
              <a:t>observations</a:t>
            </a:r>
            <a:r>
              <a:rPr lang="en-GB" dirty="0"/>
              <a:t> are the variables that are measured and observed. </a:t>
            </a:r>
          </a:p>
          <a:p>
            <a:r>
              <a:rPr lang="en-GB" dirty="0"/>
              <a:t>HMMs are widely used in speech recognition, natural language processing, bioinformatics, and many other fields.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01921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C77DD-FF9C-2E1F-C7B1-532B4B69C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Hidden Markov Model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99EB1-B29F-F09E-AB0E-0660460BB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/>
              <a:t>The Hidden Markov Model (HMM) is the relationship between the hidden states and the observations using two sets of probabilities: the transition probabilities and the emission probabilities. </a:t>
            </a:r>
          </a:p>
          <a:p>
            <a:pPr lvl="1" fontAlgn="base"/>
            <a:r>
              <a:rPr lang="en-GB" dirty="0"/>
              <a:t>The </a:t>
            </a:r>
            <a:r>
              <a:rPr lang="en-GB" b="1" dirty="0"/>
              <a:t>transition probabilities </a:t>
            </a:r>
            <a:r>
              <a:rPr lang="en-GB" dirty="0"/>
              <a:t>describe the probability of transitioning from one hidden state to another.</a:t>
            </a:r>
          </a:p>
          <a:p>
            <a:pPr lvl="1" fontAlgn="base"/>
            <a:r>
              <a:rPr lang="en-GB" dirty="0"/>
              <a:t>The </a:t>
            </a:r>
            <a:r>
              <a:rPr lang="en-GB" b="1" dirty="0"/>
              <a:t>emission probabilities</a:t>
            </a:r>
            <a:r>
              <a:rPr lang="en-GB" dirty="0"/>
              <a:t> describe the probability of observing an output given a hidden state.</a:t>
            </a:r>
          </a:p>
          <a:p>
            <a:br>
              <a:rPr lang="en-GB" dirty="0"/>
            </a:br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348148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diagram of weather forecast&#10;&#10;AI-generated content may be incorrect.">
            <a:extLst>
              <a:ext uri="{FF2B5EF4-FFF2-40B4-BE49-F238E27FC236}">
                <a16:creationId xmlns:a16="http://schemas.microsoft.com/office/drawing/2014/main" id="{22D4911F-2B55-CC3D-C417-451421F5B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0701" y="133536"/>
            <a:ext cx="6591299" cy="6534150"/>
          </a:xfrm>
        </p:spPr>
      </p:pic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9D1AF6FA-82E3-56CF-C7C5-4A34F89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00786"/>
            <a:ext cx="4445000" cy="1866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D1AFB0-F5AC-8718-0CA1-2B9925D714DA}"/>
              </a:ext>
            </a:extLst>
          </p:cNvPr>
          <p:cNvSpPr txBox="1"/>
          <p:nvPr/>
        </p:nvSpPr>
        <p:spPr>
          <a:xfrm>
            <a:off x="2182318" y="4431454"/>
            <a:ext cx="1855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b="1" u="sng" dirty="0"/>
              <a:t>Emission Matrix</a:t>
            </a:r>
          </a:p>
        </p:txBody>
      </p:sp>
      <p:pic>
        <p:nvPicPr>
          <p:cNvPr id="8" name="Picture 7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477280EC-CBAA-5307-5A59-64BC83DA1C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777" b="-832"/>
          <a:stretch>
            <a:fillRect/>
          </a:stretch>
        </p:blipFill>
        <p:spPr>
          <a:xfrm>
            <a:off x="892810" y="2426546"/>
            <a:ext cx="4390390" cy="1935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FB812B-05BC-3017-2804-C8FB4E4F91C3}"/>
              </a:ext>
            </a:extLst>
          </p:cNvPr>
          <p:cNvSpPr txBox="1"/>
          <p:nvPr/>
        </p:nvSpPr>
        <p:spPr>
          <a:xfrm>
            <a:off x="2125786" y="1988174"/>
            <a:ext cx="192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b="1" u="sng" dirty="0"/>
              <a:t>Transition Matrix</a:t>
            </a:r>
          </a:p>
        </p:txBody>
      </p:sp>
      <p:pic>
        <p:nvPicPr>
          <p:cNvPr id="10" name="Picture 9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0911C81B-FB49-022E-D0B5-B05353CA2B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2621"/>
          <a:stretch>
            <a:fillRect/>
          </a:stretch>
        </p:blipFill>
        <p:spPr>
          <a:xfrm>
            <a:off x="865505" y="714220"/>
            <a:ext cx="4390390" cy="12049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B052B9-BABB-043E-866B-ACC2445F3421}"/>
                  </a:ext>
                </a:extLst>
              </p:cNvPr>
              <p:cNvSpPr txBox="1"/>
              <p:nvPr/>
            </p:nvSpPr>
            <p:spPr>
              <a:xfrm>
                <a:off x="1643163" y="275848"/>
                <a:ext cx="293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D" b="1" u="sng" dirty="0"/>
                  <a:t>Initial state distribution   </a:t>
                </a:r>
                <a14:m>
                  <m:oMath xmlns:m="http://schemas.openxmlformats.org/officeDocument/2006/math">
                    <m:r>
                      <a:rPr lang="en-BD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endParaRPr lang="en-BD" b="1" u="sn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B052B9-BABB-043E-866B-ACC2445F3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3163" y="275848"/>
                <a:ext cx="2933432" cy="369332"/>
              </a:xfrm>
              <a:prstGeom prst="rect">
                <a:avLst/>
              </a:prstGeom>
              <a:blipFill>
                <a:blip r:embed="rId5"/>
                <a:stretch>
                  <a:fillRect l="-1724" t="-6667" b="-26667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60A6160-69D3-CDB1-CFCF-2FE663F4BFD8}"/>
              </a:ext>
            </a:extLst>
          </p:cNvPr>
          <p:cNvSpPr/>
          <p:nvPr/>
        </p:nvSpPr>
        <p:spPr>
          <a:xfrm>
            <a:off x="8162365" y="403412"/>
            <a:ext cx="1573306" cy="5378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dirty="0"/>
              <a:t>Initially weather</a:t>
            </a:r>
          </a:p>
        </p:txBody>
      </p:sp>
    </p:spTree>
    <p:extLst>
      <p:ext uri="{BB962C8B-B14F-4D97-AF65-F5344CB8AC3E}">
        <p14:creationId xmlns:p14="http://schemas.microsoft.com/office/powerpoint/2010/main" val="3750328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ADB4-B8FE-5B95-C90D-8F74D546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Hidden Markov Model (Cont’d)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FAA65E-D156-AC38-2EF7-00522E3DD76F}"/>
              </a:ext>
            </a:extLst>
          </p:cNvPr>
          <p:cNvSpPr/>
          <p:nvPr/>
        </p:nvSpPr>
        <p:spPr>
          <a:xfrm>
            <a:off x="4746812" y="3603812"/>
            <a:ext cx="2420470" cy="12371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6FF298-EAA1-6A32-F24B-36083314A293}"/>
                  </a:ext>
                </a:extLst>
              </p:cNvPr>
              <p:cNvSpPr txBox="1"/>
              <p:nvPr/>
            </p:nvSpPr>
            <p:spPr>
              <a:xfrm>
                <a:off x="1611674" y="2709766"/>
                <a:ext cx="293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D" b="1" dirty="0"/>
                  <a:t>Initial state distribution   </a:t>
                </a:r>
                <a14:m>
                  <m:oMath xmlns:m="http://schemas.openxmlformats.org/officeDocument/2006/math">
                    <m:r>
                      <a:rPr lang="en-BD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endParaRPr lang="en-BD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6FF298-EAA1-6A32-F24B-36083314A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674" y="2709766"/>
                <a:ext cx="2933432" cy="369332"/>
              </a:xfrm>
              <a:prstGeom prst="rect">
                <a:avLst/>
              </a:prstGeom>
              <a:blipFill>
                <a:blip r:embed="rId2"/>
                <a:stretch>
                  <a:fillRect l="-1717" t="-6667" b="-26667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F67C9E5-D5A0-881F-D961-B834D79FA79D}"/>
              </a:ext>
            </a:extLst>
          </p:cNvPr>
          <p:cNvSpPr txBox="1"/>
          <p:nvPr/>
        </p:nvSpPr>
        <p:spPr>
          <a:xfrm>
            <a:off x="2125786" y="3069383"/>
            <a:ext cx="1855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b="1" dirty="0"/>
              <a:t>Emission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F2353-339F-B7FF-45B4-9E42450884C7}"/>
              </a:ext>
            </a:extLst>
          </p:cNvPr>
          <p:cNvSpPr txBox="1"/>
          <p:nvPr/>
        </p:nvSpPr>
        <p:spPr>
          <a:xfrm>
            <a:off x="2125786" y="2366742"/>
            <a:ext cx="192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b="1" dirty="0"/>
              <a:t>Transition Matrix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4322C03-D1F4-23E9-5D65-A631ACEC7999}"/>
              </a:ext>
            </a:extLst>
          </p:cNvPr>
          <p:cNvSpPr/>
          <p:nvPr/>
        </p:nvSpPr>
        <p:spPr>
          <a:xfrm>
            <a:off x="4208929" y="2366742"/>
            <a:ext cx="537883" cy="10719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C5511C7-A191-5AE1-3800-F5FA4E18F9AB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4773126" y="2894432"/>
            <a:ext cx="1183921" cy="7093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A01F47-3794-D85A-BE89-2A575ACB1C4A}"/>
              </a:ext>
            </a:extLst>
          </p:cNvPr>
          <p:cNvSpPr txBox="1"/>
          <p:nvPr/>
        </p:nvSpPr>
        <p:spPr>
          <a:xfrm>
            <a:off x="2918011" y="4098176"/>
            <a:ext cx="13351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Observable</a:t>
            </a:r>
          </a:p>
          <a:p>
            <a:r>
              <a:rPr lang="en-BD" dirty="0"/>
              <a:t>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EF8A27-7AC7-DBA6-B979-598F1879BA97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4253120" y="4421341"/>
            <a:ext cx="49369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E6EE20-C685-C12C-3E02-31E6CD630D33}"/>
              </a:ext>
            </a:extLst>
          </p:cNvPr>
          <p:cNvCxnSpPr>
            <a:stCxn id="4" idx="3"/>
          </p:cNvCxnSpPr>
          <p:nvPr/>
        </p:nvCxnSpPr>
        <p:spPr>
          <a:xfrm flipV="1">
            <a:off x="7167282" y="4222376"/>
            <a:ext cx="38996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2B8F8E7-6811-CA51-5DA7-C962E221CB71}"/>
              </a:ext>
            </a:extLst>
          </p:cNvPr>
          <p:cNvSpPr txBox="1"/>
          <p:nvPr/>
        </p:nvSpPr>
        <p:spPr>
          <a:xfrm>
            <a:off x="7655260" y="4071717"/>
            <a:ext cx="146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</a:t>
            </a:r>
            <a:r>
              <a:rPr lang="en-BD" dirty="0"/>
              <a:t>idden state</a:t>
            </a:r>
          </a:p>
        </p:txBody>
      </p:sp>
    </p:spTree>
    <p:extLst>
      <p:ext uri="{BB962C8B-B14F-4D97-AF65-F5344CB8AC3E}">
        <p14:creationId xmlns:p14="http://schemas.microsoft.com/office/powerpoint/2010/main" val="3502088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AA20-1C35-E7C5-78CA-A1A56E9D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5" name="Picture 4" descr="A drawing of a person holding an umbrella&#10;&#10;AI-generated content may be incorrect.">
            <a:extLst>
              <a:ext uri="{FF2B5EF4-FFF2-40B4-BE49-F238E27FC236}">
                <a16:creationId xmlns:a16="http://schemas.microsoft.com/office/drawing/2014/main" id="{1338CB1B-E184-0426-406E-B6F4CD815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729" y="1916579"/>
            <a:ext cx="8576541" cy="2574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89E110-81D8-5AB7-88DA-317275C029C5}"/>
              </a:ext>
            </a:extLst>
          </p:cNvPr>
          <p:cNvSpPr txBox="1"/>
          <p:nvPr/>
        </p:nvSpPr>
        <p:spPr>
          <a:xfrm>
            <a:off x="1807729" y="4784392"/>
            <a:ext cx="59494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dirty="0"/>
              <a:t>N = No of hidden state = 3</a:t>
            </a:r>
          </a:p>
          <a:p>
            <a:r>
              <a:rPr lang="en-BD" sz="2800" dirty="0"/>
              <a:t>T = Given no of observation = 4</a:t>
            </a:r>
          </a:p>
          <a:p>
            <a:r>
              <a:rPr lang="en-BD" sz="2800" dirty="0"/>
              <a:t>Total no of combination = N</a:t>
            </a:r>
            <a:r>
              <a:rPr lang="en-BD" sz="2800" baseline="30000" dirty="0"/>
              <a:t>T </a:t>
            </a:r>
            <a:r>
              <a:rPr lang="en-BD" sz="2800" dirty="0"/>
              <a:t>=  3</a:t>
            </a:r>
            <a:r>
              <a:rPr lang="en-BD" sz="2800" baseline="30000" dirty="0"/>
              <a:t>4</a:t>
            </a:r>
            <a:r>
              <a:rPr lang="en-BD" sz="2800" dirty="0"/>
              <a:t> = 81</a:t>
            </a:r>
          </a:p>
        </p:txBody>
      </p:sp>
    </p:spTree>
    <p:extLst>
      <p:ext uri="{BB962C8B-B14F-4D97-AF65-F5344CB8AC3E}">
        <p14:creationId xmlns:p14="http://schemas.microsoft.com/office/powerpoint/2010/main" val="485027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486A-7672-663D-306F-99EB6A244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BD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D9B9-6706-3601-458F-37B4FBE86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8764"/>
            <a:ext cx="10515600" cy="857857"/>
          </a:xfrm>
        </p:spPr>
        <p:txBody>
          <a:bodyPr/>
          <a:lstStyle/>
          <a:p>
            <a:r>
              <a:rPr lang="en-BD" dirty="0"/>
              <a:t>If the observable state is (1, 3, 1) find the hidden state</a:t>
            </a:r>
          </a:p>
          <a:p>
            <a:endParaRPr lang="en-BD" dirty="0"/>
          </a:p>
        </p:txBody>
      </p:sp>
      <p:pic>
        <p:nvPicPr>
          <p:cNvPr id="4" name="Picture 3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3C2FB811-EBB0-2774-9231-49B8840275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85" t="13432" r="15394" b="61274"/>
          <a:stretch>
            <a:fillRect/>
          </a:stretch>
        </p:blipFill>
        <p:spPr>
          <a:xfrm>
            <a:off x="838200" y="2974970"/>
            <a:ext cx="10515600" cy="3517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0D4863-70C7-807A-B6FB-0B8D24B9855B}"/>
              </a:ext>
            </a:extLst>
          </p:cNvPr>
          <p:cNvSpPr txBox="1"/>
          <p:nvPr/>
        </p:nvSpPr>
        <p:spPr>
          <a:xfrm>
            <a:off x="4955977" y="5916706"/>
            <a:ext cx="4069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</a:t>
            </a:r>
            <a:r>
              <a:rPr lang="en-BD" dirty="0"/>
              <a:t>nitial state for hot and cold = {0.8 , 0.2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1E442-2A6E-6586-3216-9947FD3CEFBB}"/>
              </a:ext>
            </a:extLst>
          </p:cNvPr>
          <p:cNvSpPr txBox="1"/>
          <p:nvPr/>
        </p:nvSpPr>
        <p:spPr>
          <a:xfrm>
            <a:off x="8777311" y="3781380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0.5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8EAF1-2598-87F6-B46A-C423A4B64490}"/>
              </a:ext>
            </a:extLst>
          </p:cNvPr>
          <p:cNvSpPr txBox="1"/>
          <p:nvPr/>
        </p:nvSpPr>
        <p:spPr>
          <a:xfrm>
            <a:off x="8954477" y="4127331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0.4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57FE7-EED2-7BFC-1105-C41D5172DA7E}"/>
              </a:ext>
            </a:extLst>
          </p:cNvPr>
          <p:cNvSpPr txBox="1"/>
          <p:nvPr/>
        </p:nvSpPr>
        <p:spPr>
          <a:xfrm>
            <a:off x="9274563" y="447328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0.1</a:t>
            </a:r>
          </a:p>
        </p:txBody>
      </p:sp>
    </p:spTree>
    <p:extLst>
      <p:ext uri="{BB962C8B-B14F-4D97-AF65-F5344CB8AC3E}">
        <p14:creationId xmlns:p14="http://schemas.microsoft.com/office/powerpoint/2010/main" val="708627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6CB2-E84B-6709-BA45-A65184DF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208C9-89C4-E640-A6EB-A9D1C7E0F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D"/>
          </a:p>
        </p:txBody>
      </p:sp>
      <p:pic>
        <p:nvPicPr>
          <p:cNvPr id="4" name="Picture 3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AC1B35A0-BEC9-FC07-2515-A6D749A40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65" t="39970" r="5197" b="13559"/>
          <a:stretch>
            <a:fillRect/>
          </a:stretch>
        </p:blipFill>
        <p:spPr>
          <a:xfrm>
            <a:off x="838199" y="365124"/>
            <a:ext cx="10515600" cy="637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88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92ED7FC4-3116-B2B1-0906-DC6EE82BDB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4" t="54948" r="6771" b="7255"/>
          <a:stretch>
            <a:fillRect/>
          </a:stretch>
        </p:blipFill>
        <p:spPr>
          <a:xfrm>
            <a:off x="1201270" y="1028700"/>
            <a:ext cx="943535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86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829E031A-02B7-355E-D8FB-DE75098D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24" t="11961" r="6012" b="43677"/>
          <a:stretch>
            <a:fillRect/>
          </a:stretch>
        </p:blipFill>
        <p:spPr>
          <a:xfrm>
            <a:off x="1201270" y="672353"/>
            <a:ext cx="9435354" cy="563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60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FAE56049-2787-1284-F7EE-F7A8E61786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85" t="7007" r="10358" b="54808"/>
          <a:stretch>
            <a:fillRect/>
          </a:stretch>
        </p:blipFill>
        <p:spPr>
          <a:xfrm>
            <a:off x="1470212" y="874060"/>
            <a:ext cx="9650506" cy="519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91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AB34-FF8B-3B29-E94E-B609EEA9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B8C2-C651-2870-2A74-CCE3C9F6A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Suppose, the state of emotion(Happy or Sad) is dependent on the weather(Sunny, Cloudy, Rain)</a:t>
            </a:r>
          </a:p>
        </p:txBody>
      </p:sp>
      <p:pic>
        <p:nvPicPr>
          <p:cNvPr id="5" name="Picture 4" descr="A diagram of different weather conditions&#10;&#10;AI-generated content may be incorrect.">
            <a:extLst>
              <a:ext uri="{FF2B5EF4-FFF2-40B4-BE49-F238E27FC236}">
                <a16:creationId xmlns:a16="http://schemas.microsoft.com/office/drawing/2014/main" id="{E35B23A4-03D0-8E91-5BC6-85B8EEB53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559" y="2842933"/>
            <a:ext cx="8538882" cy="392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59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B0F49-FD74-F57A-334B-629F619E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61990-2095-CABF-5FCC-69AC4660F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7"/>
          </a:xfrm>
        </p:spPr>
        <p:txBody>
          <a:bodyPr>
            <a:normAutofit/>
          </a:bodyPr>
          <a:lstStyle/>
          <a:p>
            <a:r>
              <a:rPr lang="en-GB" dirty="0"/>
              <a:t>Now if probability of weather being Sunny is 50.90% then what is the probability of occurrence of the following series of event?</a:t>
            </a:r>
          </a:p>
          <a:p>
            <a:endParaRPr lang="en-BD" dirty="0"/>
          </a:p>
          <a:p>
            <a:endParaRPr lang="en-BD" dirty="0"/>
          </a:p>
          <a:p>
            <a:endParaRPr lang="en-BD" dirty="0"/>
          </a:p>
          <a:p>
            <a:endParaRPr lang="en-BD" dirty="0"/>
          </a:p>
          <a:p>
            <a:endParaRPr lang="en-BD" dirty="0"/>
          </a:p>
          <a:p>
            <a:r>
              <a:rPr lang="en-GB" dirty="0"/>
              <a:t>Given P(S) = 50.90%, then what is the joint probability of the observed mood given the weather sequence below?</a:t>
            </a:r>
          </a:p>
          <a:p>
            <a:r>
              <a:rPr lang="en-GB" dirty="0"/>
              <a:t>P(Y=H,H,S , X=S,C,S)</a:t>
            </a:r>
          </a:p>
          <a:p>
            <a:endParaRPr lang="en-BD" dirty="0"/>
          </a:p>
        </p:txBody>
      </p:sp>
      <p:pic>
        <p:nvPicPr>
          <p:cNvPr id="5" name="Picture 4" descr="A diagram of sun and clouds&#10;&#10;AI-generated content may be incorrect.">
            <a:extLst>
              <a:ext uri="{FF2B5EF4-FFF2-40B4-BE49-F238E27FC236}">
                <a16:creationId xmlns:a16="http://schemas.microsoft.com/office/drawing/2014/main" id="{14415613-9634-703B-FE60-BC5C2E827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826" y="2925482"/>
            <a:ext cx="3719232" cy="223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00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FAF7DEC3-A974-A577-0937-EBD9E177D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1638" b="39202"/>
          <a:stretch>
            <a:fillRect/>
          </a:stretch>
        </p:blipFill>
        <p:spPr>
          <a:xfrm>
            <a:off x="2918011" y="886714"/>
            <a:ext cx="5957047" cy="4212571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3D9F81-A836-88D2-DAAA-302478BE7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317" y="5506336"/>
            <a:ext cx="10075407" cy="117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71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AAAB-C5F5-E704-8120-8919FC41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Need for Viterbi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752E-156F-512F-B719-0E6A2E5BE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It is based on dynamic programming.</a:t>
            </a:r>
          </a:p>
          <a:p>
            <a:r>
              <a:rPr lang="en-BD" dirty="0"/>
              <a:t>Dynamic programming breakdowns the problems into sub-problems.</a:t>
            </a:r>
          </a:p>
          <a:p>
            <a:r>
              <a:rPr lang="en-BD" dirty="0"/>
              <a:t>It saves the result for future purposes therefore don’t need to compute the result again.</a:t>
            </a:r>
          </a:p>
        </p:txBody>
      </p:sp>
    </p:spTree>
    <p:extLst>
      <p:ext uri="{BB962C8B-B14F-4D97-AF65-F5344CB8AC3E}">
        <p14:creationId xmlns:p14="http://schemas.microsoft.com/office/powerpoint/2010/main" val="1863672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43E5-D5CD-D52C-E389-680AA65C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Viterbi Algorithm Steps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ECCA5-A730-D046-4446-C27985084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Step 1: Initialization</a:t>
            </a:r>
          </a:p>
          <a:p>
            <a:pPr lvl="1"/>
            <a:r>
              <a:rPr lang="en-GB" dirty="0"/>
              <a:t>Start at the first observation</a:t>
            </a:r>
          </a:p>
          <a:p>
            <a:pPr lvl="1"/>
            <a:r>
              <a:rPr lang="en-GB" dirty="0"/>
              <a:t>For each possible state, calculate its probability</a:t>
            </a:r>
          </a:p>
          <a:p>
            <a:pPr lvl="1"/>
            <a:r>
              <a:rPr lang="en-GB" dirty="0"/>
              <a:t>Remember which state you're in</a:t>
            </a:r>
          </a:p>
          <a:p>
            <a:r>
              <a:rPr lang="en-GB" b="1" dirty="0"/>
              <a:t>Step 2: Forward Pass (Moving Through Time)</a:t>
            </a:r>
          </a:p>
          <a:p>
            <a:pPr lvl="1"/>
            <a:r>
              <a:rPr lang="en-GB" dirty="0"/>
              <a:t>Move to the next observation</a:t>
            </a:r>
          </a:p>
          <a:p>
            <a:pPr lvl="1"/>
            <a:r>
              <a:rPr lang="en-GB" dirty="0"/>
              <a:t>For each possible state at this time: </a:t>
            </a:r>
          </a:p>
          <a:p>
            <a:pPr lvl="2"/>
            <a:r>
              <a:rPr lang="en-GB" dirty="0"/>
              <a:t>Look at all states from the previous time</a:t>
            </a:r>
          </a:p>
          <a:p>
            <a:pPr lvl="2"/>
            <a:r>
              <a:rPr lang="en-GB" dirty="0"/>
              <a:t>Find which previous state gives the highest probability of reaching the current state</a:t>
            </a:r>
          </a:p>
          <a:p>
            <a:pPr lvl="2"/>
            <a:r>
              <a:rPr lang="en-GB" dirty="0"/>
              <a:t>Multiply by the probability of producing the current observation</a:t>
            </a:r>
          </a:p>
          <a:p>
            <a:pPr lvl="2"/>
            <a:r>
              <a:rPr lang="en-GB" dirty="0"/>
              <a:t>Keep track of the best previous state (this is your "breadcrumb")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807598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C012-1910-315D-35CF-5168ABB1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Viterbi Algorithm Steps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608F8-4826-47D6-3A6D-F78A4CFFE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Step 3: Repeat</a:t>
            </a:r>
          </a:p>
          <a:p>
            <a:pPr lvl="1"/>
            <a:r>
              <a:rPr lang="en-GB" dirty="0"/>
              <a:t>Repeat Step 2 for all remaining observations</a:t>
            </a:r>
          </a:p>
          <a:p>
            <a:pPr lvl="1"/>
            <a:r>
              <a:rPr lang="en-GB" dirty="0"/>
              <a:t>At each time step, always keep only the best path to each state</a:t>
            </a:r>
          </a:p>
          <a:p>
            <a:pPr lvl="1"/>
            <a:r>
              <a:rPr lang="en-GB" dirty="0"/>
              <a:t>Continue until you reach the last observation</a:t>
            </a:r>
          </a:p>
          <a:p>
            <a:r>
              <a:rPr lang="en-GB" b="1" dirty="0"/>
              <a:t>Step 4: Find the Best Final State</a:t>
            </a:r>
          </a:p>
          <a:p>
            <a:pPr lvl="1"/>
            <a:r>
              <a:rPr lang="en-GB" dirty="0"/>
              <a:t>Look at all possible states at the final time</a:t>
            </a:r>
          </a:p>
          <a:p>
            <a:pPr lvl="1"/>
            <a:r>
              <a:rPr lang="en-GB" dirty="0"/>
              <a:t>Choose the one with the highest probability</a:t>
            </a:r>
          </a:p>
          <a:p>
            <a:pPr lvl="1"/>
            <a:r>
              <a:rPr lang="en-GB" dirty="0"/>
              <a:t>This is the end of your best path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59812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29CA-83BE-939C-E764-2006B7250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Viterbi Algorithm Steps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1372F-2DD0-A7BE-E0B9-9C5181BEF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Step 5: Backtrack to Find Full Path</a:t>
            </a:r>
          </a:p>
          <a:p>
            <a:pPr lvl="1"/>
            <a:r>
              <a:rPr lang="en-GB" dirty="0"/>
              <a:t>Start from the best final state you just found</a:t>
            </a:r>
          </a:p>
          <a:p>
            <a:pPr lvl="1"/>
            <a:r>
              <a:rPr lang="en-GB" dirty="0"/>
              <a:t>Follow the breadcrumbs backward</a:t>
            </a:r>
          </a:p>
          <a:p>
            <a:pPr lvl="1"/>
            <a:r>
              <a:rPr lang="en-GB" dirty="0"/>
              <a:t>At each step, look at which previous state you marked as "best"</a:t>
            </a:r>
          </a:p>
          <a:p>
            <a:pPr lvl="1"/>
            <a:r>
              <a:rPr lang="en-GB" dirty="0"/>
              <a:t>Continue until you reach the beginning</a:t>
            </a:r>
          </a:p>
          <a:p>
            <a:pPr lvl="1"/>
            <a:r>
              <a:rPr lang="en-GB" dirty="0"/>
              <a:t>This gives you the complete most-likely sequence of states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1494380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1694505E-E9D4-B070-0354-9812ECBF8C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69" t="22370" r="5951" b="36148"/>
          <a:stretch>
            <a:fillRect/>
          </a:stretch>
        </p:blipFill>
        <p:spPr>
          <a:xfrm>
            <a:off x="609600" y="213360"/>
            <a:ext cx="11074400" cy="647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85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029F794E-D06E-2C4C-7105-3FD9E33724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8" t="63882" r="8292" b="15530"/>
          <a:stretch>
            <a:fillRect/>
          </a:stretch>
        </p:blipFill>
        <p:spPr>
          <a:xfrm>
            <a:off x="797859" y="190416"/>
            <a:ext cx="10596282" cy="2581835"/>
          </a:xfrm>
          <a:prstGeom prst="rect">
            <a:avLst/>
          </a:prstGeom>
        </p:spPr>
      </p:pic>
      <p:pic>
        <p:nvPicPr>
          <p:cNvPr id="5" name="Content Placeholder 4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B81F5DFB-19E4-AB35-4CC7-DCBDC85ABF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19" t="17356" r="15968" b="58381"/>
          <a:stretch>
            <a:fillRect/>
          </a:stretch>
        </p:blipFill>
        <p:spPr>
          <a:xfrm>
            <a:off x="797859" y="3200546"/>
            <a:ext cx="10596282" cy="328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16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notebook with writing on it&#10;&#10;AI-generated content may be incorrect.">
            <a:extLst>
              <a:ext uri="{FF2B5EF4-FFF2-40B4-BE49-F238E27FC236}">
                <a16:creationId xmlns:a16="http://schemas.microsoft.com/office/drawing/2014/main" id="{F947E41C-E8AB-1244-8CB4-A027A7724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89" t="41473" r="14498" b="34264"/>
          <a:stretch>
            <a:fillRect/>
          </a:stretch>
        </p:blipFill>
        <p:spPr>
          <a:xfrm>
            <a:off x="764876" y="690640"/>
            <a:ext cx="11018807" cy="34165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365DB0-06FE-20F3-FDBB-97C60395581A}"/>
              </a:ext>
            </a:extLst>
          </p:cNvPr>
          <p:cNvSpPr txBox="1"/>
          <p:nvPr/>
        </p:nvSpPr>
        <p:spPr>
          <a:xfrm>
            <a:off x="966158" y="4554747"/>
            <a:ext cx="3052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2800" dirty="0"/>
              <a:t>So, the ans is HCH</a:t>
            </a:r>
          </a:p>
        </p:txBody>
      </p:sp>
    </p:spTree>
    <p:extLst>
      <p:ext uri="{BB962C8B-B14F-4D97-AF65-F5344CB8AC3E}">
        <p14:creationId xmlns:p14="http://schemas.microsoft.com/office/powerpoint/2010/main" val="537012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B1032EFA-F030-3F34-FE37-A65379F6B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564" y="550719"/>
            <a:ext cx="9860972" cy="55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94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950</Words>
  <Application>Microsoft Macintosh PowerPoint</Application>
  <PresentationFormat>Widescreen</PresentationFormat>
  <Paragraphs>125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Office Theme</vt:lpstr>
      <vt:lpstr>Markov Model</vt:lpstr>
      <vt:lpstr>Introduction</vt:lpstr>
      <vt:lpstr>PowerPoint Presentation</vt:lpstr>
      <vt:lpstr>PowerPoint Presentation</vt:lpstr>
      <vt:lpstr>Markov Chain</vt:lpstr>
      <vt:lpstr>Mathematical Definition</vt:lpstr>
      <vt:lpstr>Transition Matrix Example</vt:lpstr>
      <vt:lpstr>Question 1</vt:lpstr>
      <vt:lpstr>Question 2</vt:lpstr>
      <vt:lpstr>Question 3</vt:lpstr>
      <vt:lpstr>Hidden Markov Model</vt:lpstr>
      <vt:lpstr>Hidden Markov Model (Cont’d)</vt:lpstr>
      <vt:lpstr>Hidden Markov Model (Cont’d)</vt:lpstr>
      <vt:lpstr>PowerPoint Presentation</vt:lpstr>
      <vt:lpstr>Hidden Markov Model (Cont’d)</vt:lpstr>
      <vt:lpstr>PowerPoint Presentation</vt:lpstr>
      <vt:lpstr>Question 1</vt:lpstr>
      <vt:lpstr>PowerPoint Presentation</vt:lpstr>
      <vt:lpstr>PowerPoint Presentation</vt:lpstr>
      <vt:lpstr>PowerPoint Presentation</vt:lpstr>
      <vt:lpstr>PowerPoint Presentation</vt:lpstr>
      <vt:lpstr>Question 2</vt:lpstr>
      <vt:lpstr>PowerPoint Presentation</vt:lpstr>
      <vt:lpstr>PowerPoint Presentation</vt:lpstr>
      <vt:lpstr>Need for Viterbi Algorithm</vt:lpstr>
      <vt:lpstr>Viterbi Algorithm Steps</vt:lpstr>
      <vt:lpstr>Viterbi Algorithm Steps</vt:lpstr>
      <vt:lpstr>Viterbi Algorithm Steps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Mahmud</dc:creator>
  <cp:lastModifiedBy>Rakib Mahmud</cp:lastModifiedBy>
  <cp:revision>5</cp:revision>
  <dcterms:created xsi:type="dcterms:W3CDTF">2025-11-08T17:41:30Z</dcterms:created>
  <dcterms:modified xsi:type="dcterms:W3CDTF">2025-11-11T09:49:34Z</dcterms:modified>
</cp:coreProperties>
</file>