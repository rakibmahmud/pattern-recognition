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310" r:id="rId11"/>
    <p:sldId id="291" r:id="rId12"/>
    <p:sldId id="292" r:id="rId13"/>
    <p:sldId id="293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957"/>
  </p:normalViewPr>
  <p:slideViewPr>
    <p:cSldViewPr>
      <p:cViewPr>
        <p:scale>
          <a:sx n="120" d="100"/>
          <a:sy n="120" d="100"/>
        </p:scale>
        <p:origin x="448" y="-4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00DCB-41CD-A94B-8BD4-1585B20DF099}" type="datetimeFigureOut">
              <a:rPr lang="en-BD" smtClean="0"/>
              <a:t>21/10/25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BD7B9-87AC-0E4D-8B3C-6A71FA90882A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35836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Discrete classifier:** ``` </a:t>
            </a:r>
            <a:r>
              <a:rPr lang="bn-BD" dirty="0"/>
              <a:t>একটি </a:t>
            </a:r>
            <a:r>
              <a:rPr lang="en-GB" dirty="0"/>
              <a:t>fixed threshold </a:t>
            </a:r>
            <a:r>
              <a:rPr lang="bn-BD" dirty="0"/>
              <a:t>আছে (যা </a:t>
            </a:r>
            <a:r>
              <a:rPr lang="en-GB" dirty="0"/>
              <a:t>change </a:t>
            </a:r>
            <a:r>
              <a:rPr lang="bn-BD" dirty="0"/>
              <a:t>করা যায় না বা </a:t>
            </a:r>
            <a:r>
              <a:rPr lang="en-GB" dirty="0"/>
              <a:t>user </a:t>
            </a:r>
            <a:r>
              <a:rPr lang="bn-BD" dirty="0"/>
              <a:t>দেখে না)</a:t>
            </a:r>
            <a:r>
              <a:rPr lang="en-US" dirty="0"/>
              <a:t> , </a:t>
            </a:r>
            <a:r>
              <a:rPr lang="bn-B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শুধু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label output </a:t>
            </a:r>
            <a:r>
              <a:rPr lang="bn-BD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দেয় 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46915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 = 0 </a:t>
            </a:r>
            <a:r>
              <a:rPr lang="bn-BD" dirty="0"/>
              <a:t>মানে:** ``` কোনো </a:t>
            </a:r>
            <a:r>
              <a:rPr lang="en-GB" dirty="0"/>
              <a:t>actual positive </a:t>
            </a:r>
            <a:r>
              <a:rPr lang="bn-BD" dirty="0"/>
              <a:t>কে </a:t>
            </a:r>
            <a:r>
              <a:rPr lang="en-GB" dirty="0"/>
              <a:t>positive </a:t>
            </a:r>
            <a:r>
              <a:rPr lang="bn-BD" dirty="0"/>
              <a:t>বলেনি → সব </a:t>
            </a:r>
            <a:r>
              <a:rPr lang="en-GB" dirty="0"/>
              <a:t>positives </a:t>
            </a:r>
            <a:r>
              <a:rPr lang="bn-BD" dirty="0"/>
              <a:t>কে </a:t>
            </a:r>
            <a:r>
              <a:rPr lang="en-GB" dirty="0"/>
              <a:t>negative </a:t>
            </a:r>
            <a:r>
              <a:rPr lang="bn-BD" dirty="0"/>
              <a:t>বলেছে</a:t>
            </a:r>
            <a:r>
              <a:rPr lang="en-US" dirty="0"/>
              <a:t> |  </a:t>
            </a:r>
            <a:r>
              <a:rPr lang="en-GB" dirty="0"/>
              <a:t>#### **FPR = 0 </a:t>
            </a:r>
            <a:r>
              <a:rPr lang="bn-BD" dirty="0"/>
              <a:t>মানে:** ``` কোনো </a:t>
            </a:r>
            <a:r>
              <a:rPr lang="en-GB" dirty="0"/>
              <a:t>actual negative </a:t>
            </a:r>
            <a:r>
              <a:rPr lang="bn-BD" dirty="0"/>
              <a:t>কে </a:t>
            </a:r>
            <a:r>
              <a:rPr lang="en-GB" dirty="0"/>
              <a:t>positive </a:t>
            </a:r>
            <a:r>
              <a:rPr lang="bn-BD" dirty="0"/>
              <a:t>বলেনি → সব </a:t>
            </a:r>
            <a:r>
              <a:rPr lang="en-GB" dirty="0"/>
              <a:t>negatives </a:t>
            </a:r>
            <a:r>
              <a:rPr lang="bn-BD" dirty="0"/>
              <a:t>কে </a:t>
            </a:r>
            <a:r>
              <a:rPr lang="en-GB" dirty="0"/>
              <a:t>negative </a:t>
            </a:r>
            <a:r>
              <a:rPr lang="bn-BD" dirty="0"/>
              <a:t>বলেছে (এটা ঠিক আছে) ``` #### **মিলিয়ে:** ```</a:t>
            </a:r>
            <a:endParaRPr lang="en-US" dirty="0"/>
          </a:p>
          <a:p>
            <a:r>
              <a:rPr lang="bn-BD" dirty="0"/>
              <a:t> সব </a:t>
            </a:r>
            <a:r>
              <a:rPr lang="en-GB" dirty="0"/>
              <a:t>positives → predicted as negative (</a:t>
            </a:r>
            <a:r>
              <a:rPr lang="bn-BD" dirty="0"/>
              <a:t>ভুল!) </a:t>
            </a:r>
            <a:endParaRPr lang="en-US" dirty="0"/>
          </a:p>
          <a:p>
            <a:r>
              <a:rPr lang="bn-BD" dirty="0"/>
              <a:t>সব </a:t>
            </a:r>
            <a:r>
              <a:rPr lang="en-GB" dirty="0"/>
              <a:t>negatives → predicted as negative (</a:t>
            </a:r>
            <a:r>
              <a:rPr lang="bn-BD" dirty="0"/>
              <a:t>সঠিক!) </a:t>
            </a:r>
            <a:br>
              <a:rPr lang="en-US" dirty="0"/>
            </a:br>
            <a:r>
              <a:rPr lang="en-GB" dirty="0"/>
              <a:t>Result: </a:t>
            </a:r>
            <a:r>
              <a:rPr lang="bn-BD" dirty="0"/>
              <a:t>সবাইকে </a:t>
            </a:r>
            <a:r>
              <a:rPr lang="en-GB" dirty="0"/>
              <a:t>negative </a:t>
            </a:r>
            <a:r>
              <a:rPr lang="bn-BD" dirty="0"/>
              <a:t>বলেছে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42237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BD" dirty="0"/>
              <a:t>তাই এখানে:</a:t>
            </a:r>
          </a:p>
          <a:p>
            <a:r>
              <a:rPr lang="en-GB" b="1" dirty="0"/>
              <a:t>True Positive Rate (TPR) = 1</a:t>
            </a:r>
            <a:r>
              <a:rPr lang="en-GB" dirty="0"/>
              <a:t> — </a:t>
            </a:r>
            <a:r>
              <a:rPr lang="bn-BD" dirty="0"/>
              <a:t>কারণ সব </a:t>
            </a:r>
            <a:r>
              <a:rPr lang="en-GB" dirty="0"/>
              <a:t>Positive </a:t>
            </a:r>
            <a:r>
              <a:rPr lang="bn-BD" dirty="0"/>
              <a:t>ধরা হয়েছে</a:t>
            </a:r>
          </a:p>
          <a:p>
            <a:r>
              <a:rPr lang="en-GB" b="1" dirty="0"/>
              <a:t>False Positive Rate (FPR) = 1</a:t>
            </a:r>
            <a:r>
              <a:rPr lang="en-GB" dirty="0"/>
              <a:t> — </a:t>
            </a:r>
            <a:r>
              <a:rPr lang="bn-BD" dirty="0"/>
              <a:t>কারণ সব </a:t>
            </a:r>
            <a:r>
              <a:rPr lang="en-GB" dirty="0"/>
              <a:t>Negative-</a:t>
            </a:r>
            <a:r>
              <a:rPr lang="bn-BD" dirty="0"/>
              <a:t>ও ভুলভাবে </a:t>
            </a:r>
            <a:r>
              <a:rPr lang="en-GB" dirty="0"/>
              <a:t>Positive </a:t>
            </a:r>
            <a:r>
              <a:rPr lang="bn-BD" dirty="0"/>
              <a:t>হয়েছে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04003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BD" dirty="0"/>
              <a:t>কারণ </a:t>
            </a:r>
            <a:r>
              <a:rPr lang="en-GB" b="1" dirty="0"/>
              <a:t>TPR = 1 </a:t>
            </a:r>
            <a:r>
              <a:rPr lang="bn-BD" b="1" dirty="0"/>
              <a:t>মানে </a:t>
            </a:r>
            <a:r>
              <a:rPr lang="en-GB" b="1" dirty="0"/>
              <a:t>perfect recall</a:t>
            </a:r>
            <a:r>
              <a:rPr lang="en-GB" dirty="0"/>
              <a:t>, </a:t>
            </a:r>
            <a:r>
              <a:rPr lang="bn-BD" dirty="0"/>
              <a:t>অর্থাৎ —</a:t>
            </a:r>
            <a:br>
              <a:rPr lang="bn-BD" dirty="0"/>
            </a:br>
            <a:r>
              <a:rPr lang="bn-BD" dirty="0"/>
              <a:t>আমাদের </a:t>
            </a:r>
            <a:r>
              <a:rPr lang="en-GB" dirty="0"/>
              <a:t>classifier </a:t>
            </a:r>
            <a:r>
              <a:rPr lang="bn-BD" b="1" dirty="0"/>
              <a:t>সব সত্যিকারের </a:t>
            </a:r>
            <a:r>
              <a:rPr lang="en-GB" b="1" dirty="0"/>
              <a:t>positive</a:t>
            </a:r>
            <a:r>
              <a:rPr lang="en-GB" dirty="0"/>
              <a:t> instance </a:t>
            </a:r>
            <a:r>
              <a:rPr lang="bn-BD" dirty="0"/>
              <a:t>ধরতে পেরেছে।</a:t>
            </a:r>
            <a:br>
              <a:rPr lang="bn-BD" dirty="0"/>
            </a:br>
            <a:r>
              <a:rPr lang="bn-BD" dirty="0"/>
              <a:t>একটাও </a:t>
            </a:r>
            <a:r>
              <a:rPr lang="en-GB" dirty="0"/>
              <a:t>positive </a:t>
            </a:r>
            <a:r>
              <a:rPr lang="bn-BD" dirty="0"/>
              <a:t>বাদ যায়নি।</a:t>
            </a:r>
          </a:p>
          <a:p>
            <a:r>
              <a:rPr lang="en-BD" dirty="0"/>
              <a:t>🔸 </a:t>
            </a:r>
            <a:r>
              <a:rPr lang="bn-BD" dirty="0"/>
              <a:t>উদাহরণ:</a:t>
            </a:r>
          </a:p>
          <a:p>
            <a:r>
              <a:rPr lang="bn-BD" dirty="0"/>
              <a:t>মেডিকেল টেস্টে, যদি কোনো রোগী অসুস্থ (</a:t>
            </a:r>
            <a:r>
              <a:rPr lang="en-GB" dirty="0"/>
              <a:t>Positive) </a:t>
            </a:r>
            <a:r>
              <a:rPr lang="bn-BD" dirty="0"/>
              <a:t>হয়, আমরা চাই </a:t>
            </a:r>
            <a:r>
              <a:rPr lang="bn-BD" b="1" dirty="0"/>
              <a:t>সে যেন মিস না হয়</a:t>
            </a:r>
            <a:r>
              <a:rPr lang="bn-BD" dirty="0"/>
              <a:t>।</a:t>
            </a:r>
            <a:br>
              <a:rPr lang="bn-BD" dirty="0"/>
            </a:br>
            <a:r>
              <a:rPr lang="bn-BD" dirty="0"/>
              <a:t>অর্থাৎ, অসুস্থ সবাইকে শনাক্ত করতে হবে (</a:t>
            </a:r>
            <a:r>
              <a:rPr lang="en-GB" dirty="0"/>
              <a:t>FN = 0)।</a:t>
            </a:r>
            <a:br>
              <a:rPr lang="en-GB" dirty="0"/>
            </a:br>
            <a:r>
              <a:rPr lang="bn-BD" dirty="0"/>
              <a:t>তাই </a:t>
            </a:r>
            <a:r>
              <a:rPr lang="en-GB" dirty="0"/>
              <a:t>TPR = 1 </a:t>
            </a:r>
            <a:r>
              <a:rPr lang="bn-BD" dirty="0"/>
              <a:t>মানে আমাদের মডেল </a:t>
            </a:r>
            <a:r>
              <a:rPr lang="bn-BD" b="1" dirty="0"/>
              <a:t>কোনো রোগীকে বাদ দেয়নি</a:t>
            </a:r>
            <a:r>
              <a:rPr lang="bn-BD" dirty="0"/>
              <a:t>।</a:t>
            </a:r>
          </a:p>
          <a:p>
            <a:endParaRPr lang="en-BD" dirty="0"/>
          </a:p>
          <a:p>
            <a:endParaRPr lang="en-BD" dirty="0"/>
          </a:p>
          <a:p>
            <a:r>
              <a:rPr lang="en-GB" dirty="0"/>
              <a:t>FPR = 0 </a:t>
            </a:r>
            <a:r>
              <a:rPr lang="bn-BD" dirty="0"/>
              <a:t>মানে —</a:t>
            </a:r>
          </a:p>
          <a:p>
            <a:r>
              <a:rPr lang="bn-BD" dirty="0"/>
              <a:t>“মডেল কোনো </a:t>
            </a:r>
            <a:r>
              <a:rPr lang="en-GB" dirty="0"/>
              <a:t>Negative </a:t>
            </a:r>
            <a:r>
              <a:rPr lang="bn-BD" dirty="0"/>
              <a:t>ডেটাকে ভুল করে </a:t>
            </a:r>
            <a:r>
              <a:rPr lang="en-GB" dirty="0"/>
              <a:t>Positive </a:t>
            </a:r>
            <a:r>
              <a:rPr lang="bn-BD" dirty="0"/>
              <a:t>বলে নাই।” যদি </a:t>
            </a:r>
            <a:r>
              <a:rPr lang="en-GB" dirty="0"/>
              <a:t>FPR = 0 </a:t>
            </a:r>
            <a:r>
              <a:rPr lang="bn-BD" dirty="0"/>
              <a:t>হয়, মানে</a:t>
            </a:r>
          </a:p>
          <a:p>
            <a:r>
              <a:rPr lang="bn-BD" dirty="0"/>
              <a:t>কোনো সুস্থ মানুষকে ভুল করে “অসুস্থ” বলা হয়নি।</a:t>
            </a:r>
          </a:p>
          <a:p>
            <a:endParaRPr lang="bn-BD" dirty="0"/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0335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BD" b="1" dirty="0"/>
              <a:t>একটাও আসল </a:t>
            </a:r>
            <a:r>
              <a:rPr lang="en-GB" b="1" dirty="0"/>
              <a:t>positive </a:t>
            </a:r>
            <a:r>
              <a:rPr lang="bn-BD" b="1" dirty="0"/>
              <a:t>ধরতে পারেনি</a:t>
            </a:r>
            <a:r>
              <a:rPr lang="bn-BD" dirty="0"/>
              <a:t> </a:t>
            </a:r>
            <a:r>
              <a:rPr lang="en-BD" dirty="0"/>
              <a:t>❌</a:t>
            </a:r>
          </a:p>
          <a:p>
            <a:r>
              <a:rPr lang="bn-BD" dirty="0"/>
              <a:t>বরং </a:t>
            </a:r>
            <a:r>
              <a:rPr lang="bn-BD" b="1" dirty="0"/>
              <a:t>সব </a:t>
            </a:r>
            <a:r>
              <a:rPr lang="en-GB" b="1" dirty="0"/>
              <a:t>negative </a:t>
            </a:r>
            <a:r>
              <a:rPr lang="bn-BD" b="1" dirty="0"/>
              <a:t>কেই ভুল করে </a:t>
            </a:r>
            <a:r>
              <a:rPr lang="en-GB" b="1" dirty="0"/>
              <a:t>positive </a:t>
            </a:r>
            <a:r>
              <a:rPr lang="bn-BD" b="1" dirty="0"/>
              <a:t>বলেছে</a:t>
            </a:r>
            <a:r>
              <a:rPr lang="bn-BD" dirty="0"/>
              <a:t> </a:t>
            </a:r>
            <a:r>
              <a:rPr lang="en-BD" dirty="0"/>
              <a:t>😅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24732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Random classifier = </a:t>
            </a:r>
            <a:r>
              <a:rPr lang="bn-BD" b="1" dirty="0"/>
              <a:t>কোনো শেখা নেই, শুধু আন্দাজে বলে।</a:t>
            </a:r>
            <a:br>
              <a:rPr lang="bn-BD" dirty="0"/>
            </a:br>
            <a:r>
              <a:rPr lang="bn-BD" dirty="0"/>
              <a:t>তাই </a:t>
            </a:r>
            <a:r>
              <a:rPr lang="en-GB" dirty="0"/>
              <a:t>ROC </a:t>
            </a:r>
            <a:r>
              <a:rPr lang="bn-BD" dirty="0"/>
              <a:t>কার্ভে এর পয়েন্ট সবসময় </a:t>
            </a:r>
            <a:r>
              <a:rPr lang="bn-BD" b="1" dirty="0"/>
              <a:t>ডায়াগোনাল লাইনের উপর</a:t>
            </a:r>
            <a:r>
              <a:rPr lang="bn-BD" dirty="0"/>
              <a:t> পড়ে।</a:t>
            </a:r>
            <a:br>
              <a:rPr lang="bn-BD" dirty="0"/>
            </a:br>
            <a:r>
              <a:rPr lang="bn-BD" dirty="0"/>
              <a:t>ভালো </a:t>
            </a:r>
            <a:r>
              <a:rPr lang="en-GB" dirty="0"/>
              <a:t>classifier </a:t>
            </a:r>
            <a:r>
              <a:rPr lang="bn-BD" dirty="0"/>
              <a:t>হলে সেটা </a:t>
            </a:r>
            <a:r>
              <a:rPr lang="bn-BD" b="1" dirty="0"/>
              <a:t>এই লাইনের উপরে (</a:t>
            </a:r>
            <a:r>
              <a:rPr lang="en-GB" b="1" dirty="0"/>
              <a:t>northwest)</a:t>
            </a:r>
            <a:r>
              <a:rPr lang="en-GB" dirty="0"/>
              <a:t> </a:t>
            </a:r>
            <a:r>
              <a:rPr lang="bn-BD" dirty="0"/>
              <a:t>থাকবে।</a:t>
            </a:r>
            <a:br>
              <a:rPr lang="bn-BD" dirty="0"/>
            </a:br>
            <a:r>
              <a:rPr lang="bn-BD" dirty="0"/>
              <a:t>আর খারাপ হলে </a:t>
            </a:r>
            <a:r>
              <a:rPr lang="bn-BD" b="1" dirty="0"/>
              <a:t>নিচে (</a:t>
            </a:r>
            <a:r>
              <a:rPr lang="en-GB" b="1" dirty="0"/>
              <a:t>southeast)</a:t>
            </a:r>
            <a:r>
              <a:rPr lang="en-GB" dirty="0"/>
              <a:t> </a:t>
            </a:r>
            <a:r>
              <a:rPr lang="bn-BD" dirty="0"/>
              <a:t>থাকবে।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91955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 </a:t>
            </a:r>
            <a:r>
              <a:rPr lang="en-GB" b="1" dirty="0"/>
              <a:t>conservative classifier</a:t>
            </a:r>
            <a:r>
              <a:rPr lang="en-GB" dirty="0"/>
              <a:t> only predicts </a:t>
            </a:r>
            <a:r>
              <a:rPr lang="en-GB" i="1" dirty="0"/>
              <a:t>positive</a:t>
            </a:r>
            <a:r>
              <a:rPr lang="en-GB" dirty="0"/>
              <a:t> when it has </a:t>
            </a:r>
            <a:r>
              <a:rPr lang="en-GB" b="1" dirty="0"/>
              <a:t>strong evidence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So it </a:t>
            </a:r>
            <a:r>
              <a:rPr lang="en-GB" b="1" dirty="0"/>
              <a:t>rarely makes a mistake</a:t>
            </a:r>
            <a:r>
              <a:rPr lang="en-GB" dirty="0"/>
              <a:t> by </a:t>
            </a:r>
            <a:r>
              <a:rPr lang="en-GB" dirty="0" err="1"/>
              <a:t>labeling</a:t>
            </a:r>
            <a:r>
              <a:rPr lang="en-GB" dirty="0"/>
              <a:t> a </a:t>
            </a:r>
            <a:r>
              <a:rPr lang="en-GB" i="1" dirty="0"/>
              <a:t>negative sample</a:t>
            </a:r>
            <a:r>
              <a:rPr lang="en-GB" dirty="0"/>
              <a:t> as </a:t>
            </a:r>
            <a:r>
              <a:rPr lang="en-GB" i="1" dirty="0"/>
              <a:t>positive</a:t>
            </a:r>
            <a:r>
              <a:rPr lang="en-GB" dirty="0"/>
              <a:t> —</a:t>
            </a:r>
            <a:br>
              <a:rPr lang="en-GB" dirty="0"/>
            </a:br>
            <a:r>
              <a:rPr lang="en-GB" dirty="0"/>
              <a:t>→ That means </a:t>
            </a:r>
            <a:r>
              <a:rPr lang="en-GB" b="1" dirty="0"/>
              <a:t>False Positive (FP)</a:t>
            </a:r>
            <a:r>
              <a:rPr lang="en-GB" dirty="0"/>
              <a:t> is </a:t>
            </a:r>
            <a:r>
              <a:rPr lang="en-GB" b="1" dirty="0"/>
              <a:t>low</a:t>
            </a:r>
            <a:r>
              <a:rPr lang="en-GB" dirty="0"/>
              <a:t>, and consequently </a:t>
            </a:r>
            <a:r>
              <a:rPr lang="en-GB" b="1" dirty="0"/>
              <a:t>True Negative (TN)</a:t>
            </a:r>
            <a:r>
              <a:rPr lang="en-GB" dirty="0"/>
              <a:t> is </a:t>
            </a:r>
            <a:r>
              <a:rPr lang="en-GB" b="1" dirty="0"/>
              <a:t>high</a:t>
            </a:r>
            <a:r>
              <a:rPr lang="en-GB" dirty="0"/>
              <a:t>.</a:t>
            </a:r>
          </a:p>
          <a:p>
            <a:endParaRPr lang="en-BD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Because it’s so cautious, it sometimes </a:t>
            </a:r>
            <a:r>
              <a:rPr lang="en-GB" b="1" dirty="0"/>
              <a:t>misses actual positives</a:t>
            </a:r>
            <a:r>
              <a:rPr lang="en-GB" dirty="0"/>
              <a:t>, failing to detect them.</a:t>
            </a:r>
            <a:br>
              <a:rPr lang="en-GB" dirty="0"/>
            </a:br>
            <a:r>
              <a:rPr lang="en-GB" dirty="0"/>
              <a:t>→ That means </a:t>
            </a:r>
            <a:r>
              <a:rPr lang="en-GB" b="1" dirty="0"/>
              <a:t>False Negative (FN)</a:t>
            </a:r>
            <a:r>
              <a:rPr lang="en-GB" dirty="0"/>
              <a:t> is </a:t>
            </a:r>
            <a:r>
              <a:rPr lang="en-GB" b="1" dirty="0"/>
              <a:t>high</a:t>
            </a:r>
            <a:r>
              <a:rPr lang="en-GB" dirty="0"/>
              <a:t>, and </a:t>
            </a:r>
            <a:r>
              <a:rPr lang="en-GB" b="1" dirty="0"/>
              <a:t>True Positive (TP)</a:t>
            </a:r>
            <a:r>
              <a:rPr lang="en-GB" dirty="0"/>
              <a:t> is </a:t>
            </a:r>
            <a:r>
              <a:rPr lang="en-GB" b="1" dirty="0"/>
              <a:t>low</a:t>
            </a:r>
            <a:r>
              <a:rPr lang="en-GB" dirty="0"/>
              <a:t>.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83473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BD" dirty="0"/>
              <a:t>তারা অনেক বেশি </a:t>
            </a:r>
            <a:r>
              <a:rPr lang="en-GB" dirty="0"/>
              <a:t>Positive </a:t>
            </a:r>
            <a:r>
              <a:rPr lang="bn-BD" dirty="0"/>
              <a:t>শনাক্ত করতে পারে —</a:t>
            </a:r>
            <a:br>
              <a:rPr lang="bn-BD" dirty="0"/>
            </a:br>
            <a:r>
              <a:rPr lang="bn-BD" dirty="0"/>
              <a:t>অর্থাৎ </a:t>
            </a:r>
            <a:r>
              <a:rPr lang="en-GB" b="1" dirty="0"/>
              <a:t>True Positive Rate (TPR) </a:t>
            </a:r>
            <a:r>
              <a:rPr lang="bn-BD" b="1" dirty="0"/>
              <a:t>বেশি</a:t>
            </a:r>
            <a:r>
              <a:rPr lang="bn-BD" dirty="0"/>
              <a:t> </a:t>
            </a:r>
            <a:r>
              <a:rPr lang="en-BD" dirty="0"/>
              <a:t>✅</a:t>
            </a:r>
          </a:p>
          <a:p>
            <a:r>
              <a:rPr lang="bn-BD" dirty="0"/>
              <a:t>কিন্তু একই সঙ্গে</a:t>
            </a:r>
            <a:br>
              <a:rPr lang="bn-BD" dirty="0"/>
            </a:br>
            <a:r>
              <a:rPr lang="bn-BD" dirty="0"/>
              <a:t>অনেক </a:t>
            </a:r>
            <a:r>
              <a:rPr lang="en-GB" dirty="0"/>
              <a:t>Negative </a:t>
            </a:r>
            <a:r>
              <a:rPr lang="bn-BD" dirty="0"/>
              <a:t>কেই ভুল করে </a:t>
            </a:r>
            <a:r>
              <a:rPr lang="en-GB" dirty="0"/>
              <a:t>Positive </a:t>
            </a:r>
            <a:r>
              <a:rPr lang="bn-BD" dirty="0"/>
              <a:t>বলে ফেলে —</a:t>
            </a:r>
            <a:br>
              <a:rPr lang="bn-BD" dirty="0"/>
            </a:br>
            <a:r>
              <a:rPr lang="bn-BD" dirty="0"/>
              <a:t>অর্থাৎ </a:t>
            </a:r>
            <a:r>
              <a:rPr lang="en-GB" b="1" dirty="0"/>
              <a:t>False Positive Rate (FPR) </a:t>
            </a:r>
            <a:r>
              <a:rPr lang="bn-BD" b="1" dirty="0"/>
              <a:t>ও বেশি</a:t>
            </a:r>
            <a:endParaRPr lang="bn-BD" dirty="0"/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D7B9-87AC-0E4D-8B3C-6A71FA90882A}" type="slidenum">
              <a:rPr lang="en-BD" smtClean="0"/>
              <a:t>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361967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1379" y="2489072"/>
            <a:ext cx="534924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/>
              <a:t>Model </a:t>
            </a:r>
            <a:r>
              <a:rPr spc="-30" dirty="0"/>
              <a:t>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6969" y="2068148"/>
            <a:ext cx="9351935" cy="34359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8498" y="2065002"/>
            <a:ext cx="9406976" cy="3727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271" y="2045617"/>
            <a:ext cx="10060342" cy="3668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1825" y="2044485"/>
            <a:ext cx="9491397" cy="38780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7468" y="2063837"/>
            <a:ext cx="9303760" cy="3357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498" y="1447800"/>
            <a:ext cx="9729004" cy="42195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375" y="2062660"/>
            <a:ext cx="9730798" cy="3657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7524" y="2023790"/>
            <a:ext cx="9185690" cy="35879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CF9450-F0C5-9A55-9CB8-832501B617C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560796"/>
          <a:ext cx="10972800" cy="25603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155331813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13276512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747932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Conservative Classifier (A)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Liberal Classifier (C)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79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True Positive (TP)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404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False Positive (FP)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25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True Negative (TN)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343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False Negative (FN)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60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TPR (Sensitivity)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925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FPR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874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83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805" y="1899498"/>
            <a:ext cx="9961956" cy="4021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9889" y="2008518"/>
            <a:ext cx="8335331" cy="39736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l="30316" t="19966"/>
          <a:stretch>
            <a:fillRect/>
          </a:stretch>
        </p:blipFill>
        <p:spPr>
          <a:xfrm>
            <a:off x="3276600" y="1143000"/>
            <a:ext cx="5422977" cy="42743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0A8C2-68BB-315C-3952-7265E2682F57}"/>
              </a:ext>
            </a:extLst>
          </p:cNvPr>
          <p:cNvSpPr txBox="1"/>
          <p:nvPr/>
        </p:nvSpPr>
        <p:spPr>
          <a:xfrm>
            <a:off x="1605516" y="1339702"/>
            <a:ext cx="821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AUC is a measure of how well a test can distinguish between different classes.</a:t>
            </a:r>
            <a:endParaRPr lang="en-BD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F9EC0A-0B4B-B598-C4F8-1D562C5604ED}"/>
              </a:ext>
            </a:extLst>
          </p:cNvPr>
          <p:cNvSpPr txBox="1"/>
          <p:nvPr/>
        </p:nvSpPr>
        <p:spPr>
          <a:xfrm>
            <a:off x="1605516" y="1339702"/>
            <a:ext cx="821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AUC is a measure of how well a test can distinguish between different classes.</a:t>
            </a:r>
            <a:endParaRPr lang="en-BD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78084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751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066800"/>
            <a:ext cx="10515600" cy="4351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518</Words>
  <Application>Microsoft Macintosh PowerPoint</Application>
  <PresentationFormat>Widescreen</PresentationFormat>
  <Paragraphs>55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Calibri</vt:lpstr>
      <vt:lpstr>Calibri Light</vt:lpstr>
      <vt:lpstr>Office Theme</vt:lpstr>
      <vt:lpstr>Model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 shah</dc:creator>
  <cp:lastModifiedBy>Rakib Mahmud</cp:lastModifiedBy>
  <cp:revision>3</cp:revision>
  <dcterms:created xsi:type="dcterms:W3CDTF">2025-10-20T17:54:12Z</dcterms:created>
  <dcterms:modified xsi:type="dcterms:W3CDTF">2025-10-21T05:43:52Z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2025-10-20T00:00:00Z</vt:filetime>
  </property>
  <property fmtid="{D5CDD505-2E9C-101B-9397-08002B2CF9AE}" pid="5" name="Producer">
    <vt:lpwstr>Microsoft® PowerPoint® 2016</vt:lpwstr>
  </property>
</Properties>
</file>