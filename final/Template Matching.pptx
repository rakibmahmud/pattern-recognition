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80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81" r:id="rId13"/>
    <p:sldId id="283" r:id="rId14"/>
    <p:sldId id="269" r:id="rId15"/>
    <p:sldId id="282" r:id="rId16"/>
    <p:sldId id="267" r:id="rId17"/>
    <p:sldId id="268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8"/>
    <p:restoredTop sz="75032"/>
  </p:normalViewPr>
  <p:slideViewPr>
    <p:cSldViewPr>
      <p:cViewPr varScale="1">
        <p:scale>
          <a:sx n="99" d="100"/>
          <a:sy n="99" d="100"/>
        </p:scale>
        <p:origin x="118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7F170-B3AE-3043-B4AE-056329AADEE8}" type="datetimeFigureOut">
              <a:rPr lang="en-BD" smtClean="0"/>
              <a:t>25/11/25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AE727-2140-C546-BEEA-1D39FB334CA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86818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Template Matching-</a:t>
            </a:r>
            <a:r>
              <a:rPr lang="bn-BD" dirty="0"/>
              <a:t>এ যখন আমরা </a:t>
            </a:r>
            <a:r>
              <a:rPr lang="bn-BD" b="1" dirty="0"/>
              <a:t>টেমপ্লেট</a:t>
            </a:r>
            <a:r>
              <a:rPr lang="bn-BD" dirty="0"/>
              <a:t> (সঠিক বা মূল প্যাটার্ন) এর সাথে </a:t>
            </a:r>
            <a:r>
              <a:rPr lang="bn-BD" b="1" dirty="0"/>
              <a:t>টেস্ট প্যাটার্ন</a:t>
            </a:r>
            <a:r>
              <a:rPr lang="bn-BD" dirty="0"/>
              <a:t> (যেটাকে মিলাতে চাই) তুলনা করি, তখন অনেক সময় ছোটখাটো ভুল থাকতে পারে।</a:t>
            </a:r>
          </a:p>
          <a:p>
            <a:r>
              <a:rPr lang="bn-BD" dirty="0"/>
              <a:t>এই ভুলগুলো হতে পারে—</a:t>
            </a:r>
          </a:p>
          <a:p>
            <a:r>
              <a:rPr lang="bn-BD" dirty="0"/>
              <a:t>একটি অক্ষর কম</a:t>
            </a:r>
          </a:p>
          <a:p>
            <a:r>
              <a:rPr lang="bn-BD" dirty="0"/>
              <a:t>একটি অক্ষর বেশি</a:t>
            </a:r>
          </a:p>
          <a:p>
            <a:r>
              <a:rPr lang="bn-BD" dirty="0"/>
              <a:t>বানানের ভুল</a:t>
            </a:r>
          </a:p>
          <a:p>
            <a:r>
              <a:rPr lang="bn-BD" dirty="0"/>
              <a:t>কিছু অংশ মুছে যাওয়া</a:t>
            </a:r>
          </a:p>
          <a:p>
            <a:r>
              <a:rPr lang="bn-BD" dirty="0"/>
              <a:t>স্ক্যানিং/রিডিং ভুল</a:t>
            </a:r>
          </a:p>
          <a:p>
            <a:r>
              <a:rPr lang="en-BD" dirty="0"/>
              <a:t>👉 </a:t>
            </a:r>
            <a:r>
              <a:rPr lang="bn-BD" b="1" dirty="0"/>
              <a:t>ম্যাচিং সিস্টেমের কাজ হলো — এই ছোট ভুলগুলোকে সহ্য করে আসল শব্দটি বা প্যাটার্নটি চিনে ফেলা।</a:t>
            </a:r>
            <a:endParaRPr lang="bn-BD" dirty="0"/>
          </a:p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AE727-2140-C546-BEEA-1D39FB334CA0}" type="slidenum">
              <a:rPr lang="en-BD" smtClean="0"/>
              <a:t>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593742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n-BD" dirty="0"/>
              <a:t>দুটি শব্দ/প্যাটার্নকে একে অপরের মতো বানাতে ন্যূনতম কতগুলো পরিবর্তন করতে হয় — সেটা মাপাই </a:t>
            </a:r>
            <a:r>
              <a:rPr lang="en-GB" dirty="0"/>
              <a:t>variational similarity।</a:t>
            </a:r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AE727-2140-C546-BEEA-1D39FB334CA0}" type="slidenum">
              <a:rPr lang="en-BD" smtClean="0"/>
              <a:t>10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638631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n-BD" dirty="0"/>
              <a:t>শব্দ </a:t>
            </a:r>
            <a:r>
              <a:rPr lang="en-GB" dirty="0"/>
              <a:t>A </a:t>
            </a:r>
            <a:r>
              <a:rPr lang="bn-BD" dirty="0"/>
              <a:t>এবং শব্দ </a:t>
            </a:r>
            <a:r>
              <a:rPr lang="en-GB" dirty="0"/>
              <a:t>B </a:t>
            </a:r>
            <a:r>
              <a:rPr lang="bn-BD" dirty="0"/>
              <a:t>এর </a:t>
            </a:r>
            <a:r>
              <a:rPr lang="en-GB" dirty="0"/>
              <a:t>edit distance </a:t>
            </a:r>
            <a:r>
              <a:rPr lang="bn-BD" dirty="0"/>
              <a:t>হলো </a:t>
            </a:r>
            <a:r>
              <a:rPr lang="en-GB" dirty="0"/>
              <a:t>D(I,J) </a:t>
            </a:r>
            <a:r>
              <a:rPr lang="bn-BD" dirty="0"/>
              <a:t>ঘরের মান।</a:t>
            </a:r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AE727-2140-C546-BEEA-1D39FB334CA0}" type="slidenum">
              <a:rPr lang="en-BD" smtClean="0"/>
              <a:t>14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610037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7048" y="0"/>
            <a:ext cx="9140952" cy="68354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C21F1D42-36BF-E4F1-21B8-5A2E7191F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587750"/>
            <a:ext cx="4638550" cy="2590800"/>
          </a:xfrm>
          <a:prstGeom prst="rect">
            <a:avLst/>
          </a:prstGeom>
        </p:spPr>
      </p:pic>
      <p:pic>
        <p:nvPicPr>
          <p:cNvPr id="5" name="Picture 4" descr="A number of numbers with black text&#10;&#10;AI-generated content may be incorrect.">
            <a:extLst>
              <a:ext uri="{FF2B5EF4-FFF2-40B4-BE49-F238E27FC236}">
                <a16:creationId xmlns:a16="http://schemas.microsoft.com/office/drawing/2014/main" id="{045E54E7-40B4-BB41-D2F0-3F28E1121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533400"/>
            <a:ext cx="4483100" cy="259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C32B86-88DD-08DC-9B9C-44CCB94E2D0D}"/>
              </a:ext>
            </a:extLst>
          </p:cNvPr>
          <p:cNvSpPr txBox="1"/>
          <p:nvPr/>
        </p:nvSpPr>
        <p:spPr>
          <a:xfrm>
            <a:off x="4648200" y="4038600"/>
            <a:ext cx="627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D" sz="2800" dirty="0">
                <a:latin typeface="+mn-lt"/>
              </a:rPr>
              <a:t>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02FE8E-3672-6EF8-0277-62383CFEB73C}"/>
              </a:ext>
            </a:extLst>
          </p:cNvPr>
          <p:cNvSpPr/>
          <p:nvPr/>
        </p:nvSpPr>
        <p:spPr>
          <a:xfrm>
            <a:off x="8077200" y="1219200"/>
            <a:ext cx="4572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sz="28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41668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6192" y="0"/>
            <a:ext cx="9119616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5524" y="-1"/>
            <a:ext cx="914095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8572" y="0"/>
            <a:ext cx="9134856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5524" y="0"/>
            <a:ext cx="9140952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0096" y="-1"/>
            <a:ext cx="913180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8572" y="0"/>
            <a:ext cx="9134856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b="55556"/>
          <a:stretch>
            <a:fillRect/>
          </a:stretch>
        </p:blipFill>
        <p:spPr>
          <a:xfrm>
            <a:off x="1828800" y="1524000"/>
            <a:ext cx="9137904" cy="30480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4667" y="0"/>
            <a:ext cx="912266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288" y="-1"/>
            <a:ext cx="9107423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6A2074-812A-C1F2-098B-B45DF579E2B5}"/>
              </a:ext>
            </a:extLst>
          </p:cNvPr>
          <p:cNvSpPr txBox="1"/>
          <p:nvPr/>
        </p:nvSpPr>
        <p:spPr>
          <a:xfrm flipH="1">
            <a:off x="4648200" y="2819400"/>
            <a:ext cx="1143000" cy="369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D" dirty="0"/>
              <a:t>( insert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21FC7-1C01-BEF7-352B-96B5C923FF7E}"/>
              </a:ext>
            </a:extLst>
          </p:cNvPr>
          <p:cNvSpPr txBox="1"/>
          <p:nvPr/>
        </p:nvSpPr>
        <p:spPr>
          <a:xfrm>
            <a:off x="4068127" y="411480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( Delete 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7D31E1-2257-3A9C-BEE9-84E86CEEC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22222" r="18888" b="28889"/>
          <a:stretch>
            <a:fillRect/>
          </a:stretch>
        </p:blipFill>
        <p:spPr>
          <a:xfrm>
            <a:off x="1943100" y="285750"/>
            <a:ext cx="83058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32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C44A3C-4B8D-ACB8-AD2F-15BBC8BA4707}"/>
              </a:ext>
            </a:extLst>
          </p:cNvPr>
          <p:cNvSpPr txBox="1"/>
          <p:nvPr/>
        </p:nvSpPr>
        <p:spPr>
          <a:xfrm>
            <a:off x="1465729" y="1775012"/>
            <a:ext cx="865813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GB" sz="2800" b="1" u="sng" dirty="0">
                <a:latin typeface="+mn-lt"/>
              </a:rPr>
              <a:t>Question</a:t>
            </a:r>
          </a:p>
          <a:p>
            <a:pPr rtl="0"/>
            <a:endParaRPr lang="en-GB" sz="2800" b="1" u="sng" dirty="0">
              <a:latin typeface="+mn-lt"/>
            </a:endParaRPr>
          </a:p>
          <a:p>
            <a:pPr rtl="0"/>
            <a:r>
              <a:rPr lang="en-GB" sz="2800" dirty="0">
                <a:latin typeface="+mn-lt"/>
              </a:rPr>
              <a:t>Using the Edit Distance algorithm, find the minimum edit </a:t>
            </a:r>
          </a:p>
          <a:p>
            <a:pPr rtl="0"/>
            <a:r>
              <a:rPr lang="en-GB" sz="2800" dirty="0">
                <a:latin typeface="+mn-lt"/>
              </a:rPr>
              <a:t>distance between the words “</a:t>
            </a:r>
            <a:r>
              <a:rPr lang="en-GB" sz="2800" b="1" dirty="0">
                <a:latin typeface="+mn-lt"/>
              </a:rPr>
              <a:t>intention</a:t>
            </a:r>
            <a:r>
              <a:rPr lang="en-GB" sz="2800" dirty="0">
                <a:latin typeface="+mn-lt"/>
              </a:rPr>
              <a:t>” and “</a:t>
            </a:r>
            <a:r>
              <a:rPr lang="en-GB" sz="2800" b="1" dirty="0">
                <a:latin typeface="+mn-lt"/>
              </a:rPr>
              <a:t>execution</a:t>
            </a:r>
            <a:r>
              <a:rPr lang="en-GB" sz="2800" dirty="0">
                <a:latin typeface="+mn-lt"/>
              </a:rPr>
              <a:t>”.</a:t>
            </a:r>
            <a:br>
              <a:rPr lang="en-GB" sz="2800" dirty="0">
                <a:latin typeface="+mn-lt"/>
                <a:cs typeface="Calibri" panose="020F0502020204030204" pitchFamily="34" charset="0"/>
              </a:rPr>
            </a:br>
            <a:endParaRPr lang="en-GB" sz="2800" dirty="0">
              <a:latin typeface="+mn-lt"/>
              <a:cs typeface="Calibri" panose="020F0502020204030204" pitchFamily="34" charset="0"/>
            </a:endParaRPr>
          </a:p>
          <a:p>
            <a:pPr rtl="0"/>
            <a:r>
              <a:rPr lang="en-GB" sz="2800" b="1" dirty="0">
                <a:latin typeface="+mn-lt"/>
              </a:rPr>
              <a:t>Show all steps and the final DP table.</a:t>
            </a:r>
            <a:endParaRPr lang="en-GB" sz="2800" dirty="0">
              <a:latin typeface="+mn-lt"/>
            </a:endParaRPr>
          </a:p>
          <a:p>
            <a:pPr rtl="0"/>
            <a:endParaRPr lang="en-BD" sz="2800" dirty="0"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999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6860" y="-1"/>
            <a:ext cx="909828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9851A-3E95-C380-26CA-A63D41AF638E}"/>
              </a:ext>
            </a:extLst>
          </p:cNvPr>
          <p:cNvSpPr txBox="1"/>
          <p:nvPr/>
        </p:nvSpPr>
        <p:spPr>
          <a:xfrm>
            <a:off x="838200" y="1613118"/>
            <a:ext cx="990687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GB" sz="2800" b="1" u="sng" dirty="0">
                <a:latin typeface="+mn-lt"/>
              </a:rPr>
              <a:t>Question</a:t>
            </a:r>
          </a:p>
          <a:p>
            <a:pPr rtl="0"/>
            <a:endParaRPr lang="en-GB" sz="2800" b="1" u="sng" dirty="0">
              <a:latin typeface="+mn-lt"/>
            </a:endParaRPr>
          </a:p>
          <a:p>
            <a:pPr rtl="0"/>
            <a:r>
              <a:rPr lang="en-GB" sz="2800" dirty="0">
                <a:latin typeface="+mn-lt"/>
              </a:rPr>
              <a:t>Using the edit distance algorithm, draw the paths for matching the</a:t>
            </a:r>
            <a:br>
              <a:rPr lang="en-GB" sz="2800" dirty="0">
                <a:latin typeface="+mn-lt"/>
              </a:rPr>
            </a:br>
            <a:r>
              <a:rPr lang="en-GB" sz="2800" dirty="0">
                <a:latin typeface="+mn-lt"/>
              </a:rPr>
              <a:t>three words </a:t>
            </a:r>
            <a:r>
              <a:rPr lang="en-GB" sz="2800" b="1" dirty="0">
                <a:latin typeface="+mn-lt"/>
              </a:rPr>
              <a:t>‘</a:t>
            </a:r>
            <a:r>
              <a:rPr lang="en-GB" sz="2800" b="1" dirty="0" err="1">
                <a:latin typeface="+mn-lt"/>
              </a:rPr>
              <a:t>drem</a:t>
            </a:r>
            <a:r>
              <a:rPr lang="en-GB" sz="2800" b="1" dirty="0">
                <a:latin typeface="+mn-lt"/>
              </a:rPr>
              <a:t>’</a:t>
            </a:r>
            <a:r>
              <a:rPr lang="en-GB" sz="2800" dirty="0">
                <a:latin typeface="+mn-lt"/>
              </a:rPr>
              <a:t>, </a:t>
            </a:r>
            <a:r>
              <a:rPr lang="en-GB" sz="2800" b="1" dirty="0">
                <a:latin typeface="+mn-lt"/>
              </a:rPr>
              <a:t>‘</a:t>
            </a:r>
            <a:r>
              <a:rPr lang="en-GB" sz="2800" b="1" dirty="0" err="1">
                <a:latin typeface="+mn-lt"/>
              </a:rPr>
              <a:t>dreaam</a:t>
            </a:r>
            <a:r>
              <a:rPr lang="en-GB" sz="2800" b="1" dirty="0">
                <a:latin typeface="+mn-lt"/>
              </a:rPr>
              <a:t>’,‘</a:t>
            </a:r>
            <a:r>
              <a:rPr lang="en-GB" sz="2800" b="1" dirty="0" err="1">
                <a:latin typeface="+mn-lt"/>
              </a:rPr>
              <a:t>dreum</a:t>
            </a:r>
            <a:r>
              <a:rPr lang="en-GB" sz="2800" b="1" dirty="0">
                <a:latin typeface="+mn-lt"/>
              </a:rPr>
              <a:t>’ </a:t>
            </a:r>
            <a:r>
              <a:rPr lang="en-GB" sz="2800" dirty="0">
                <a:latin typeface="+mn-lt"/>
              </a:rPr>
              <a:t>to the actual word </a:t>
            </a:r>
            <a:r>
              <a:rPr lang="en-GB" sz="2800" b="1" dirty="0">
                <a:latin typeface="+mn-lt"/>
              </a:rPr>
              <a:t>‘dream’.</a:t>
            </a:r>
            <a:endParaRPr lang="en-GB" sz="2800" b="0" dirty="0">
              <a:effectLst/>
              <a:latin typeface="+mn-lt"/>
            </a:endParaRPr>
          </a:p>
          <a:p>
            <a:br>
              <a:rPr lang="en-GB" sz="2800" dirty="0">
                <a:latin typeface="+mn-lt"/>
              </a:rPr>
            </a:br>
            <a:endParaRPr lang="en-BD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4848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144" y="-1"/>
            <a:ext cx="9125712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4667" y="0"/>
            <a:ext cx="9122664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7074</TotalTime>
  <Words>183</Words>
  <Application>Microsoft Macintosh PowerPoint</Application>
  <PresentationFormat>Widescreen</PresentationFormat>
  <Paragraphs>26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Aptos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0423052088 - Bijon Mallik</dc:creator>
  <cp:lastModifiedBy>Rakib Mahmud</cp:lastModifiedBy>
  <cp:revision>4</cp:revision>
  <dcterms:created xsi:type="dcterms:W3CDTF">2025-11-15T18:15:53Z</dcterms:created>
  <dcterms:modified xsi:type="dcterms:W3CDTF">2025-11-28T06:07:03Z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2023-11-18T00:00:00Z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2025-11-15T00:00:00Z</vt:filetime>
  </property>
  <property fmtid="{D5CDD505-2E9C-101B-9397-08002B2CF9AE}" pid="5" name="Producer">
    <vt:lpwstr>Microsoft® PowerPoint® LTSC</vt:lpwstr>
  </property>
</Properties>
</file>