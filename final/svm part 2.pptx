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86" r:id="rId3"/>
    <p:sldId id="270" r:id="rId4"/>
    <p:sldId id="271" r:id="rId5"/>
    <p:sldId id="272" r:id="rId6"/>
    <p:sldId id="274" r:id="rId7"/>
    <p:sldId id="275" r:id="rId8"/>
    <p:sldId id="276" r:id="rId9"/>
    <p:sldId id="27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278" r:id="rId19"/>
    <p:sldId id="279" r:id="rId20"/>
    <p:sldId id="281" r:id="rId21"/>
    <p:sldId id="282" r:id="rId22"/>
    <p:sldId id="257" r:id="rId23"/>
    <p:sldId id="258" r:id="rId24"/>
    <p:sldId id="292" r:id="rId25"/>
    <p:sldId id="293" r:id="rId26"/>
    <p:sldId id="287" r:id="rId27"/>
    <p:sldId id="288" r:id="rId28"/>
    <p:sldId id="289" r:id="rId29"/>
    <p:sldId id="290" r:id="rId30"/>
    <p:sldId id="259" r:id="rId31"/>
    <p:sldId id="260" r:id="rId32"/>
    <p:sldId id="261" r:id="rId33"/>
    <p:sldId id="262" r:id="rId34"/>
    <p:sldId id="263" r:id="rId35"/>
    <p:sldId id="264" r:id="rId36"/>
    <p:sldId id="265" r:id="rId37"/>
    <p:sldId id="297" r:id="rId38"/>
    <p:sldId id="295" r:id="rId39"/>
    <p:sldId id="296" r:id="rId40"/>
  </p:sldIdLst>
  <p:sldSz cx="12192000" cy="6858000"/>
  <p:notesSz cx="6858000" cy="91440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2"/>
    <p:restoredTop sz="80842"/>
  </p:normalViewPr>
  <p:slideViewPr>
    <p:cSldViewPr snapToGrid="0">
      <p:cViewPr varScale="1">
        <p:scale>
          <a:sx n="95" d="100"/>
          <a:sy n="95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DA8336-7D3B-E649-A02B-B498DC01BB4F}" type="datetimeFigureOut">
              <a:rPr lang="en-BD" smtClean="0"/>
              <a:t>13/10/25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6AB25-4FFC-6E4A-AFCE-347524178AD5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56976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bn-BD" dirty="0"/>
                  <a:t>আমরা </a:t>
                </a:r>
                <a14:m>
                  <m:oMath xmlns:m="http://schemas.openxmlformats.org/officeDocument/2006/math">
                    <m:r>
                      <a:rPr lang="bn-BD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∥</m:t>
                    </m:r>
                    <m:r>
                      <a:rPr lang="bn-BD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  <m:r>
                      <a:rPr lang="bn-BD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∥</m:t>
                    </m:r>
                  </m:oMath>
                </a14:m>
                <a:r>
                  <a:rPr lang="bn-BD" dirty="0"/>
                  <a:t>দিয়ে ভাগ করি কারণ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lang="bn-BD" dirty="0"/>
                  <a:t>কেবল দিক অনুযায়ী দূরত্ব দেখায়, আসল (লম্ব) দূরত্ব পেতে </a:t>
                </a:r>
                <a14:m>
                  <m:oMath xmlns:m="http://schemas.openxmlformats.org/officeDocument/2006/math">
                    <m:r>
                      <a:rPr lang="bn-BD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bn-BD" dirty="0"/>
                  <a:t>-এর দৈর্ঘ্য দিয়ে ভাগ করে তাকে স্বাভাবিক বা প্রকৃত দূরত্বে রূপান্তর করা হয়।</a:t>
                </a:r>
                <a:endParaRPr lang="en-BD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bn-BD" dirty="0"/>
                  <a:t>আমরা </a:t>
                </a:r>
                <a:r>
                  <a:rPr lang="bn-BD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∥𝑤∥</a:t>
                </a:r>
                <a:r>
                  <a:rPr lang="bn-BD" dirty="0"/>
                  <a:t>দিয়ে ভাগ করি কারণ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𝑤^𝑇 𝑥+𝑏</a:t>
                </a:r>
                <a:r>
                  <a:rPr lang="bn-BD" dirty="0"/>
                  <a:t>কেবল দিক অনুযায়ী দূরত্ব দেখায়, আসল (লম্ব) দূরত্ব পেতে </a:t>
                </a:r>
                <a:r>
                  <a:rPr lang="bn-BD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bn-BD" dirty="0"/>
                  <a:t>-এর দৈর্ঘ্য দিয়ে ভাগ করে তাকে স্বাভাবিক বা প্রকৃত দূরত্বে রূপান্তর করা হয়।</a:t>
                </a:r>
                <a:endParaRPr lang="en-BD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6AB25-4FFC-6E4A-AFCE-347524178AD5}" type="slidenum">
              <a:rPr lang="en-BD" smtClean="0"/>
              <a:t>8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0759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The </a:t>
                </a:r>
                <a:r>
                  <a:rPr lang="en-GB" b="1" dirty="0"/>
                  <a:t>meaning is actually the same</a:t>
                </a:r>
                <a:r>
                  <a:rPr lang="en-GB" dirty="0"/>
                  <a:t> — the </a:t>
                </a:r>
                <a:r>
                  <a:rPr lang="en-GB" b="1" dirty="0"/>
                  <a:t>transpose symbol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</m:t>
                    </m:r>
                  </m:oMath>
                </a14:m>
                <a:r>
                  <a:rPr lang="en-GB" dirty="0"/>
                  <a:t>is often </a:t>
                </a:r>
                <a:r>
                  <a:rPr lang="en-GB" b="1" dirty="0"/>
                  <a:t>omitted for simplicity</a:t>
                </a:r>
                <a:r>
                  <a:rPr lang="en-GB" dirty="0"/>
                  <a:t> in handwritten derivations or lectures, </a:t>
                </a:r>
                <a:r>
                  <a:rPr lang="en-GB" b="1" dirty="0"/>
                  <a:t>as long as it’s clear that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b="1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are vectors and their product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means the </a:t>
                </a:r>
                <a:r>
                  <a:rPr lang="en-GB" b="1" dirty="0"/>
                  <a:t>dot product</a:t>
                </a:r>
                <a:r>
                  <a:rPr lang="en-GB" dirty="0"/>
                  <a:t>.</a:t>
                </a:r>
                <a:endParaRPr lang="en-BD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The </a:t>
                </a:r>
                <a:r>
                  <a:rPr lang="en-GB" b="1" dirty="0"/>
                  <a:t>meaning is actually the same</a:t>
                </a:r>
                <a:r>
                  <a:rPr lang="en-GB" dirty="0"/>
                  <a:t> — the </a:t>
                </a:r>
                <a:r>
                  <a:rPr lang="en-GB" b="1" dirty="0"/>
                  <a:t>transpose symbol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</a:t>
                </a:r>
                <a:r>
                  <a:rPr lang="en-GB" dirty="0"/>
                  <a:t>is often </a:t>
                </a:r>
                <a:r>
                  <a:rPr lang="en-GB" b="1" dirty="0"/>
                  <a:t>omitted for simplicity</a:t>
                </a:r>
                <a:r>
                  <a:rPr lang="en-GB" dirty="0"/>
                  <a:t> in handwritten derivations or lectures, </a:t>
                </a:r>
                <a:r>
                  <a:rPr lang="en-GB" b="1" dirty="0"/>
                  <a:t>as long as it’s clear that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en-GB" b="1" dirty="0"/>
                  <a:t>and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𝑥_𝑖</a:t>
                </a:r>
                <a:r>
                  <a:rPr lang="en-GB" dirty="0"/>
                  <a:t>are vectors and their product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𝑤^𝑇 𝑥_𝑖</a:t>
                </a:r>
                <a:r>
                  <a:rPr lang="en-GB" dirty="0"/>
                  <a:t>means the </a:t>
                </a:r>
                <a:r>
                  <a:rPr lang="en-GB" b="1" dirty="0"/>
                  <a:t>dot product</a:t>
                </a:r>
                <a:r>
                  <a:rPr lang="en-GB" dirty="0"/>
                  <a:t>.</a:t>
                </a:r>
                <a:endParaRPr lang="en-BD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6AB25-4FFC-6E4A-AFCE-347524178AD5}" type="slidenum">
              <a:rPr lang="en-BD" smtClean="0"/>
              <a:t>11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914463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Primal</a:t>
            </a:r>
            <a:r>
              <a:rPr lang="en-GB" dirty="0"/>
              <a:t> = Original problem in terms of what you're directly looking for (w, b) </a:t>
            </a:r>
          </a:p>
          <a:p>
            <a:r>
              <a:rPr lang="en-GB" b="1" dirty="0"/>
              <a:t>Dual</a:t>
            </a:r>
            <a:r>
              <a:rPr lang="en-GB" dirty="0"/>
              <a:t> = Transformed problem that's often easier to solve (</a:t>
            </a:r>
            <a:r>
              <a:rPr lang="el-GR" dirty="0"/>
              <a:t>λ)</a:t>
            </a: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6AB25-4FFC-6E4A-AFCE-347524178AD5}" type="slidenum">
              <a:rPr lang="en-BD" smtClean="0"/>
              <a:t>12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033251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6AB25-4FFC-6E4A-AFCE-347524178AD5}" type="slidenum">
              <a:rPr lang="en-BD" smtClean="0"/>
              <a:t>16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524457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n-BD" dirty="0"/>
              <a:t>একই </a:t>
            </a:r>
            <a:r>
              <a:rPr lang="en-GB" dirty="0"/>
              <a:t>minimizer </a:t>
            </a:r>
            <a:r>
              <a:rPr lang="bn-BD" dirty="0"/>
              <a:t>কিন্তু ||</a:t>
            </a:r>
            <a:r>
              <a:rPr lang="en-GB" dirty="0"/>
              <a:t>w||² </a:t>
            </a:r>
            <a:r>
              <a:rPr lang="bn-BD" dirty="0"/>
              <a:t>ব্যবহার করলে </a:t>
            </a:r>
            <a:r>
              <a:rPr lang="en-GB" dirty="0"/>
              <a:t>derivative </a:t>
            </a:r>
            <a:r>
              <a:rPr lang="bn-BD" dirty="0"/>
              <a:t>সহজ এবং </a:t>
            </a:r>
            <a:r>
              <a:rPr lang="en-GB" dirty="0"/>
              <a:t>optimization faster।</a:t>
            </a: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6AB25-4FFC-6E4A-AFCE-347524178AD5}" type="slidenum">
              <a:rPr lang="en-BD" smtClean="0"/>
              <a:t>18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252605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6AB25-4FFC-6E4A-AFCE-347524178AD5}" type="slidenum">
              <a:rPr lang="en-BD" smtClean="0"/>
              <a:t>19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703469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F3CC0-378D-D651-F6B3-1CF71A5AE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40DFC-EC79-DFA2-B8C1-E5E073EAA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3492F-AF01-2B3C-0893-FF5F3808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024B-1F45-624F-92B5-A1A1828BD618}" type="datetimeFigureOut">
              <a:rPr lang="en-BD" smtClean="0"/>
              <a:t>13/10/25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B7BAE-3E6D-03E6-6048-5324F8793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9253A-A00D-9C9F-5FC8-DF7538C46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F676-D647-5B4C-A4FA-7A1AC6143397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155311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D6B6-6F55-F2BF-CA71-90138D68B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4A6B-9C89-2966-FF66-B016C2681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898CD-0AD3-F05B-9311-C4ED997A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024B-1F45-624F-92B5-A1A1828BD618}" type="datetimeFigureOut">
              <a:rPr lang="en-BD" smtClean="0"/>
              <a:t>13/10/25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FD7F3-B01E-81DD-5AA5-B03C42AEC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6FE71-740F-1472-7C6B-EFD60DD7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F676-D647-5B4C-A4FA-7A1AC6143397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249220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2BFD-5038-2100-C069-C2FA17341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EFA07-08AD-EF68-05AB-5E7088964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A733B-A5FE-507A-3A48-4DCA24AA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024B-1F45-624F-92B5-A1A1828BD618}" type="datetimeFigureOut">
              <a:rPr lang="en-BD" smtClean="0"/>
              <a:t>13/10/25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5AC0-2D90-846B-B66B-49D4A89F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D8595-7019-679E-FA74-AF07F929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F676-D647-5B4C-A4FA-7A1AC6143397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15666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FF1C0-3CC7-0318-EC70-C4CE8E12F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CE2A3-8241-43B4-5F56-557F8F14A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F9ABC-714F-0B12-41AD-D36926C16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D57FB-29AF-35C8-D0EF-AEE85FD90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024B-1F45-624F-92B5-A1A1828BD618}" type="datetimeFigureOut">
              <a:rPr lang="en-BD" smtClean="0"/>
              <a:t>13/10/25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DD34E-E4BB-0967-EDAD-268AE7A5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8CF45-C16F-03C0-356F-1FD240AD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F676-D647-5B4C-A4FA-7A1AC6143397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393796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366A-7934-DABD-EF23-9E095EA3B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C6C69-4414-1681-47D2-60D51BFB4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5CCB5-9051-D425-1EC9-FE0CC29E5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9FD6C-4D15-03AD-AC67-6370CFC7C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3857C7-64AF-399D-52BD-5395D2B78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95F73A-5521-72D5-BDF4-7A3EE3B85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024B-1F45-624F-92B5-A1A1828BD618}" type="datetimeFigureOut">
              <a:rPr lang="en-BD" smtClean="0"/>
              <a:t>13/10/25</a:t>
            </a:fld>
            <a:endParaRPr lang="e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5A982-050D-F457-8D73-5BFFD25D8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D9D9A-2473-D689-5384-21B06C96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F676-D647-5B4C-A4FA-7A1AC6143397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37143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D7D15-34FF-DA8B-6E04-26D0E998E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04ECAD-65AE-5C62-3879-5D68A1A3C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024B-1F45-624F-92B5-A1A1828BD618}" type="datetimeFigureOut">
              <a:rPr lang="en-BD" smtClean="0"/>
              <a:t>13/10/25</a:t>
            </a:fld>
            <a:endParaRPr lang="e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3EAF50-681D-AC9D-6BAC-C3114B010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F6561-86B3-80DA-760E-19999206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F676-D647-5B4C-A4FA-7A1AC6143397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0870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ECDF7-9430-418A-467D-62FEEB520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024B-1F45-624F-92B5-A1A1828BD618}" type="datetimeFigureOut">
              <a:rPr lang="en-BD" smtClean="0"/>
              <a:t>13/10/25</a:t>
            </a:fld>
            <a:endParaRPr lang="e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963541-AA2A-F087-8BF6-A9C56CC4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AAE26-440C-C55F-B548-BCDF7DB2D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F676-D647-5B4C-A4FA-7A1AC6143397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048585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7316B-9110-B01A-B86D-C3EDD6A38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93788-FE9C-2A10-EE84-55AD48445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8E6C3-10EC-70A4-5BF5-5CFB08A75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68619-F609-E9CA-DE4E-F3D828765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024B-1F45-624F-92B5-A1A1828BD618}" type="datetimeFigureOut">
              <a:rPr lang="en-BD" smtClean="0"/>
              <a:t>13/10/25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AFD77-C990-3C6D-C91B-D8C141B9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268AB-E1C1-FC07-79BB-FF2A7BB7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F676-D647-5B4C-A4FA-7A1AC6143397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76650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9CD32-66BE-D7CB-FF07-7C1D89676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80EC7-896C-9F88-339B-3395713BF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4572D-2FFC-ABCB-B14C-70048627B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0C151-5010-D114-9978-78687355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024B-1F45-624F-92B5-A1A1828BD618}" type="datetimeFigureOut">
              <a:rPr lang="en-BD" smtClean="0"/>
              <a:t>13/10/25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E8819-14CD-C8C9-4F92-7739E7C53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AD6F0-148A-1AD3-94AD-A444AFF6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F676-D647-5B4C-A4FA-7A1AC6143397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713765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44A8-89EA-527D-C39C-BB16B307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11980-532B-F16C-E1C6-8D0B6D7C9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484BD-DEC3-9697-FCE4-84056DBC6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024B-1F45-624F-92B5-A1A1828BD618}" type="datetimeFigureOut">
              <a:rPr lang="en-BD" smtClean="0"/>
              <a:t>13/10/25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F4B95-384B-4882-63A6-5FDDB908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3B2E2-3CBE-47D1-59C0-4616E0B0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F676-D647-5B4C-A4FA-7A1AC6143397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868278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F6FE8-B400-31B5-0B33-556A93360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3283E-0BC6-D544-3312-1848B1E68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989F7-822F-E04C-B327-2A29F7810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024B-1F45-624F-92B5-A1A1828BD618}" type="datetimeFigureOut">
              <a:rPr lang="en-BD" smtClean="0"/>
              <a:t>13/10/25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2F39F-A786-B58C-5F9B-261709D2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11D61-E8E4-A05B-66AF-A738D0487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F676-D647-5B4C-A4FA-7A1AC6143397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83451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681E4B-CA58-B1A9-8884-4AB6F84CC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7440F-8661-6A78-F5D8-EA085DDB5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00763-8534-B574-C15A-089C862CA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D024B-1F45-624F-92B5-A1A1828BD618}" type="datetimeFigureOut">
              <a:rPr lang="en-BD" smtClean="0"/>
              <a:t>13/10/25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74B79-309E-CC98-0C96-240C15EDB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D8F64-3748-6077-87A5-8E4CB5097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1F676-D647-5B4C-A4FA-7A1AC6143397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014414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EFDAC-7620-013F-7474-838DF01396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D" dirty="0"/>
              <a:t>SVM – 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FF6EE-BEB1-4DA4-F485-3BA712C44E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D" dirty="0"/>
              <a:t>Rakib Mahmud</a:t>
            </a:r>
          </a:p>
        </p:txBody>
      </p:sp>
    </p:spTree>
    <p:extLst>
      <p:ext uri="{BB962C8B-B14F-4D97-AF65-F5344CB8AC3E}">
        <p14:creationId xmlns:p14="http://schemas.microsoft.com/office/powerpoint/2010/main" val="960596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C133-AAB2-983E-BD1F-3DAE4531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4F5F1-2AEF-90F0-11A8-21B28D8F8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Classification</a:t>
            </a:r>
          </a:p>
          <a:p>
            <a:r>
              <a:rPr lang="en-BD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2076433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3373-3F20-8547-55D1-93877841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Hard Margin SVM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30432-51D5-D1E4-978F-256078C40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810" y="1892860"/>
            <a:ext cx="5898777" cy="4351338"/>
          </a:xfrm>
        </p:spPr>
        <p:txBody>
          <a:bodyPr/>
          <a:lstStyle/>
          <a:p>
            <a:r>
              <a:rPr lang="en-GB" dirty="0"/>
              <a:t>It is used for </a:t>
            </a:r>
            <a:r>
              <a:rPr lang="en-GB" b="1" dirty="0"/>
              <a:t>linearly separable data</a:t>
            </a:r>
            <a:r>
              <a:rPr lang="en-GB" dirty="0"/>
              <a:t> — that is, when the two classes can be completely separated by a straight line (in 2D) or a hyperplane (in higher dimensions) </a:t>
            </a:r>
            <a:r>
              <a:rPr lang="en-GB" b="1" dirty="0"/>
              <a:t>without any misclassification</a:t>
            </a:r>
            <a:r>
              <a:rPr lang="en-GB" dirty="0"/>
              <a:t>.</a:t>
            </a:r>
            <a:endParaRPr lang="en-BD" dirty="0"/>
          </a:p>
        </p:txBody>
      </p:sp>
      <p:pic>
        <p:nvPicPr>
          <p:cNvPr id="5" name="Picture 4" descr="A paper with writing on it&#10;&#10;AI-generated content may be incorrect.">
            <a:extLst>
              <a:ext uri="{FF2B5EF4-FFF2-40B4-BE49-F238E27FC236}">
                <a16:creationId xmlns:a16="http://schemas.microsoft.com/office/drawing/2014/main" id="{4E5BACD1-3890-57EC-7AF1-A3B32AA5B5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11" t="29911" r="22164" b="16801"/>
          <a:stretch>
            <a:fillRect/>
          </a:stretch>
        </p:blipFill>
        <p:spPr>
          <a:xfrm>
            <a:off x="6454588" y="1690688"/>
            <a:ext cx="5737412" cy="455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6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74908-42E5-A7D6-9D91-314740324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 Margin SVM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03CF-F741-9FBB-20B4-D38F090C2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45741" cy="4252446"/>
          </a:xfrm>
        </p:spPr>
        <p:txBody>
          <a:bodyPr/>
          <a:lstStyle/>
          <a:p>
            <a:r>
              <a:rPr lang="en-GB" b="1" dirty="0"/>
              <a:t>It </a:t>
            </a:r>
            <a:r>
              <a:rPr lang="en-GB" dirty="0"/>
              <a:t>is an extension of the </a:t>
            </a:r>
            <a:r>
              <a:rPr lang="en-GB" b="1" dirty="0"/>
              <a:t>Hard Margin SVM</a:t>
            </a:r>
            <a:r>
              <a:rPr lang="en-GB" dirty="0"/>
              <a:t> that allows </a:t>
            </a:r>
            <a:r>
              <a:rPr lang="en-GB" b="1" dirty="0"/>
              <a:t>some misclassifications. </a:t>
            </a:r>
          </a:p>
          <a:p>
            <a:r>
              <a:rPr lang="en-GB" dirty="0"/>
              <a:t>It is common in real-world scenarios.</a:t>
            </a:r>
            <a:endParaRPr lang="en-BD" dirty="0"/>
          </a:p>
        </p:txBody>
      </p:sp>
      <p:pic>
        <p:nvPicPr>
          <p:cNvPr id="4" name="Picture 3" descr="A white paper with writing on it&#10;&#10;AI-generated content may be incorrect.">
            <a:extLst>
              <a:ext uri="{FF2B5EF4-FFF2-40B4-BE49-F238E27FC236}">
                <a16:creationId xmlns:a16="http://schemas.microsoft.com/office/drawing/2014/main" id="{DDBDB04F-3DD0-AC1E-8590-38C7552108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21" t="18147" r="11024" b="14956"/>
          <a:stretch>
            <a:fillRect/>
          </a:stretch>
        </p:blipFill>
        <p:spPr>
          <a:xfrm>
            <a:off x="5822575" y="1825625"/>
            <a:ext cx="6051177" cy="389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70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A123-FAA8-07AC-9A43-563F15890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1C6263-37FA-4164-62F1-109F357E17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BD" dirty="0"/>
                  <a:t>Equation of a line: ax + by + c = 0</a:t>
                </a:r>
              </a:p>
              <a:p>
                <a:pPr lvl="1"/>
                <a:r>
                  <a:rPr lang="en-GB" dirty="0"/>
                  <a:t>Y</a:t>
                </a:r>
                <a:r>
                  <a:rPr lang="en-BD" dirty="0"/>
                  <a:t> = mx + c </a:t>
                </a:r>
              </a:p>
              <a:p>
                <a:r>
                  <a:rPr lang="en-BD" dirty="0"/>
                  <a:t>It can be written as </a:t>
                </a:r>
              </a:p>
              <a:p>
                <a:pPr lvl="1"/>
                <a:r>
                  <a:rPr lang="en-GB" dirty="0"/>
                  <a:t>Y</a:t>
                </a:r>
                <a:r>
                  <a:rPr lang="en-BD" dirty="0"/>
                  <a:t> = </a:t>
                </a:r>
                <a14:m>
                  <m:oMath xmlns:m="http://schemas.openxmlformats.org/officeDocument/2006/math">
                    <m:r>
                      <a:rPr lang="en-BD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BD" baseline="-25000" dirty="0"/>
                  <a:t> </a:t>
                </a:r>
                <a:r>
                  <a:rPr lang="en-BD" dirty="0"/>
                  <a:t>+</a:t>
                </a:r>
                <a:r>
                  <a:rPr lang="en-BD" baseline="-25000" dirty="0"/>
                  <a:t>  </a:t>
                </a:r>
                <a14:m>
                  <m:oMath xmlns:m="http://schemas.openxmlformats.org/officeDocument/2006/math">
                    <m:r>
                      <a:rPr lang="en-BD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BD" baseline="-25000" dirty="0"/>
                  <a:t> </a:t>
                </a:r>
                <a:r>
                  <a:rPr lang="en-BD" dirty="0"/>
                  <a:t>x  or,  Y = </a:t>
                </a:r>
                <a14:m>
                  <m:oMath xmlns:m="http://schemas.openxmlformats.org/officeDocument/2006/math">
                    <m:r>
                      <a:rPr lang="en-BD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BD" baseline="-25000" dirty="0"/>
                  <a:t>0</a:t>
                </a:r>
                <a:r>
                  <a:rPr lang="en-BD" dirty="0"/>
                  <a:t> + </a:t>
                </a:r>
                <a14:m>
                  <m:oMath xmlns:m="http://schemas.openxmlformats.org/officeDocument/2006/math">
                    <m:r>
                      <a:rPr lang="en-BD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BD" baseline="-25000" dirty="0"/>
                  <a:t>1</a:t>
                </a:r>
                <a:r>
                  <a:rPr lang="en-BD" dirty="0"/>
                  <a:t> x  or, Y = W</a:t>
                </a:r>
                <a:r>
                  <a:rPr lang="en-BD" baseline="-25000" dirty="0"/>
                  <a:t>1</a:t>
                </a:r>
                <a:r>
                  <a:rPr lang="en-BD" dirty="0"/>
                  <a:t>X</a:t>
                </a:r>
                <a:r>
                  <a:rPr lang="en-BD" baseline="-25000" dirty="0"/>
                  <a:t>1</a:t>
                </a:r>
                <a:r>
                  <a:rPr lang="en-BD" dirty="0"/>
                  <a:t> + b</a:t>
                </a:r>
              </a:p>
              <a:p>
                <a:r>
                  <a:rPr lang="en-BD" dirty="0"/>
                  <a:t>If there is mulitiple features, then</a:t>
                </a:r>
              </a:p>
              <a:p>
                <a:pPr lvl="1"/>
                <a:r>
                  <a:rPr lang="en-BD" dirty="0"/>
                  <a:t>Y = W</a:t>
                </a:r>
                <a:r>
                  <a:rPr lang="en-BD" baseline="-25000" dirty="0"/>
                  <a:t>1</a:t>
                </a:r>
                <a:r>
                  <a:rPr lang="en-BD" dirty="0"/>
                  <a:t>X</a:t>
                </a:r>
                <a:r>
                  <a:rPr lang="en-BD" baseline="-25000" dirty="0"/>
                  <a:t>1</a:t>
                </a:r>
                <a:r>
                  <a:rPr lang="en-BD" dirty="0"/>
                  <a:t> + W</a:t>
                </a:r>
                <a:r>
                  <a:rPr lang="en-BD" baseline="-25000" dirty="0"/>
                  <a:t>2</a:t>
                </a:r>
                <a:r>
                  <a:rPr lang="en-BD" dirty="0"/>
                  <a:t>X</a:t>
                </a:r>
                <a:r>
                  <a:rPr lang="en-BD" baseline="-25000" dirty="0"/>
                  <a:t>2 </a:t>
                </a:r>
                <a:r>
                  <a:rPr lang="en-BD" dirty="0"/>
                  <a:t>+ W</a:t>
                </a:r>
                <a:r>
                  <a:rPr lang="en-BD" baseline="-25000" dirty="0"/>
                  <a:t>3</a:t>
                </a:r>
                <a:r>
                  <a:rPr lang="en-BD" dirty="0"/>
                  <a:t>X</a:t>
                </a:r>
                <a:r>
                  <a:rPr lang="en-BD" baseline="-25000" dirty="0"/>
                  <a:t>3 </a:t>
                </a:r>
                <a:r>
                  <a:rPr lang="en-BD" dirty="0"/>
                  <a:t>+ b</a:t>
                </a:r>
              </a:p>
              <a:p>
                <a:pPr lvl="1"/>
                <a:r>
                  <a:rPr lang="en-BD" dirty="0"/>
                  <a:t>We can specify it as </a:t>
                </a:r>
              </a:p>
              <a:p>
                <a:pPr lvl="2"/>
                <a:r>
                  <a:rPr lang="en-BD" sz="2400" dirty="0"/>
                  <a:t>Y = W</a:t>
                </a:r>
                <a:r>
                  <a:rPr lang="en-BD" sz="2400" baseline="30000" dirty="0"/>
                  <a:t>T</a:t>
                </a:r>
                <a:r>
                  <a:rPr lang="en-BD" sz="2400" dirty="0"/>
                  <a:t>x + b</a:t>
                </a:r>
              </a:p>
              <a:p>
                <a:pPr lvl="1"/>
                <a:endParaRPr lang="en-BD" baseline="-25000" dirty="0"/>
              </a:p>
              <a:p>
                <a:pPr lvl="1"/>
                <a:endParaRPr lang="en-B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1C6263-37FA-4164-62F1-109F357E17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028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4B4B-29C6-4CB9-D0F5-D375DEB2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 dirty="0"/>
          </a:p>
        </p:txBody>
      </p:sp>
      <p:pic>
        <p:nvPicPr>
          <p:cNvPr id="4" name="Picture 3" descr="A white paper with writing on it&#10;&#10;AI-generated content may be incorrect.">
            <a:extLst>
              <a:ext uri="{FF2B5EF4-FFF2-40B4-BE49-F238E27FC236}">
                <a16:creationId xmlns:a16="http://schemas.microsoft.com/office/drawing/2014/main" id="{A51B8172-301F-CED3-4CE7-38060D3782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05" t="12876" r="35883" b="31242"/>
          <a:stretch>
            <a:fillRect/>
          </a:stretch>
        </p:blipFill>
        <p:spPr>
          <a:xfrm rot="16200000">
            <a:off x="4130970" y="613135"/>
            <a:ext cx="4351336" cy="704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25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C910-64D8-B50C-BDC1-D1EDEF42A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2EEE8-B793-F991-30FF-B782FAD67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Let’s assume the equation of the hyperplane is 3x + 2y + 4 = 0</a:t>
            </a:r>
          </a:p>
          <a:p>
            <a:r>
              <a:rPr lang="en-BD" dirty="0"/>
              <a:t>At (4, 4) we get 24, which is positive value</a:t>
            </a:r>
          </a:p>
          <a:p>
            <a:r>
              <a:rPr lang="en-BD" dirty="0"/>
              <a:t>At (-4, 0) we get -8, which is negative value.</a:t>
            </a:r>
          </a:p>
          <a:p>
            <a:r>
              <a:rPr lang="en-GB" dirty="0"/>
              <a:t>According to this, all the points </a:t>
            </a:r>
            <a:r>
              <a:rPr lang="en-GB" b="1" dirty="0"/>
              <a:t>above the hyperplane</a:t>
            </a:r>
            <a:r>
              <a:rPr lang="en-GB" dirty="0"/>
              <a:t> will yield a </a:t>
            </a:r>
            <a:r>
              <a:rPr lang="en-GB" b="1" dirty="0"/>
              <a:t>positive value</a:t>
            </a:r>
            <a:r>
              <a:rPr lang="en-GB" dirty="0"/>
              <a:t>, while all the points </a:t>
            </a:r>
            <a:r>
              <a:rPr lang="en-GB" b="1" dirty="0"/>
              <a:t>below the hyperplane</a:t>
            </a:r>
            <a:r>
              <a:rPr lang="en-GB" dirty="0"/>
              <a:t> will yield a </a:t>
            </a:r>
            <a:r>
              <a:rPr lang="en-GB" b="1" dirty="0"/>
              <a:t>negative value</a:t>
            </a:r>
            <a:r>
              <a:rPr lang="en-GB" dirty="0"/>
              <a:t>.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456605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921A-7EB5-155E-1FCE-BB3F38889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5" name="Content Placeholder 4" descr="A white paper with black writing on it&#10;&#10;AI-generated content may be incorrect.">
            <a:extLst>
              <a:ext uri="{FF2B5EF4-FFF2-40B4-BE49-F238E27FC236}">
                <a16:creationId xmlns:a16="http://schemas.microsoft.com/office/drawing/2014/main" id="{BC44B60E-6389-5985-0AA8-AA4D95BC7D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7346" t="11577" r="3620" b="26307"/>
          <a:stretch>
            <a:fillRect/>
          </a:stretch>
        </p:blipFill>
        <p:spPr>
          <a:xfrm rot="16200000">
            <a:off x="1676819" y="574162"/>
            <a:ext cx="4427724" cy="6929718"/>
          </a:xfrm>
        </p:spPr>
      </p:pic>
      <p:pic>
        <p:nvPicPr>
          <p:cNvPr id="6" name="Content Placeholder 4" descr="A white paper with black writing on it&#10;&#10;AI-generated content may be incorrect.">
            <a:extLst>
              <a:ext uri="{FF2B5EF4-FFF2-40B4-BE49-F238E27FC236}">
                <a16:creationId xmlns:a16="http://schemas.microsoft.com/office/drawing/2014/main" id="{FAFF3999-8F2F-A03E-27A5-7D2D041C46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49" t="26934" r="53066" b="37370"/>
          <a:stretch>
            <a:fillRect/>
          </a:stretch>
        </p:blipFill>
        <p:spPr>
          <a:xfrm rot="16200000">
            <a:off x="7967385" y="2642349"/>
            <a:ext cx="3388660" cy="383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06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81396-2541-5444-3C4B-B65C0720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333128F-E7D4-9755-C3EA-C4B66995FF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38246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BD" dirty="0"/>
              </a:p>
              <a:p>
                <a:pPr marL="0" indent="0">
                  <a:buNone/>
                </a:pPr>
                <a:endParaRPr lang="en-BD" dirty="0"/>
              </a:p>
              <a:p>
                <a:pPr marL="0" indent="0">
                  <a:buNone/>
                </a:pPr>
                <a:endParaRPr lang="en-BD" dirty="0"/>
              </a:p>
              <a:p>
                <a:pPr marL="0" indent="0">
                  <a:buNone/>
                </a:pPr>
                <a:r>
                  <a:rPr lang="en-BD" dirty="0"/>
                  <a:t>We need to add some constraints here</a:t>
                </a:r>
              </a:p>
              <a:p>
                <a:pPr marL="0" indent="0">
                  <a:buNone/>
                </a:pPr>
                <a:endParaRPr lang="en-BD" dirty="0"/>
              </a:p>
              <a:p>
                <a:pPr marL="0" indent="0">
                  <a:buNone/>
                </a:pPr>
                <a:r>
                  <a:rPr lang="en-GB" dirty="0"/>
                  <a:t>S</a:t>
                </a:r>
                <a:r>
                  <a:rPr lang="en-BD" dirty="0"/>
                  <a:t>uch that </a:t>
                </a:r>
              </a:p>
              <a:p>
                <a:pPr marL="0" indent="0">
                  <a:buNone/>
                </a:pPr>
                <a:endParaRPr lang="en-BD" dirty="0"/>
              </a:p>
              <a:p>
                <a:pPr marL="0" indent="0">
                  <a:buNone/>
                </a:pPr>
                <a:endParaRPr lang="en-BD" dirty="0"/>
              </a:p>
              <a:p>
                <a:pPr marL="0" indent="0">
                  <a:buNone/>
                </a:pPr>
                <a:r>
                  <a:rPr lang="en-BD" dirty="0"/>
                  <a:t>So, for all accurate datapoints     y * (W</a:t>
                </a:r>
                <a:r>
                  <a:rPr lang="en-BD" baseline="30000" dirty="0"/>
                  <a:t>T</a:t>
                </a:r>
                <a:r>
                  <a:rPr lang="en-BD" dirty="0"/>
                  <a:t>x + b) </a:t>
                </a:r>
                <a14:m>
                  <m:oMath xmlns:m="http://schemas.openxmlformats.org/officeDocument/2006/math">
                    <m:r>
                      <a:rPr lang="en-BD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BD" dirty="0"/>
                  <a:t> 1</a:t>
                </a:r>
              </a:p>
              <a:p>
                <a:pPr marL="0" indent="0">
                  <a:buNone/>
                </a:pPr>
                <a:endParaRPr lang="en-BD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333128F-E7D4-9755-C3EA-C4B66995FF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38246"/>
              </a:xfrm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F34E98-DB79-7843-AD99-0437F8FB8AF9}"/>
                  </a:ext>
                </a:extLst>
              </p:cNvPr>
              <p:cNvSpPr txBox="1"/>
              <p:nvPr/>
            </p:nvSpPr>
            <p:spPr>
              <a:xfrm>
                <a:off x="5114364" y="2023050"/>
                <a:ext cx="1425388" cy="756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BD" sz="28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BD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BD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F34E98-DB79-7843-AD99-0437F8FB8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364" y="2023050"/>
                <a:ext cx="1425388" cy="756682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6BBEDEA-F313-1A11-B423-BF5421B80794}"/>
              </a:ext>
            </a:extLst>
          </p:cNvPr>
          <p:cNvSpPr txBox="1"/>
          <p:nvPr/>
        </p:nvSpPr>
        <p:spPr>
          <a:xfrm>
            <a:off x="3372044" y="1825625"/>
            <a:ext cx="16347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BD" sz="2800" dirty="0"/>
              <a:t>Maximize</a:t>
            </a:r>
          </a:p>
          <a:p>
            <a:pPr algn="ctr"/>
            <a:r>
              <a:rPr lang="en-GB" sz="2800" dirty="0"/>
              <a:t>W</a:t>
            </a:r>
            <a:r>
              <a:rPr lang="en-BD" sz="2800" dirty="0"/>
              <a:t>,b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3EDD7C-2140-CA16-84DF-9DC1477ABAE8}"/>
              </a:ext>
            </a:extLst>
          </p:cNvPr>
          <p:cNvSpPr txBox="1"/>
          <p:nvPr/>
        </p:nvSpPr>
        <p:spPr>
          <a:xfrm>
            <a:off x="6096000" y="2139781"/>
            <a:ext cx="4139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dirty="0"/>
              <a:t>= Marginal plane distance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929CB371-EA70-89D5-74DF-886E265DE076}"/>
              </a:ext>
            </a:extLst>
          </p:cNvPr>
          <p:cNvSpPr/>
          <p:nvPr/>
        </p:nvSpPr>
        <p:spPr>
          <a:xfrm>
            <a:off x="3852204" y="3977672"/>
            <a:ext cx="443752" cy="146572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47E046-EEB0-DB6C-854D-A228A885DDDA}"/>
                  </a:ext>
                </a:extLst>
              </p:cNvPr>
              <p:cNvSpPr txBox="1"/>
              <p:nvPr/>
            </p:nvSpPr>
            <p:spPr>
              <a:xfrm>
                <a:off x="4295956" y="4064205"/>
                <a:ext cx="3600088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D" sz="2800" dirty="0"/>
                  <a:t>+1  	W</a:t>
                </a:r>
                <a:r>
                  <a:rPr lang="en-BD" sz="2800" baseline="30000" dirty="0"/>
                  <a:t>T</a:t>
                </a:r>
                <a:r>
                  <a:rPr lang="en-BD" sz="2800" dirty="0"/>
                  <a:t>x + b </a:t>
                </a:r>
                <a14:m>
                  <m:oMath xmlns:m="http://schemas.openxmlformats.org/officeDocument/2006/math">
                    <m:r>
                      <a:rPr lang="en-BD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BD" sz="2800" dirty="0"/>
                  <a:t> 1</a:t>
                </a:r>
              </a:p>
              <a:p>
                <a:endParaRPr lang="en-BD" sz="2800" dirty="0"/>
              </a:p>
              <a:p>
                <a:r>
                  <a:rPr lang="en-BD" sz="2800" dirty="0"/>
                  <a:t>-1	W</a:t>
                </a:r>
                <a:r>
                  <a:rPr lang="en-BD" sz="2800" baseline="30000" dirty="0"/>
                  <a:t>T</a:t>
                </a:r>
                <a:r>
                  <a:rPr lang="en-BD" sz="2800" dirty="0"/>
                  <a:t>x + b </a:t>
                </a:r>
                <a14:m>
                  <m:oMath xmlns:m="http://schemas.openxmlformats.org/officeDocument/2006/math">
                    <m:r>
                      <a:rPr lang="en-BD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BD" sz="2800" dirty="0"/>
                  <a:t>     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47E046-EEB0-DB6C-854D-A228A885D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956" y="4064205"/>
                <a:ext cx="3600088" cy="1384995"/>
              </a:xfrm>
              <a:prstGeom prst="rect">
                <a:avLst/>
              </a:prstGeom>
              <a:blipFill>
                <a:blip r:embed="rId4"/>
                <a:stretch>
                  <a:fillRect l="-3521" t="-5455" b="-11818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B4C590F-8C93-A1A4-0626-768105235218}"/>
              </a:ext>
            </a:extLst>
          </p:cNvPr>
          <p:cNvSpPr txBox="1"/>
          <p:nvPr/>
        </p:nvSpPr>
        <p:spPr>
          <a:xfrm>
            <a:off x="3369132" y="4448926"/>
            <a:ext cx="428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dirty="0"/>
              <a:t>Y</a:t>
            </a:r>
            <a:r>
              <a:rPr lang="en-BD" sz="2800" baseline="-25000" dirty="0"/>
              <a:t>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A738A-DC00-6F22-1A92-6D8346FB6B9D}"/>
              </a:ext>
            </a:extLst>
          </p:cNvPr>
          <p:cNvSpPr txBox="1"/>
          <p:nvPr/>
        </p:nvSpPr>
        <p:spPr>
          <a:xfrm>
            <a:off x="8511989" y="5930153"/>
            <a:ext cx="123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>
                <a:highlight>
                  <a:srgbClr val="FFFF00"/>
                </a:highlight>
              </a:rPr>
              <a:t>Constraint</a:t>
            </a:r>
          </a:p>
        </p:txBody>
      </p:sp>
    </p:spTree>
    <p:extLst>
      <p:ext uri="{BB962C8B-B14F-4D97-AF65-F5344CB8AC3E}">
        <p14:creationId xmlns:p14="http://schemas.microsoft.com/office/powerpoint/2010/main" val="3642972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060CA-0799-CB20-F7EC-08B59DF8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75B3C9-5698-B11D-5119-64A684024D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85937"/>
                <a:ext cx="10515600" cy="923099"/>
              </a:xfrm>
            </p:spPr>
            <p:txBody>
              <a:bodyPr/>
              <a:lstStyle/>
              <a:p>
                <a:r>
                  <a:rPr lang="en-BD" dirty="0"/>
                  <a:t>y * (W</a:t>
                </a:r>
                <a:r>
                  <a:rPr lang="en-BD" baseline="30000" dirty="0"/>
                  <a:t>T</a:t>
                </a:r>
                <a:r>
                  <a:rPr lang="en-BD" dirty="0"/>
                  <a:t>x + b) </a:t>
                </a:r>
                <a14:m>
                  <m:oMath xmlns:m="http://schemas.openxmlformats.org/officeDocument/2006/math">
                    <m:r>
                      <a:rPr lang="en-BD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BD" dirty="0"/>
                  <a:t> 1 (Constraint)</a:t>
                </a:r>
              </a:p>
              <a:p>
                <a:endParaRPr lang="en-B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75B3C9-5698-B11D-5119-64A684024D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85937"/>
                <a:ext cx="10515600" cy="923099"/>
              </a:xfrm>
              <a:blipFill>
                <a:blip r:embed="rId2"/>
                <a:stretch>
                  <a:fillRect l="-1086" t="-12329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CFEDEE-0B18-EA52-053B-4C58320132F5}"/>
                  </a:ext>
                </a:extLst>
              </p:cNvPr>
              <p:cNvSpPr txBox="1"/>
              <p:nvPr/>
            </p:nvSpPr>
            <p:spPr>
              <a:xfrm>
                <a:off x="2821599" y="2186100"/>
                <a:ext cx="1425388" cy="756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BD" sz="28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BD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BD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CFEDEE-0B18-EA52-053B-4C5832013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599" y="2186100"/>
                <a:ext cx="1425388" cy="756682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AEB56DA-F4B8-C3C8-20C9-33EEB6E0720C}"/>
              </a:ext>
            </a:extLst>
          </p:cNvPr>
          <p:cNvSpPr txBox="1"/>
          <p:nvPr/>
        </p:nvSpPr>
        <p:spPr>
          <a:xfrm>
            <a:off x="1326777" y="2065878"/>
            <a:ext cx="16347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BD" sz="2800" dirty="0"/>
              <a:t>Maximize</a:t>
            </a:r>
          </a:p>
          <a:p>
            <a:pPr algn="ctr"/>
            <a:r>
              <a:rPr lang="en-GB" sz="2800" dirty="0"/>
              <a:t>W</a:t>
            </a:r>
            <a:r>
              <a:rPr lang="en-BD" sz="2800" dirty="0"/>
              <a:t>,b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E4FC15-9E52-10AE-9D61-3E1001EB726D}"/>
                  </a:ext>
                </a:extLst>
              </p:cNvPr>
              <p:cNvSpPr txBox="1"/>
              <p:nvPr/>
            </p:nvSpPr>
            <p:spPr>
              <a:xfrm>
                <a:off x="6506973" y="2168316"/>
                <a:ext cx="1425388" cy="729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BD" sz="28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BD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BD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E4FC15-9E52-10AE-9D61-3E1001EB7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973" y="2168316"/>
                <a:ext cx="1425388" cy="729623"/>
              </a:xfrm>
              <a:prstGeom prst="rect">
                <a:avLst/>
              </a:prstGeom>
              <a:blipFill>
                <a:blip r:embed="rId4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A04DE11-6F39-F546-72D1-84FC0BA03071}"/>
              </a:ext>
            </a:extLst>
          </p:cNvPr>
          <p:cNvSpPr txBox="1"/>
          <p:nvPr/>
        </p:nvSpPr>
        <p:spPr>
          <a:xfrm>
            <a:off x="5007671" y="2007423"/>
            <a:ext cx="15674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BD" sz="2800" dirty="0"/>
              <a:t>Minimize</a:t>
            </a:r>
          </a:p>
          <a:p>
            <a:pPr algn="ctr"/>
            <a:r>
              <a:rPr lang="en-GB" sz="2800" dirty="0"/>
              <a:t>W</a:t>
            </a:r>
            <a:r>
              <a:rPr lang="en-BD" sz="2800" dirty="0"/>
              <a:t>,b 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C6E9F929-3E91-7AC5-84FF-A7D57F827F60}"/>
              </a:ext>
            </a:extLst>
          </p:cNvPr>
          <p:cNvSpPr/>
          <p:nvPr/>
        </p:nvSpPr>
        <p:spPr>
          <a:xfrm>
            <a:off x="3998831" y="2186100"/>
            <a:ext cx="779581" cy="7118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5A13EF-70AB-1724-3FE1-6CE335483917}"/>
                  </a:ext>
                </a:extLst>
              </p:cNvPr>
              <p:cNvSpPr txBox="1"/>
              <p:nvPr/>
            </p:nvSpPr>
            <p:spPr>
              <a:xfrm>
                <a:off x="10048823" y="2218766"/>
                <a:ext cx="1425388" cy="729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BD" sz="28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BD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BD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5A13EF-70AB-1724-3FE1-6CE335483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823" y="2218766"/>
                <a:ext cx="1425388" cy="729623"/>
              </a:xfrm>
              <a:prstGeom prst="rect">
                <a:avLst/>
              </a:prstGeom>
              <a:blipFill>
                <a:blip r:embed="rId5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78C8A5D-A3EC-579C-E458-A2B720BB6B07}"/>
              </a:ext>
            </a:extLst>
          </p:cNvPr>
          <p:cNvSpPr txBox="1"/>
          <p:nvPr/>
        </p:nvSpPr>
        <p:spPr>
          <a:xfrm>
            <a:off x="8549521" y="2057873"/>
            <a:ext cx="15674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BD" sz="2800" dirty="0"/>
              <a:t>Minimize</a:t>
            </a:r>
          </a:p>
          <a:p>
            <a:pPr algn="ctr"/>
            <a:r>
              <a:rPr lang="en-GB" sz="2800" dirty="0"/>
              <a:t>W</a:t>
            </a:r>
            <a:r>
              <a:rPr lang="en-BD" sz="2800" dirty="0"/>
              <a:t>,b 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5648CE7-F197-D1D4-9806-9826BB35DFFE}"/>
              </a:ext>
            </a:extLst>
          </p:cNvPr>
          <p:cNvSpPr/>
          <p:nvPr/>
        </p:nvSpPr>
        <p:spPr>
          <a:xfrm>
            <a:off x="7624048" y="2230943"/>
            <a:ext cx="766918" cy="7118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pic>
        <p:nvPicPr>
          <p:cNvPr id="13" name="Picture 12" descr="A blackboard with white text and yellow letters&#10;&#10;AI-generated content may be incorrect.">
            <a:extLst>
              <a:ext uri="{FF2B5EF4-FFF2-40B4-BE49-F238E27FC236}">
                <a16:creationId xmlns:a16="http://schemas.microsoft.com/office/drawing/2014/main" id="{1D0A6084-FA0F-7811-ED36-C70ADDC7A4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4768" y="3501785"/>
            <a:ext cx="4282321" cy="3092787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09D6DAF-7212-260A-9981-6648DA671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610096"/>
              </p:ext>
            </p:extLst>
          </p:nvPr>
        </p:nvGraphicFramePr>
        <p:xfrm>
          <a:off x="1676400" y="4694193"/>
          <a:ext cx="10515600" cy="5181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635649050"/>
                    </a:ext>
                  </a:extLst>
                </a:gridCol>
              </a:tblGrid>
              <a:tr h="395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b="1" u="sng" dirty="0" err="1"/>
                        <a:t>Lagrangian</a:t>
                      </a:r>
                      <a:r>
                        <a:rPr lang="en-GB" sz="2800" b="1" u="sng" dirty="0"/>
                        <a:t> form</a:t>
                      </a:r>
                      <a:endParaRPr lang="en-GB" sz="2800" u="sn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0586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0360FAA-9DDF-2D7C-DED8-7294D4134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243750"/>
              </p:ext>
            </p:extLst>
          </p:nvPr>
        </p:nvGraphicFramePr>
        <p:xfrm>
          <a:off x="705995" y="5198841"/>
          <a:ext cx="5881189" cy="944880"/>
        </p:xfrm>
        <a:graphic>
          <a:graphicData uri="http://schemas.openxmlformats.org/drawingml/2006/table">
            <a:tbl>
              <a:tblPr/>
              <a:tblGrid>
                <a:gridCol w="5881189">
                  <a:extLst>
                    <a:ext uri="{9D8B030D-6E8A-4147-A177-3AD203B41FA5}">
                      <a16:colId xmlns:a16="http://schemas.microsoft.com/office/drawing/2014/main" val="40943853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/>
                        <a:t>A single function combining the objective and constraints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50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86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20099-BE18-3F91-99A3-09293202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6" name="Content Placeholder 5" descr="A blackboard with yellow writing on it&#10;&#10;AI-generated content may be incorrect.">
            <a:extLst>
              <a:ext uri="{FF2B5EF4-FFF2-40B4-BE49-F238E27FC236}">
                <a16:creationId xmlns:a16="http://schemas.microsoft.com/office/drawing/2014/main" id="{245EB237-9041-1C2B-D8D4-0C051CF2B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60096" y="1825625"/>
            <a:ext cx="5399367" cy="4667250"/>
          </a:xfrm>
        </p:spPr>
      </p:pic>
      <p:pic>
        <p:nvPicPr>
          <p:cNvPr id="4" name="Picture 3" descr="A blackboard with white text and yellow letters&#10;&#10;AI-generated content may be incorrect.">
            <a:extLst>
              <a:ext uri="{FF2B5EF4-FFF2-40B4-BE49-F238E27FC236}">
                <a16:creationId xmlns:a16="http://schemas.microsoft.com/office/drawing/2014/main" id="{00ACA45E-78B3-A811-E743-EDEC2EC9E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25625"/>
            <a:ext cx="5246463" cy="378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88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FD68-7ACE-943B-258A-B7FD5571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5" name="Content Placeholder 4" descr="A screen shot of math equations&#10;&#10;AI-generated content may be incorrect.">
            <a:extLst>
              <a:ext uri="{FF2B5EF4-FFF2-40B4-BE49-F238E27FC236}">
                <a16:creationId xmlns:a16="http://schemas.microsoft.com/office/drawing/2014/main" id="{95D9A98A-E4F0-8999-717F-F6EC26AA3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199" y="1690687"/>
            <a:ext cx="8161422" cy="2833187"/>
          </a:xfr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584E80A-0DDF-7AFD-7728-D8D1687CD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700" y="5029472"/>
            <a:ext cx="7056855" cy="14634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61BC55-60EC-FDEC-B5DF-F01AFC6D11B2}"/>
              </a:ext>
            </a:extLst>
          </p:cNvPr>
          <p:cNvSpPr txBox="1"/>
          <p:nvPr/>
        </p:nvSpPr>
        <p:spPr>
          <a:xfrm>
            <a:off x="838199" y="4644093"/>
            <a:ext cx="1805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dirty="0"/>
              <a:t>Expanded</a:t>
            </a:r>
          </a:p>
        </p:txBody>
      </p:sp>
    </p:spTree>
    <p:extLst>
      <p:ext uri="{BB962C8B-B14F-4D97-AF65-F5344CB8AC3E}">
        <p14:creationId xmlns:p14="http://schemas.microsoft.com/office/powerpoint/2010/main" val="320420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66880-4E2D-0207-41F6-60370146B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67E458FC-6255-2C70-07E1-18864F6A0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010"/>
          <a:stretch>
            <a:fillRect/>
          </a:stretch>
        </p:blipFill>
        <p:spPr>
          <a:xfrm>
            <a:off x="838200" y="1710505"/>
            <a:ext cx="8187792" cy="4016527"/>
          </a:xfrm>
        </p:spPr>
      </p:pic>
    </p:spTree>
    <p:extLst>
      <p:ext uri="{BB962C8B-B14F-4D97-AF65-F5344CB8AC3E}">
        <p14:creationId xmlns:p14="http://schemas.microsoft.com/office/powerpoint/2010/main" val="333062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7B30B12-8D03-6133-581E-6B6717339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199" y="2671805"/>
            <a:ext cx="6413835" cy="1689810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8D61B4-423B-4D2D-E74F-9C5E92DEB0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504"/>
          <a:stretch>
            <a:fillRect/>
          </a:stretch>
        </p:blipFill>
        <p:spPr>
          <a:xfrm>
            <a:off x="3773652" y="4655552"/>
            <a:ext cx="3590927" cy="1921711"/>
          </a:xfrm>
          <a:prstGeom prst="rect">
            <a:avLst/>
          </a:prstGeom>
        </p:spPr>
      </p:pic>
      <p:pic>
        <p:nvPicPr>
          <p:cNvPr id="10" name="Content Placeholder 4" descr="A screen shot of math equations&#10;&#10;AI-generated content may be incorrect.">
            <a:extLst>
              <a:ext uri="{FF2B5EF4-FFF2-40B4-BE49-F238E27FC236}">
                <a16:creationId xmlns:a16="http://schemas.microsoft.com/office/drawing/2014/main" id="{8231F813-657D-101A-D5B1-DC50F38179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8644"/>
          <a:stretch>
            <a:fillRect/>
          </a:stretch>
        </p:blipFill>
        <p:spPr>
          <a:xfrm>
            <a:off x="1488404" y="639555"/>
            <a:ext cx="8161422" cy="17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85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274E321-7D4D-366A-B0B3-BA3216510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7055" y="476774"/>
            <a:ext cx="8917890" cy="1849332"/>
          </a:xfrm>
        </p:spPr>
      </p:pic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599A965-8E5F-F3E3-8F96-81FFC856C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508" y="2578289"/>
            <a:ext cx="4170834" cy="1849332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BF96567-61DF-2C5A-5810-259E6671CA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18" t="15970" r="15300" b="12756"/>
          <a:stretch>
            <a:fillRect/>
          </a:stretch>
        </p:blipFill>
        <p:spPr>
          <a:xfrm>
            <a:off x="4612105" y="4679804"/>
            <a:ext cx="2967790" cy="184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6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numbers and symbols&#10;&#10;AI-generated content may be incorrect.">
            <a:extLst>
              <a:ext uri="{FF2B5EF4-FFF2-40B4-BE49-F238E27FC236}">
                <a16:creationId xmlns:a16="http://schemas.microsoft.com/office/drawing/2014/main" id="{1644DC3F-8440-57E9-2EB4-793B48736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5475" y="390316"/>
            <a:ext cx="8545429" cy="3038684"/>
          </a:xfrm>
        </p:spPr>
      </p:pic>
      <p:pic>
        <p:nvPicPr>
          <p:cNvPr id="7" name="Picture 6" descr="A black background with white symbols&#10;&#10;AI-generated content may be incorrect.">
            <a:extLst>
              <a:ext uri="{FF2B5EF4-FFF2-40B4-BE49-F238E27FC236}">
                <a16:creationId xmlns:a16="http://schemas.microsoft.com/office/drawing/2014/main" id="{BBFA6CEF-9A00-064E-5888-D49F719E1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69" y="3726781"/>
            <a:ext cx="10306049" cy="288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13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1096D-A85C-B06E-4CCD-7EB13A7A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Finally Dual Form of SVM</a:t>
            </a:r>
          </a:p>
        </p:txBody>
      </p:sp>
      <p:pic>
        <p:nvPicPr>
          <p:cNvPr id="5" name="Content Placeholder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BEBBD84-C0D7-9EF6-3E4B-2EFA7EA9B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0140" y="2265174"/>
            <a:ext cx="9831720" cy="2327651"/>
          </a:xfrm>
        </p:spPr>
      </p:pic>
    </p:spTree>
    <p:extLst>
      <p:ext uri="{BB962C8B-B14F-4D97-AF65-F5344CB8AC3E}">
        <p14:creationId xmlns:p14="http://schemas.microsoft.com/office/powerpoint/2010/main" val="130902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33181-CA8F-DA0D-69A9-ED12B46E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Soft Margin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8EF11-C48F-6E45-A0BB-9929E6753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738282"/>
            <a:ext cx="10515600" cy="2532810"/>
          </a:xfrm>
        </p:spPr>
        <p:txBody>
          <a:bodyPr/>
          <a:lstStyle/>
          <a:p>
            <a:r>
              <a:rPr lang="en-BD" dirty="0"/>
              <a:t>So, final cost function of SVM:</a:t>
            </a:r>
          </a:p>
          <a:p>
            <a:endParaRPr lang="en-BD" dirty="0"/>
          </a:p>
          <a:p>
            <a:endParaRPr lang="en-B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B2EE79-BBFD-48EB-AC68-1ED9BEB6CE8C}"/>
                  </a:ext>
                </a:extLst>
              </p:cNvPr>
              <p:cNvSpPr txBox="1"/>
              <p:nvPr/>
            </p:nvSpPr>
            <p:spPr>
              <a:xfrm>
                <a:off x="2821599" y="2186100"/>
                <a:ext cx="1425388" cy="756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BD" sz="28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BD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BD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B2EE79-BBFD-48EB-AC68-1ED9BEB6C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599" y="2186100"/>
                <a:ext cx="1425388" cy="756682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F375F2F-8838-AFC6-D7B3-6A34DB3CF88B}"/>
              </a:ext>
            </a:extLst>
          </p:cNvPr>
          <p:cNvSpPr txBox="1"/>
          <p:nvPr/>
        </p:nvSpPr>
        <p:spPr>
          <a:xfrm>
            <a:off x="1326777" y="2065878"/>
            <a:ext cx="16347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BD" sz="2800" dirty="0"/>
              <a:t>Maximize</a:t>
            </a:r>
          </a:p>
          <a:p>
            <a:pPr algn="ctr"/>
            <a:r>
              <a:rPr lang="en-GB" sz="2800" dirty="0"/>
              <a:t>W</a:t>
            </a:r>
            <a:r>
              <a:rPr lang="en-BD" sz="2800" dirty="0"/>
              <a:t>,b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4F8778-4082-8BAD-B924-C821BEBEE32C}"/>
                  </a:ext>
                </a:extLst>
              </p:cNvPr>
              <p:cNvSpPr txBox="1"/>
              <p:nvPr/>
            </p:nvSpPr>
            <p:spPr>
              <a:xfrm>
                <a:off x="6506973" y="2168316"/>
                <a:ext cx="1425388" cy="729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BD" sz="28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BD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BD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4F8778-4082-8BAD-B924-C821BEBEE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973" y="2168316"/>
                <a:ext cx="1425388" cy="729623"/>
              </a:xfrm>
              <a:prstGeom prst="rect">
                <a:avLst/>
              </a:prstGeom>
              <a:blipFill>
                <a:blip r:embed="rId4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0542F04-A1EF-C69E-C39F-1DB6D165E1D8}"/>
              </a:ext>
            </a:extLst>
          </p:cNvPr>
          <p:cNvSpPr txBox="1"/>
          <p:nvPr/>
        </p:nvSpPr>
        <p:spPr>
          <a:xfrm>
            <a:off x="5007671" y="2007423"/>
            <a:ext cx="15674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BD" sz="2800" dirty="0"/>
              <a:t>Minimize</a:t>
            </a:r>
          </a:p>
          <a:p>
            <a:pPr algn="ctr"/>
            <a:r>
              <a:rPr lang="en-GB" sz="2800" dirty="0"/>
              <a:t>W</a:t>
            </a:r>
            <a:r>
              <a:rPr lang="en-BD" sz="2800" dirty="0"/>
              <a:t>,b 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C4C19D05-4F54-B40F-D04C-2331927E5FF5}"/>
              </a:ext>
            </a:extLst>
          </p:cNvPr>
          <p:cNvSpPr/>
          <p:nvPr/>
        </p:nvSpPr>
        <p:spPr>
          <a:xfrm>
            <a:off x="3998831" y="2186100"/>
            <a:ext cx="779581" cy="7118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5F9FA9-AE54-5B62-BF7A-1504B4FCBBCF}"/>
                  </a:ext>
                </a:extLst>
              </p:cNvPr>
              <p:cNvSpPr txBox="1"/>
              <p:nvPr/>
            </p:nvSpPr>
            <p:spPr>
              <a:xfrm>
                <a:off x="10048823" y="2218766"/>
                <a:ext cx="1425388" cy="729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BD" sz="28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BD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BD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5F9FA9-AE54-5B62-BF7A-1504B4FCB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823" y="2218766"/>
                <a:ext cx="1425388" cy="729623"/>
              </a:xfrm>
              <a:prstGeom prst="rect">
                <a:avLst/>
              </a:prstGeom>
              <a:blipFill>
                <a:blip r:embed="rId5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3E6B1E6-EC40-5A99-77B7-667C6DCA1F5D}"/>
              </a:ext>
            </a:extLst>
          </p:cNvPr>
          <p:cNvSpPr txBox="1"/>
          <p:nvPr/>
        </p:nvSpPr>
        <p:spPr>
          <a:xfrm>
            <a:off x="8549521" y="2057873"/>
            <a:ext cx="15674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BD" sz="2800" dirty="0"/>
              <a:t>Minimize</a:t>
            </a:r>
          </a:p>
          <a:p>
            <a:pPr algn="ctr"/>
            <a:r>
              <a:rPr lang="en-GB" sz="2800" dirty="0"/>
              <a:t>W</a:t>
            </a:r>
            <a:r>
              <a:rPr lang="en-BD" sz="2800" dirty="0"/>
              <a:t>,b 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B1865416-6A28-1C15-39E1-28FB4472C01C}"/>
              </a:ext>
            </a:extLst>
          </p:cNvPr>
          <p:cNvSpPr/>
          <p:nvPr/>
        </p:nvSpPr>
        <p:spPr>
          <a:xfrm>
            <a:off x="7624048" y="2230943"/>
            <a:ext cx="766918" cy="7118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pic>
        <p:nvPicPr>
          <p:cNvPr id="16" name="Picture 15" descr="A math equation on a black background&#10;&#10;AI-generated content may be incorrect.">
            <a:extLst>
              <a:ext uri="{FF2B5EF4-FFF2-40B4-BE49-F238E27FC236}">
                <a16:creationId xmlns:a16="http://schemas.microsoft.com/office/drawing/2014/main" id="{B59B7083-F78E-EC59-568C-DEFA78C5F8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998" y="4335185"/>
            <a:ext cx="5835470" cy="115121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0B730F8-715D-D183-4964-6C1811D8676E}"/>
              </a:ext>
            </a:extLst>
          </p:cNvPr>
          <p:cNvSpPr/>
          <p:nvPr/>
        </p:nvSpPr>
        <p:spPr>
          <a:xfrm>
            <a:off x="6992471" y="4020671"/>
            <a:ext cx="2528047" cy="172122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42068E-5F1C-3E9D-9606-A28E0583F794}"/>
              </a:ext>
            </a:extLst>
          </p:cNvPr>
          <p:cNvSpPr txBox="1"/>
          <p:nvPr/>
        </p:nvSpPr>
        <p:spPr>
          <a:xfrm>
            <a:off x="9522625" y="5557228"/>
            <a:ext cx="178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hyperperameter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ABEE0-70AA-C929-5435-25001401B92F}"/>
              </a:ext>
            </a:extLst>
          </p:cNvPr>
          <p:cNvSpPr txBox="1"/>
          <p:nvPr/>
        </p:nvSpPr>
        <p:spPr>
          <a:xfrm>
            <a:off x="1044841" y="5486400"/>
            <a:ext cx="1916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b="1" dirty="0"/>
              <a:t>Constraint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9AA893-14A7-F20D-83C9-258C971CDC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6971" y="5926560"/>
            <a:ext cx="6903547" cy="83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98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7D324-2CBF-864F-74F6-E4FD10115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70" y="1694332"/>
            <a:ext cx="5232042" cy="3550022"/>
          </a:xfrm>
        </p:spPr>
        <p:txBody>
          <a:bodyPr>
            <a:normAutofit/>
          </a:bodyPr>
          <a:lstStyle/>
          <a:p>
            <a:r>
              <a:rPr lang="en-BD" dirty="0"/>
              <a:t>In real world, data is not linearly separable. </a:t>
            </a:r>
            <a:r>
              <a:rPr lang="en-GB" dirty="0"/>
              <a:t>T</a:t>
            </a:r>
            <a:r>
              <a:rPr lang="en-BD" dirty="0"/>
              <a:t>here can be misclassified points.</a:t>
            </a:r>
          </a:p>
          <a:p>
            <a:r>
              <a:rPr lang="en-BD" dirty="0"/>
              <a:t>Here for those misclassified points we won’t change our best fit line.  </a:t>
            </a:r>
          </a:p>
          <a:p>
            <a:r>
              <a:rPr lang="en-GB" dirty="0"/>
              <a:t>L</a:t>
            </a:r>
            <a:r>
              <a:rPr lang="en-BD" dirty="0"/>
              <a:t>et’s say, these amount of error is allowed.</a:t>
            </a:r>
          </a:p>
        </p:txBody>
      </p:sp>
      <p:pic>
        <p:nvPicPr>
          <p:cNvPr id="4" name="Picture 3" descr="A white paper with writing on it&#10;&#10;AI-generated content may be incorrect.">
            <a:extLst>
              <a:ext uri="{FF2B5EF4-FFF2-40B4-BE49-F238E27FC236}">
                <a16:creationId xmlns:a16="http://schemas.microsoft.com/office/drawing/2014/main" id="{E754814B-095E-E563-BCFE-B80DFB8833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21" t="18147" r="11024" b="14956"/>
          <a:stretch>
            <a:fillRect/>
          </a:stretch>
        </p:blipFill>
        <p:spPr>
          <a:xfrm>
            <a:off x="6096000" y="359894"/>
            <a:ext cx="5777752" cy="3899648"/>
          </a:xfrm>
          <a:prstGeom prst="rect">
            <a:avLst/>
          </a:prstGeom>
        </p:spPr>
      </p:pic>
      <p:pic>
        <p:nvPicPr>
          <p:cNvPr id="5" name="Picture 4" descr="A math equation on a black background&#10;&#10;AI-generated content may be incorrect.">
            <a:extLst>
              <a:ext uri="{FF2B5EF4-FFF2-40B4-BE49-F238E27FC236}">
                <a16:creationId xmlns:a16="http://schemas.microsoft.com/office/drawing/2014/main" id="{729B2CA8-74A1-082D-B1C2-F45DC08D3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70" y="359894"/>
            <a:ext cx="4865624" cy="11512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58695D-F699-7467-DFE2-405072A96157}"/>
                  </a:ext>
                </a:extLst>
              </p:cNvPr>
              <p:cNvSpPr txBox="1"/>
              <p:nvPr/>
            </p:nvSpPr>
            <p:spPr>
              <a:xfrm>
                <a:off x="657770" y="5427577"/>
                <a:ext cx="1137759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BD" sz="2800" dirty="0"/>
                  <a:t>Here C is 5 which is no </a:t>
                </a:r>
                <a:r>
                  <a:rPr lang="en-GB" sz="2800" dirty="0"/>
                  <a:t>o</a:t>
                </a:r>
                <a:r>
                  <a:rPr lang="en-BD" sz="2800" dirty="0"/>
                  <a:t>f misclassified points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ζ</m:t>
                    </m:r>
                    <m:r>
                      <m:rPr>
                        <m:nor/>
                      </m:rPr>
                      <a:rPr lang="en-US" sz="2800" b="0" i="0" smtClean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800" dirty="0"/>
                      <m:t>which</m:t>
                    </m:r>
                    <m:r>
                      <m:rPr>
                        <m:nor/>
                      </m:rPr>
                      <a:rPr lang="en-GB" sz="2800" dirty="0"/>
                      <m:t> </m:t>
                    </m:r>
                    <m:r>
                      <m:rPr>
                        <m:nor/>
                      </m:rPr>
                      <a:rPr lang="en-GB" sz="2800" dirty="0"/>
                      <m:t>is</m:t>
                    </m:r>
                    <m:r>
                      <m:rPr>
                        <m:nor/>
                      </m:rPr>
                      <a:rPr lang="en-GB" sz="2800" dirty="0"/>
                      <m:t> </m:t>
                    </m:r>
                    <m:r>
                      <m:rPr>
                        <m:nor/>
                      </m:rPr>
                      <a:rPr lang="en-GB" sz="2800" dirty="0"/>
                      <m:t>summation</m:t>
                    </m:r>
                    <m:r>
                      <m:rPr>
                        <m:nor/>
                      </m:rPr>
                      <a:rPr lang="en-GB" sz="2800" dirty="0"/>
                      <m:t> </m:t>
                    </m:r>
                    <m:r>
                      <m:rPr>
                        <m:nor/>
                      </m:rPr>
                      <a:rPr lang="en-GB" sz="2800" dirty="0"/>
                      <m:t>of</m:t>
                    </m:r>
                    <m:r>
                      <m:rPr>
                        <m:nor/>
                      </m:rPr>
                      <a:rPr lang="en-GB" sz="2800" dirty="0"/>
                      <m:t> </m:t>
                    </m:r>
                    <m:r>
                      <m:rPr>
                        <m:nor/>
                      </m:rPr>
                      <a:rPr lang="en-GB" sz="2800" dirty="0"/>
                      <m:t>the</m:t>
                    </m:r>
                    <m:r>
                      <m:rPr>
                        <m:nor/>
                      </m:rPr>
                      <a:rPr lang="en-GB" sz="2800" dirty="0"/>
                      <m:t> </m:t>
                    </m:r>
                    <m:r>
                      <m:rPr>
                        <m:nor/>
                      </m:rPr>
                      <a:rPr lang="en-GB" sz="2800" dirty="0"/>
                      <m:t>distance</m:t>
                    </m:r>
                    <m:r>
                      <m:rPr>
                        <m:nor/>
                      </m:rPr>
                      <a:rPr lang="en-GB" sz="2800" dirty="0"/>
                      <m:t> </m:t>
                    </m:r>
                    <m:r>
                      <m:rPr>
                        <m:nor/>
                      </m:rPr>
                      <a:rPr lang="en-GB" sz="2800" dirty="0"/>
                      <m:t>of</m:t>
                    </m:r>
                    <m:r>
                      <m:rPr>
                        <m:nor/>
                      </m:rPr>
                      <a:rPr lang="en-GB" sz="2800" dirty="0"/>
                      <m:t> </m:t>
                    </m:r>
                    <m:r>
                      <m:rPr>
                        <m:nor/>
                      </m:rPr>
                      <a:rPr lang="en-GB" sz="2800" dirty="0"/>
                      <m:t>misclassification</m:t>
                    </m:r>
                    <m:r>
                      <m:rPr>
                        <m:nor/>
                      </m:rPr>
                      <a:rPr lang="en-GB" sz="2800" dirty="0"/>
                      <m:t> </m:t>
                    </m:r>
                    <m:r>
                      <m:rPr>
                        <m:nor/>
                      </m:rPr>
                      <a:rPr lang="en-GB" sz="2800" dirty="0"/>
                      <m:t>points</m:t>
                    </m:r>
                    <m:r>
                      <m:rPr>
                        <m:nor/>
                      </m:rPr>
                      <a:rPr lang="en-US" sz="2800" dirty="0"/>
                      <m:t> </m:t>
                    </m:r>
                    <m:r>
                      <m:rPr>
                        <m:nor/>
                      </m:rPr>
                      <a:rPr lang="en-GB" sz="2800" dirty="0"/>
                      <m:t>from</m:t>
                    </m:r>
                    <m:r>
                      <m:rPr>
                        <m:nor/>
                      </m:rPr>
                      <a:rPr lang="en-GB" sz="2800" dirty="0"/>
                      <m:t> </m:t>
                    </m:r>
                    <m:r>
                      <m:rPr>
                        <m:nor/>
                      </m:rPr>
                      <a:rPr lang="en-US" sz="2800" b="0" i="0" dirty="0" smtClean="0"/>
                      <m:t>marginal</m:t>
                    </m:r>
                    <m:r>
                      <m:rPr>
                        <m:nor/>
                      </m:rPr>
                      <a:rPr lang="en-US" sz="2800" b="0" i="0" dirty="0" smtClean="0"/>
                      <m:t> </m:t>
                    </m:r>
                    <m:r>
                      <m:rPr>
                        <m:nor/>
                      </m:rPr>
                      <a:rPr lang="en-GB" sz="2800" dirty="0"/>
                      <m:t>plane</m:t>
                    </m:r>
                    <m:r>
                      <m:rPr>
                        <m:nor/>
                      </m:rPr>
                      <a:rPr lang="en-GB" sz="2800" dirty="0"/>
                      <m:t>.</m:t>
                    </m:r>
                  </m:oMath>
                </a14:m>
                <a:endParaRPr lang="en-BD" sz="2800" dirty="0"/>
              </a:p>
              <a:p>
                <a:endParaRPr lang="en-BD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58695D-F699-7467-DFE2-405072A96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70" y="5427577"/>
                <a:ext cx="11377595" cy="1384995"/>
              </a:xfrm>
              <a:prstGeom prst="rect">
                <a:avLst/>
              </a:prstGeom>
              <a:blipFill>
                <a:blip r:embed="rId5"/>
                <a:stretch>
                  <a:fillRect l="-1115" t="-4545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0318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3B05-C573-4018-7A27-587734FA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Support Vector Regressor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63904-743B-D576-35B4-EAB90A707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This is to find a hyperplane such that most of the training points are inside the marginal plane.</a:t>
            </a:r>
          </a:p>
        </p:txBody>
      </p:sp>
      <p:pic>
        <p:nvPicPr>
          <p:cNvPr id="9" name="Picture 8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5FA7F64C-6CAD-47D9-8A0A-025FA36C0C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50" r="5304" b="11922"/>
          <a:stretch>
            <a:fillRect/>
          </a:stretch>
        </p:blipFill>
        <p:spPr>
          <a:xfrm>
            <a:off x="1218472" y="2818152"/>
            <a:ext cx="9214682" cy="376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81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FA6E8-16E2-5F11-1BC6-73FE12464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6" name="Content Placeholder 3" descr="A math equation on a black background&#10;&#10;AI-generated content may be incorrect.">
            <a:extLst>
              <a:ext uri="{FF2B5EF4-FFF2-40B4-BE49-F238E27FC236}">
                <a16:creationId xmlns:a16="http://schemas.microsoft.com/office/drawing/2014/main" id="{78C48A52-3BEA-52A2-05FF-E7CA1274F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731" y="2822139"/>
            <a:ext cx="4780612" cy="943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0664E5-D341-B498-CD1F-4F0F2334FA43}"/>
              </a:ext>
            </a:extLst>
          </p:cNvPr>
          <p:cNvSpPr txBox="1"/>
          <p:nvPr/>
        </p:nvSpPr>
        <p:spPr>
          <a:xfrm>
            <a:off x="6456218" y="2230582"/>
            <a:ext cx="2465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dirty="0"/>
              <a:t>Cost Function: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D0FB6-5866-F28D-4DA0-98F5FD8E9A34}"/>
              </a:ext>
            </a:extLst>
          </p:cNvPr>
          <p:cNvSpPr txBox="1"/>
          <p:nvPr/>
        </p:nvSpPr>
        <p:spPr>
          <a:xfrm>
            <a:off x="6312719" y="4168661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dirty="0"/>
              <a:t>Constraint: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B0D8D8-8970-8D8C-3765-B4F0D36DFA29}"/>
                  </a:ext>
                </a:extLst>
              </p:cNvPr>
              <p:cNvSpPr txBox="1"/>
              <p:nvPr/>
            </p:nvSpPr>
            <p:spPr>
              <a:xfrm>
                <a:off x="7431921" y="4754721"/>
                <a:ext cx="3855543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D" sz="2800" dirty="0"/>
                  <a:t>Constraint:</a:t>
                </a:r>
              </a:p>
              <a:p>
                <a:r>
                  <a:rPr lang="en-BD" sz="2800" dirty="0"/>
                  <a:t>	 | y</a:t>
                </a:r>
                <a:r>
                  <a:rPr lang="en-BD" sz="2800" baseline="-25000" dirty="0"/>
                  <a:t>i </a:t>
                </a:r>
                <a:r>
                  <a:rPr lang="en-BD" sz="2800" dirty="0"/>
                  <a:t>– </a:t>
                </a:r>
                <a:r>
                  <a:rPr lang="cy-GB" sz="2800" dirty="0"/>
                  <a:t>ŷ</a:t>
                </a:r>
                <a14:m>
                  <m:oMath xmlns:m="http://schemas.openxmlformats.org/officeDocument/2006/math">
                    <m:r>
                      <a:rPr lang="en-BD" sz="28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BD" sz="2800" dirty="0"/>
                  <a:t>| </a:t>
                </a:r>
                <a14:m>
                  <m:oMath xmlns:m="http://schemas.openxmlformats.org/officeDocument/2006/math">
                    <m:r>
                      <a:rPr lang="en-BD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+| 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ζ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BD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B0D8D8-8970-8D8C-3765-B4F0D36DF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921" y="4754721"/>
                <a:ext cx="3855543" cy="954107"/>
              </a:xfrm>
              <a:prstGeom prst="rect">
                <a:avLst/>
              </a:prstGeom>
              <a:blipFill>
                <a:blip r:embed="rId3"/>
                <a:stretch>
                  <a:fillRect l="-3289" t="-6579" r="-987" b="-18421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Content Placeholder 15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47ABE6E5-4D78-CAB3-ECBD-61A1585CC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r="42989"/>
          <a:stretch>
            <a:fillRect/>
          </a:stretch>
        </p:blipFill>
        <p:spPr>
          <a:xfrm>
            <a:off x="838200" y="1460313"/>
            <a:ext cx="5309620" cy="5032562"/>
          </a:xfr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985B337-A67E-F660-A0C2-8E622A734EAC}"/>
              </a:ext>
            </a:extLst>
          </p:cNvPr>
          <p:cNvCxnSpPr/>
          <p:nvPr/>
        </p:nvCxnSpPr>
        <p:spPr>
          <a:xfrm>
            <a:off x="11107711" y="2953062"/>
            <a:ext cx="0" cy="47593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D6B3A1-9AC6-39A1-D5F6-B8DC43505F8B}"/>
              </a:ext>
            </a:extLst>
          </p:cNvPr>
          <p:cNvCxnSpPr/>
          <p:nvPr/>
        </p:nvCxnSpPr>
        <p:spPr>
          <a:xfrm>
            <a:off x="11514944" y="2953062"/>
            <a:ext cx="0" cy="47593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373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7F49-82D2-5A31-81D9-72863EA92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Types of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B50B3-E463-8B9E-4FCD-9A424A53D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0" y="1825625"/>
            <a:ext cx="7411720" cy="4351338"/>
          </a:xfrm>
        </p:spPr>
        <p:txBody>
          <a:bodyPr/>
          <a:lstStyle/>
          <a:p>
            <a:r>
              <a:rPr lang="en-BD" dirty="0"/>
              <a:t>There are two types of SVMs:</a:t>
            </a:r>
          </a:p>
          <a:p>
            <a:pPr lvl="1"/>
            <a:r>
              <a:rPr lang="en-BD" b="1" dirty="0"/>
              <a:t>Linear SVM: </a:t>
            </a:r>
            <a:r>
              <a:rPr lang="en-BD" dirty="0"/>
              <a:t>This type of SVM is used when input data is linearly separable, i.e, if a dataset can be classified into two classes by using a single straight line.</a:t>
            </a:r>
          </a:p>
          <a:p>
            <a:pPr lvl="1"/>
            <a:r>
              <a:rPr lang="en-BD" b="1" dirty="0"/>
              <a:t>Non-linear SVM: </a:t>
            </a:r>
            <a:r>
              <a:rPr lang="en-BD" dirty="0"/>
              <a:t>This type of SVM is used when input data is not linearly separable, i.e, if a dataset can’t be classified by using a single straight line.</a:t>
            </a:r>
            <a:endParaRPr lang="en-BD" b="1" dirty="0"/>
          </a:p>
          <a:p>
            <a:pPr lvl="1"/>
            <a:endParaRPr lang="en-BD" dirty="0"/>
          </a:p>
        </p:txBody>
      </p:sp>
      <p:pic>
        <p:nvPicPr>
          <p:cNvPr id="5" name="Picture 4" descr="A graph with red green and yellow dots&#10;&#10;AI-generated content may be incorrect.">
            <a:extLst>
              <a:ext uri="{FF2B5EF4-FFF2-40B4-BE49-F238E27FC236}">
                <a16:creationId xmlns:a16="http://schemas.microsoft.com/office/drawing/2014/main" id="{9E6EC55E-9AD9-6020-2293-A8A10F0D5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100" y="1825625"/>
            <a:ext cx="2692400" cy="2108200"/>
          </a:xfrm>
          <a:prstGeom prst="rect">
            <a:avLst/>
          </a:prstGeom>
        </p:spPr>
      </p:pic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296056A2-80C6-068C-5F57-C3EDAB3AD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100" y="4161970"/>
            <a:ext cx="2654300" cy="246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422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F902E-16F2-F3DF-22D3-5054CE65C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Kernel Trick in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271B7-DB0D-E9A1-5BA6-C72FDFA12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To separate Non-linear data points, we will take the help of kernels. Kernels will do the transformation.</a:t>
            </a:r>
          </a:p>
          <a:p>
            <a:r>
              <a:rPr lang="en-BD" dirty="0"/>
              <a:t>If we observe 2d data is with the help of kernel in higher dimension, we will find this</a:t>
            </a:r>
          </a:p>
          <a:p>
            <a:endParaRPr lang="en-BD" dirty="0"/>
          </a:p>
          <a:p>
            <a:endParaRPr lang="en-BD" dirty="0"/>
          </a:p>
        </p:txBody>
      </p:sp>
      <p:pic>
        <p:nvPicPr>
          <p:cNvPr id="6" name="Picture 5" descr="A diagram of a function&#10;&#10;AI-generated content may be incorrect.">
            <a:extLst>
              <a:ext uri="{FF2B5EF4-FFF2-40B4-BE49-F238E27FC236}">
                <a16:creationId xmlns:a16="http://schemas.microsoft.com/office/drawing/2014/main" id="{365F96D8-619A-5A13-5E51-3DE931852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854" y="3588050"/>
            <a:ext cx="3685828" cy="312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98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CFB2D-613C-8427-C6EE-8A41BE614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5" name="Content Placeholder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C9C89761-921B-59AF-BEFB-10DB96213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7735"/>
            <a:ext cx="10515600" cy="4485140"/>
          </a:xfrm>
        </p:spPr>
      </p:pic>
    </p:spTree>
    <p:extLst>
      <p:ext uri="{BB962C8B-B14F-4D97-AF65-F5344CB8AC3E}">
        <p14:creationId xmlns:p14="http://schemas.microsoft.com/office/powerpoint/2010/main" val="2545176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3236-832B-7BE8-92E4-165C458E4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5" name="Content Placeholder 4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3E9F98AA-5850-292C-B93A-08FF644A15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4172"/>
            <a:ext cx="10515600" cy="4712991"/>
          </a:xfrm>
        </p:spPr>
      </p:pic>
    </p:spTree>
    <p:extLst>
      <p:ext uri="{BB962C8B-B14F-4D97-AF65-F5344CB8AC3E}">
        <p14:creationId xmlns:p14="http://schemas.microsoft.com/office/powerpoint/2010/main" val="27366008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DA0E7-D208-B962-FC57-FCBFEA12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Kernel Trick in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161B5D-83A4-438B-7DF8-86E18F5173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BD" dirty="0"/>
                  <a:t>For example, one mapping function </a:t>
                </a:r>
                <a14:m>
                  <m:oMath xmlns:m="http://schemas.openxmlformats.org/officeDocument/2006/math">
                    <m:r>
                      <a:rPr lang="en-BD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BD" dirty="0"/>
                  <a:t> </a:t>
                </a:r>
                <a14:m>
                  <m:oMath xmlns:m="http://schemas.openxmlformats.org/officeDocument/2006/math">
                    <m:r>
                      <a:rPr lang="en-BD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BD" dirty="0"/>
                  <a:t> R</a:t>
                </a:r>
                <a:r>
                  <a:rPr lang="en-BD" baseline="30000" dirty="0"/>
                  <a:t>3 </a:t>
                </a:r>
                <a:r>
                  <a:rPr lang="en-BD" dirty="0"/>
                  <a:t>used to transform a 2D data to 3D data is given as follows:</a:t>
                </a:r>
              </a:p>
              <a:p>
                <a:endParaRPr lang="en-BD" baseline="30000" dirty="0"/>
              </a:p>
              <a:p>
                <a:endParaRPr lang="en-BD" baseline="30000" dirty="0"/>
              </a:p>
              <a:p>
                <a:endParaRPr lang="en-BD" baseline="30000" dirty="0"/>
              </a:p>
              <a:p>
                <a:r>
                  <a:rPr lang="en-BD" dirty="0"/>
                  <a:t>Consider a point (2,3) in 2D space, if you apply above mapping function we can convert it into 3D space and it looks like this,</a:t>
                </a:r>
              </a:p>
              <a:p>
                <a:r>
                  <a:rPr lang="en-BD" dirty="0"/>
                  <a:t>Here x=2 and y =3, Hence point in 3D space is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161B5D-83A4-438B-7DF8-86E18F5173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965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4BAB28F6-3C68-750E-6342-1FBDA4A45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49" y="2876405"/>
            <a:ext cx="5399706" cy="730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396CB3-3D1F-8500-1814-BAD964E36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146" y="5446568"/>
            <a:ext cx="7141640" cy="73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703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6823C-D069-D894-CDEB-11443AF40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Kernel Trick in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54C4-6ACD-880B-327B-73D5CB8CA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While mapping functions play an important role, there are many disadvantages, as mapping involves more computations and learning costs.</a:t>
            </a:r>
          </a:p>
          <a:p>
            <a:r>
              <a:rPr lang="en-BD" dirty="0"/>
              <a:t>Also, the disadvantages of transformation are that there </a:t>
            </a:r>
            <a:r>
              <a:rPr lang="en-GB" dirty="0"/>
              <a:t>is no generalized thumb rule available describing what transformation should be applied and if the data is large, mapping process takes huge amount of time.</a:t>
            </a:r>
          </a:p>
          <a:p>
            <a:r>
              <a:rPr lang="en-GB" dirty="0"/>
              <a:t>In this context only kernels are useful.</a:t>
            </a:r>
          </a:p>
          <a:p>
            <a:r>
              <a:rPr lang="en-GB" dirty="0"/>
              <a:t>Kernels are used to compute the value without transforming the data.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383841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72AA-DE34-AB59-E888-31D93591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Kernel Trick in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1D287-7A19-E352-DC06-5812A01A9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Kernels are a set of functions used to transform data from lower dimension to manipulate data using dot product at higher dimension.</a:t>
            </a:r>
          </a:p>
          <a:p>
            <a:endParaRPr lang="en-BD" dirty="0"/>
          </a:p>
        </p:txBody>
      </p:sp>
      <p:pic>
        <p:nvPicPr>
          <p:cNvPr id="5" name="Picture 4" descr="A black line with black text&#10;&#10;AI-generated content may be incorrect.">
            <a:extLst>
              <a:ext uri="{FF2B5EF4-FFF2-40B4-BE49-F238E27FC236}">
                <a16:creationId xmlns:a16="http://schemas.microsoft.com/office/drawing/2014/main" id="{3B7025EB-AE59-1DE2-14A6-D2F3D13AA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10" y="4219574"/>
            <a:ext cx="6842370" cy="1516207"/>
          </a:xfrm>
          <a:prstGeom prst="rect">
            <a:avLst/>
          </a:prstGeom>
        </p:spPr>
      </p:pic>
      <p:pic>
        <p:nvPicPr>
          <p:cNvPr id="7" name="Picture 6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06B0BCDE-43AD-BD5A-849F-168BD4486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080" y="3282062"/>
            <a:ext cx="2636447" cy="305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18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3430-3D12-5EB4-8B40-7CFAEC7D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Kernel Trick for 2nd degree Polynomial Mapping</a:t>
            </a:r>
          </a:p>
        </p:txBody>
      </p:sp>
      <p:pic>
        <p:nvPicPr>
          <p:cNvPr id="4" name="Picture 3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BAB5337A-E126-CCA3-F8F3-669B916AC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5625"/>
            <a:ext cx="5399706" cy="730395"/>
          </a:xfrm>
          <a:prstGeom prst="rect">
            <a:avLst/>
          </a:prstGeom>
        </p:spPr>
      </p:pic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6EE7246C-32B1-C369-A64C-C5C290577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907" y="2690957"/>
            <a:ext cx="10043893" cy="385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823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3AA2A-F510-C0E5-491E-316B8DE9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5" name="Content Placeholder 4" descr="A black board with white text and numbers&#10;&#10;AI-generated content may be incorrect.">
            <a:extLst>
              <a:ext uri="{FF2B5EF4-FFF2-40B4-BE49-F238E27FC236}">
                <a16:creationId xmlns:a16="http://schemas.microsoft.com/office/drawing/2014/main" id="{CBBAE0E6-D371-E422-F733-27DAC90DA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672" y="365125"/>
            <a:ext cx="11147610" cy="6223934"/>
          </a:xfrm>
        </p:spPr>
      </p:pic>
    </p:spTree>
    <p:extLst>
      <p:ext uri="{BB962C8B-B14F-4D97-AF65-F5344CB8AC3E}">
        <p14:creationId xmlns:p14="http://schemas.microsoft.com/office/powerpoint/2010/main" val="31262595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4337-7859-AC8B-A10D-B463B7344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Types of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6A5D8-1E63-0C25-E6DE-28FA1E7E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Linear kernel</a:t>
            </a:r>
          </a:p>
          <a:p>
            <a:r>
              <a:rPr lang="en-BD" dirty="0"/>
              <a:t>Polynomial kernels</a:t>
            </a:r>
          </a:p>
          <a:p>
            <a:r>
              <a:rPr lang="en-BD" dirty="0"/>
              <a:t>RBF kernels</a:t>
            </a:r>
          </a:p>
          <a:p>
            <a:r>
              <a:rPr lang="en-BD" dirty="0"/>
              <a:t>Sigmoid kernels etc</a:t>
            </a:r>
          </a:p>
        </p:txBody>
      </p:sp>
    </p:spTree>
    <p:extLst>
      <p:ext uri="{BB962C8B-B14F-4D97-AF65-F5344CB8AC3E}">
        <p14:creationId xmlns:p14="http://schemas.microsoft.com/office/powerpoint/2010/main" val="2543468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4DE5-C827-6170-0D08-5B8C15F3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Linear Kernel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7FA7B42-7260-9C14-588E-DDF97EE3C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1033"/>
          <a:stretch>
            <a:fillRect/>
          </a:stretch>
        </p:blipFill>
        <p:spPr>
          <a:xfrm>
            <a:off x="699654" y="1939638"/>
            <a:ext cx="9247909" cy="2646647"/>
          </a:xfrm>
        </p:spPr>
      </p:pic>
    </p:spTree>
    <p:extLst>
      <p:ext uri="{BB962C8B-B14F-4D97-AF65-F5344CB8AC3E}">
        <p14:creationId xmlns:p14="http://schemas.microsoft.com/office/powerpoint/2010/main" val="2147973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EA7D7-4901-E56B-7575-06AC76498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Polynomial Kernel</a:t>
            </a:r>
          </a:p>
        </p:txBody>
      </p:sp>
      <p:pic>
        <p:nvPicPr>
          <p:cNvPr id="5" name="Content Placeholder 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6E85F2FD-21E8-0739-DFBD-1A4621D071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9449"/>
            <a:ext cx="9469582" cy="4242115"/>
          </a:xfrm>
        </p:spPr>
      </p:pic>
    </p:spTree>
    <p:extLst>
      <p:ext uri="{BB962C8B-B14F-4D97-AF65-F5344CB8AC3E}">
        <p14:creationId xmlns:p14="http://schemas.microsoft.com/office/powerpoint/2010/main" val="37938559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C6AC-9E99-9CDB-18FE-97126434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Polynomial Kernel (Cont’d)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3941E7F-35E2-205E-7420-49A03381C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3093"/>
            <a:ext cx="10515600" cy="4599781"/>
          </a:xfrm>
        </p:spPr>
      </p:pic>
    </p:spTree>
    <p:extLst>
      <p:ext uri="{BB962C8B-B14F-4D97-AF65-F5344CB8AC3E}">
        <p14:creationId xmlns:p14="http://schemas.microsoft.com/office/powerpoint/2010/main" val="29481022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D0019-18AF-E4BF-FC14-3979F7322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5" name="Content Placeholder 4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A228AF40-B604-8916-12A7-BA83892D7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9125"/>
            <a:ext cx="10661073" cy="4409786"/>
          </a:xfrm>
        </p:spPr>
      </p:pic>
    </p:spTree>
    <p:extLst>
      <p:ext uri="{BB962C8B-B14F-4D97-AF65-F5344CB8AC3E}">
        <p14:creationId xmlns:p14="http://schemas.microsoft.com/office/powerpoint/2010/main" val="2118469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41FC-3EAB-DDE7-0653-DE7EB649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4" name="Picture 3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FDC11C75-AE44-7A9B-7FE4-2E8DBF42A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328391"/>
            <a:ext cx="9677400" cy="2164484"/>
          </a:xfrm>
          <a:prstGeom prst="rect">
            <a:avLst/>
          </a:prstGeom>
        </p:spPr>
      </p:pic>
      <p:pic>
        <p:nvPicPr>
          <p:cNvPr id="5" name="Picture 4" descr="A math problem with numbers and symbols&#10;&#10;AI-generated content may be incorrect.">
            <a:extLst>
              <a:ext uri="{FF2B5EF4-FFF2-40B4-BE49-F238E27FC236}">
                <a16:creationId xmlns:a16="http://schemas.microsoft.com/office/drawing/2014/main" id="{97558670-1DD1-37D6-1FF8-B1E859257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99" y="1827037"/>
            <a:ext cx="9815945" cy="23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96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658AF-F6DF-1553-F0F5-EAB710F3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RBF Kernel</a:t>
            </a:r>
          </a:p>
        </p:txBody>
      </p:sp>
      <p:pic>
        <p:nvPicPr>
          <p:cNvPr id="5" name="Content Placeholder 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BE3D466C-73EE-254F-AF8B-C70AD5DA6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467" y="2021247"/>
            <a:ext cx="10145569" cy="2703153"/>
          </a:xfrm>
        </p:spPr>
      </p:pic>
    </p:spTree>
    <p:extLst>
      <p:ext uri="{BB962C8B-B14F-4D97-AF65-F5344CB8AC3E}">
        <p14:creationId xmlns:p14="http://schemas.microsoft.com/office/powerpoint/2010/main" val="41850445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43D3-AECC-AD1A-6305-77F54B453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RBF Kernel (Cont’d)</a:t>
            </a:r>
          </a:p>
        </p:txBody>
      </p:sp>
      <p:pic>
        <p:nvPicPr>
          <p:cNvPr id="5" name="Content Placeholder 4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486622E9-1D48-0B66-945D-991A9E9AC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1101" y="1807079"/>
            <a:ext cx="10243372" cy="4679201"/>
          </a:xfrm>
        </p:spPr>
      </p:pic>
    </p:spTree>
    <p:extLst>
      <p:ext uri="{BB962C8B-B14F-4D97-AF65-F5344CB8AC3E}">
        <p14:creationId xmlns:p14="http://schemas.microsoft.com/office/powerpoint/2010/main" val="2168213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F9473-CDE8-2D43-8D3B-AAFC653D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Sigmoid kernel</a:t>
            </a:r>
          </a:p>
        </p:txBody>
      </p:sp>
      <p:pic>
        <p:nvPicPr>
          <p:cNvPr id="9" name="Content Placeholder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9360C88-B6D6-B496-3CB7-93A709D0FF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6754" y="2664510"/>
            <a:ext cx="4711669" cy="1528979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9D8CA4-82C3-A850-E641-EE175F77EE05}"/>
              </a:ext>
            </a:extLst>
          </p:cNvPr>
          <p:cNvSpPr txBox="1"/>
          <p:nvPr/>
        </p:nvSpPr>
        <p:spPr>
          <a:xfrm>
            <a:off x="982324" y="1915989"/>
            <a:ext cx="6368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The </a:t>
            </a:r>
            <a:r>
              <a:rPr lang="en-GB" sz="2800" b="1" dirty="0"/>
              <a:t>sigmoid (tanh) kernel</a:t>
            </a:r>
            <a:r>
              <a:rPr lang="en-GB" sz="2800" dirty="0"/>
              <a:t> is defined as:</a:t>
            </a:r>
            <a:endParaRPr lang="en-BD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5D65CA-83A8-2669-5497-BE33C8F1CE6E}"/>
              </a:ext>
            </a:extLst>
          </p:cNvPr>
          <p:cNvSpPr txBox="1"/>
          <p:nvPr/>
        </p:nvSpPr>
        <p:spPr>
          <a:xfrm>
            <a:off x="1260765" y="4246106"/>
            <a:ext cx="598138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where:</a:t>
            </a:r>
          </a:p>
          <a:p>
            <a:pPr lvl="1"/>
            <a:r>
              <a:rPr lang="el-GR" sz="2800" b="1" dirty="0"/>
              <a:t>α</a:t>
            </a:r>
            <a:r>
              <a:rPr lang="el-GR" sz="2800" dirty="0"/>
              <a:t> (</a:t>
            </a:r>
            <a:r>
              <a:rPr lang="en-GB" sz="2800" dirty="0"/>
              <a:t>alpha) = scaling parameter</a:t>
            </a:r>
          </a:p>
          <a:p>
            <a:pPr lvl="1"/>
            <a:r>
              <a:rPr lang="en-GB" sz="2800" b="1" dirty="0"/>
              <a:t>c</a:t>
            </a:r>
            <a:r>
              <a:rPr lang="en-GB" sz="2800" dirty="0"/>
              <a:t> = constant/bias term</a:t>
            </a:r>
          </a:p>
          <a:p>
            <a:pPr lvl="1"/>
            <a:r>
              <a:rPr lang="en-GB" sz="2800" b="1" dirty="0"/>
              <a:t>tanh</a:t>
            </a:r>
            <a:r>
              <a:rPr lang="en-GB" sz="2800" dirty="0"/>
              <a:t> = hyperbolic tangent function</a:t>
            </a:r>
          </a:p>
          <a:p>
            <a:endParaRPr lang="en-BD" sz="2800" dirty="0"/>
          </a:p>
        </p:txBody>
      </p:sp>
    </p:spTree>
    <p:extLst>
      <p:ext uri="{BB962C8B-B14F-4D97-AF65-F5344CB8AC3E}">
        <p14:creationId xmlns:p14="http://schemas.microsoft.com/office/powerpoint/2010/main" val="4130982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2404</TotalTime>
  <Words>968</Words>
  <Application>Microsoft Macintosh PowerPoint</Application>
  <PresentationFormat>Widescreen</PresentationFormat>
  <Paragraphs>126</Paragraphs>
  <Slides>39</Slides>
  <Notes>6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Cambria Math</vt:lpstr>
      <vt:lpstr>Office Theme</vt:lpstr>
      <vt:lpstr>SVM – Part 2</vt:lpstr>
      <vt:lpstr>SVM</vt:lpstr>
      <vt:lpstr>Hard Margin SVM</vt:lpstr>
      <vt:lpstr>Soft Margin SVM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Finally Dual Form of SVM</vt:lpstr>
      <vt:lpstr>Soft Margin SVM</vt:lpstr>
      <vt:lpstr>PowerPoint Presentation</vt:lpstr>
      <vt:lpstr>Support Vector Regressor</vt:lpstr>
      <vt:lpstr>PowerPoint Presentation</vt:lpstr>
      <vt:lpstr>Types of SVM</vt:lpstr>
      <vt:lpstr>Kernel Trick in SVM</vt:lpstr>
      <vt:lpstr>PowerPoint Presentation</vt:lpstr>
      <vt:lpstr>PowerPoint Presentation</vt:lpstr>
      <vt:lpstr>Kernel Trick in SVM</vt:lpstr>
      <vt:lpstr>Kernel Trick in SVM</vt:lpstr>
      <vt:lpstr>Kernel Trick in SVM</vt:lpstr>
      <vt:lpstr>Kernel Trick for 2nd degree Polynomial Mapping</vt:lpstr>
      <vt:lpstr>PowerPoint Presentation</vt:lpstr>
      <vt:lpstr>Types of Kernel</vt:lpstr>
      <vt:lpstr>Linear Kernel</vt:lpstr>
      <vt:lpstr>Polynomial Kernel</vt:lpstr>
      <vt:lpstr>Polynomial Kernel (Cont’d)</vt:lpstr>
      <vt:lpstr>PowerPoint Presentation</vt:lpstr>
      <vt:lpstr>PowerPoint Presentation</vt:lpstr>
      <vt:lpstr>RBF Kernel</vt:lpstr>
      <vt:lpstr>RBF Kernel (Cont’d)</vt:lpstr>
      <vt:lpstr>Sigmoid kernel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Rakib Mahmud</dc:creator>
  <cp:lastModifiedBy>Rakib Mahmud</cp:lastModifiedBy>
  <cp:revision>5</cp:revision>
  <dcterms:created xsi:type="dcterms:W3CDTF">2025-10-05T10:49:00Z</dcterms:created>
  <dcterms:modified xsi:type="dcterms:W3CDTF">2025-10-12T20:33:36Z</dcterms:modified>
</cp:coreProperties>
</file>